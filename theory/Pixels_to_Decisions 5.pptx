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6" d="100"/>
          <a:sy n="46" d="100"/>
        </p:scale>
        <p:origin x="870" y="4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0795">
              <a:lnSpc>
                <a:spcPts val="1785"/>
              </a:lnSpc>
            </a:pPr>
            <a:r>
              <a:rPr sz="1500" dirty="0">
                <a:latin typeface="Arial MT"/>
                <a:cs typeface="Arial MT"/>
              </a:rPr>
              <a:t>G</a:t>
            </a:r>
            <a:r>
              <a:rPr sz="1500" spc="275" dirty="0">
                <a:latin typeface="Arial MT"/>
                <a:cs typeface="Arial MT"/>
              </a:rPr>
              <a:t> </a:t>
            </a:r>
            <a:r>
              <a:rPr sz="1500" spc="-90" dirty="0">
                <a:latin typeface="Arial MT"/>
                <a:cs typeface="Arial MT"/>
              </a:rPr>
              <a:t>NotebookLM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0795">
              <a:lnSpc>
                <a:spcPts val="1785"/>
              </a:lnSpc>
            </a:pPr>
            <a:r>
              <a:rPr sz="1500" dirty="0">
                <a:latin typeface="Arial MT"/>
                <a:cs typeface="Arial MT"/>
              </a:rPr>
              <a:t>G</a:t>
            </a:r>
            <a:r>
              <a:rPr sz="1500" spc="275" dirty="0">
                <a:latin typeface="Arial MT"/>
                <a:cs typeface="Arial MT"/>
              </a:rPr>
              <a:t> </a:t>
            </a:r>
            <a:r>
              <a:rPr sz="1500" spc="-90" dirty="0">
                <a:latin typeface="Arial MT"/>
                <a:cs typeface="Arial MT"/>
              </a:rPr>
              <a:t>NotebookLM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540498" y="3293886"/>
            <a:ext cx="6592570" cy="5387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77876" y="3293886"/>
            <a:ext cx="7350759" cy="5387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0795">
              <a:lnSpc>
                <a:spcPts val="1785"/>
              </a:lnSpc>
            </a:pPr>
            <a:r>
              <a:rPr sz="1500" dirty="0">
                <a:latin typeface="Arial MT"/>
                <a:cs typeface="Arial MT"/>
              </a:rPr>
              <a:t>G</a:t>
            </a:r>
            <a:r>
              <a:rPr sz="1500" spc="275" dirty="0">
                <a:latin typeface="Arial MT"/>
                <a:cs typeface="Arial MT"/>
              </a:rPr>
              <a:t> </a:t>
            </a:r>
            <a:r>
              <a:rPr sz="1500" spc="-90" dirty="0">
                <a:latin typeface="Arial MT"/>
                <a:cs typeface="Arial MT"/>
              </a:rPr>
              <a:t>NotebookLM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0795">
              <a:lnSpc>
                <a:spcPts val="1785"/>
              </a:lnSpc>
            </a:pPr>
            <a:r>
              <a:rPr sz="1500" dirty="0">
                <a:latin typeface="Arial MT"/>
                <a:cs typeface="Arial MT"/>
              </a:rPr>
              <a:t>G</a:t>
            </a:r>
            <a:r>
              <a:rPr sz="1500" spc="275" dirty="0">
                <a:latin typeface="Arial MT"/>
                <a:cs typeface="Arial MT"/>
              </a:rPr>
              <a:t> </a:t>
            </a:r>
            <a:r>
              <a:rPr sz="1500" spc="-90" dirty="0">
                <a:latin typeface="Arial MT"/>
                <a:cs typeface="Arial MT"/>
              </a:rPr>
              <a:t>NotebookLM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0795">
              <a:lnSpc>
                <a:spcPts val="1785"/>
              </a:lnSpc>
            </a:pPr>
            <a:r>
              <a:rPr sz="1500" dirty="0">
                <a:latin typeface="Arial MT"/>
                <a:cs typeface="Arial MT"/>
              </a:rPr>
              <a:t>G</a:t>
            </a:r>
            <a:r>
              <a:rPr sz="1500" spc="275" dirty="0">
                <a:latin typeface="Arial MT"/>
                <a:cs typeface="Arial MT"/>
              </a:rPr>
              <a:t> </a:t>
            </a:r>
            <a:r>
              <a:rPr sz="1500" spc="-90" dirty="0">
                <a:latin typeface="Arial MT"/>
                <a:cs typeface="Arial MT"/>
              </a:rPr>
              <a:t>NotebookLM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3324" y="468488"/>
            <a:ext cx="15580712" cy="17771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6107384" y="9455853"/>
            <a:ext cx="1232534" cy="212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0795">
              <a:lnSpc>
                <a:spcPts val="1785"/>
              </a:lnSpc>
            </a:pPr>
            <a:r>
              <a:rPr sz="1500" dirty="0">
                <a:latin typeface="Arial MT"/>
                <a:cs typeface="Arial MT"/>
              </a:rPr>
              <a:t>G</a:t>
            </a:r>
            <a:r>
              <a:rPr sz="1500" spc="275" dirty="0">
                <a:latin typeface="Arial MT"/>
                <a:cs typeface="Arial MT"/>
              </a:rPr>
              <a:t> </a:t>
            </a:r>
            <a:r>
              <a:rPr sz="1500" spc="-90" dirty="0">
                <a:latin typeface="Arial MT"/>
                <a:cs typeface="Arial MT"/>
              </a:rPr>
              <a:t>NotebookLM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77900" y="5822950"/>
            <a:ext cx="7493000" cy="0"/>
          </a:xfrm>
          <a:custGeom>
            <a:avLst/>
            <a:gdLst/>
            <a:ahLst/>
            <a:cxnLst/>
            <a:rect l="l" t="t" r="r" b="b"/>
            <a:pathLst>
              <a:path w="7493000">
                <a:moveTo>
                  <a:pt x="0" y="0"/>
                </a:moveTo>
                <a:lnTo>
                  <a:pt x="74930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38911" y="2736850"/>
            <a:ext cx="14047089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ts val="7150"/>
              </a:lnSpc>
              <a:spcBef>
                <a:spcPts val="100"/>
              </a:spcBef>
            </a:pPr>
            <a:r>
              <a:rPr sz="6250" spc="-195" dirty="0">
                <a:solidFill>
                  <a:srgbClr val="1F1F1F"/>
                </a:solidFill>
              </a:rPr>
              <a:t>Machine</a:t>
            </a:r>
            <a:r>
              <a:rPr sz="6250" spc="-225" dirty="0">
                <a:solidFill>
                  <a:srgbClr val="1F1F1F"/>
                </a:solidFill>
              </a:rPr>
              <a:t> </a:t>
            </a:r>
            <a:r>
              <a:rPr sz="6250" spc="-10" dirty="0">
                <a:solidFill>
                  <a:srgbClr val="1F1F1F"/>
                </a:solidFill>
              </a:rPr>
              <a:t>Vision:</a:t>
            </a:r>
            <a:r>
              <a:rPr lang="en-IN" sz="6250" spc="-10" dirty="0">
                <a:solidFill>
                  <a:srgbClr val="1F1F1F"/>
                </a:solidFill>
              </a:rPr>
              <a:t> </a:t>
            </a:r>
            <a:r>
              <a:rPr sz="6150" spc="-360" dirty="0">
                <a:solidFill>
                  <a:srgbClr val="1F1F1F"/>
                </a:solidFill>
              </a:rPr>
              <a:t>From</a:t>
            </a:r>
            <a:r>
              <a:rPr sz="6150" spc="-645" dirty="0">
                <a:solidFill>
                  <a:srgbClr val="1F1F1F"/>
                </a:solidFill>
              </a:rPr>
              <a:t> </a:t>
            </a:r>
            <a:r>
              <a:rPr sz="6150" spc="-500" dirty="0">
                <a:solidFill>
                  <a:srgbClr val="1D1D1D"/>
                </a:solidFill>
              </a:rPr>
              <a:t>Raw</a:t>
            </a:r>
            <a:r>
              <a:rPr sz="6150" spc="-455" dirty="0">
                <a:solidFill>
                  <a:srgbClr val="1D1D1D"/>
                </a:solidFill>
              </a:rPr>
              <a:t> </a:t>
            </a:r>
            <a:r>
              <a:rPr sz="6150" spc="-254" dirty="0">
                <a:solidFill>
                  <a:srgbClr val="1F1F1F"/>
                </a:solidFill>
              </a:rPr>
              <a:t>Pixels</a:t>
            </a:r>
            <a:r>
              <a:rPr sz="6150" spc="-420" dirty="0">
                <a:solidFill>
                  <a:srgbClr val="1F1F1F"/>
                </a:solidFill>
              </a:rPr>
              <a:t> </a:t>
            </a:r>
            <a:r>
              <a:rPr sz="6150" spc="-25" dirty="0">
                <a:solidFill>
                  <a:srgbClr val="212121"/>
                </a:solidFill>
              </a:rPr>
              <a:t>to</a:t>
            </a:r>
            <a:endParaRPr sz="6150" dirty="0"/>
          </a:p>
        </p:txBody>
      </p:sp>
      <p:sp>
        <p:nvSpPr>
          <p:cNvPr id="5" name="object 5"/>
          <p:cNvSpPr txBox="1"/>
          <p:nvPr/>
        </p:nvSpPr>
        <p:spPr>
          <a:xfrm>
            <a:off x="977900" y="3673004"/>
            <a:ext cx="7434423" cy="93102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950" spc="-120" dirty="0">
                <a:solidFill>
                  <a:srgbClr val="1C1C1C"/>
                </a:solidFill>
                <a:latin typeface="Arial MT"/>
                <a:cs typeface="Arial MT"/>
              </a:rPr>
              <a:t>Autonomous</a:t>
            </a:r>
            <a:r>
              <a:rPr sz="5950" spc="-254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5950" spc="-125" dirty="0">
                <a:solidFill>
                  <a:srgbClr val="1F1F1F"/>
                </a:solidFill>
                <a:latin typeface="Arial MT"/>
                <a:cs typeface="Arial MT"/>
              </a:rPr>
              <a:t>Decisions</a:t>
            </a:r>
            <a:endParaRPr sz="595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6171" y="6101291"/>
            <a:ext cx="7360284" cy="82550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 indent="6985">
              <a:lnSpc>
                <a:spcPts val="3050"/>
              </a:lnSpc>
              <a:spcBef>
                <a:spcPts val="365"/>
              </a:spcBef>
            </a:pPr>
            <a:r>
              <a:rPr sz="2700" spc="-100" dirty="0">
                <a:latin typeface="Consolas"/>
                <a:cs typeface="Consolas"/>
              </a:rPr>
              <a:t>The</a:t>
            </a:r>
            <a:r>
              <a:rPr sz="2700" spc="-140" dirty="0">
                <a:latin typeface="Consolas"/>
                <a:cs typeface="Consolas"/>
              </a:rPr>
              <a:t> </a:t>
            </a:r>
            <a:r>
              <a:rPr sz="2700" spc="-160" dirty="0">
                <a:latin typeface="Consolas"/>
                <a:cs typeface="Consolas"/>
              </a:rPr>
              <a:t>mathematica[</a:t>
            </a:r>
            <a:r>
              <a:rPr sz="2700" spc="-420" dirty="0">
                <a:latin typeface="Consolas"/>
                <a:cs typeface="Consolas"/>
              </a:rPr>
              <a:t> </a:t>
            </a:r>
            <a:r>
              <a:rPr sz="2700" spc="-175" dirty="0">
                <a:latin typeface="Consolas"/>
                <a:cs typeface="Consolas"/>
              </a:rPr>
              <a:t>foundations</a:t>
            </a:r>
            <a:r>
              <a:rPr sz="2700" spc="-245" dirty="0">
                <a:latin typeface="Consolas"/>
                <a:cs typeface="Consolas"/>
              </a:rPr>
              <a:t> </a:t>
            </a:r>
            <a:r>
              <a:rPr sz="2700" spc="-235" dirty="0">
                <a:latin typeface="Consolas"/>
                <a:cs typeface="Consolas"/>
              </a:rPr>
              <a:t>of</a:t>
            </a:r>
            <a:r>
              <a:rPr sz="2700" spc="-300" dirty="0">
                <a:latin typeface="Consolas"/>
                <a:cs typeface="Consolas"/>
              </a:rPr>
              <a:t> </a:t>
            </a:r>
            <a:r>
              <a:rPr sz="2700" spc="-180" dirty="0">
                <a:latin typeface="Consolas"/>
                <a:cs typeface="Consolas"/>
              </a:rPr>
              <a:t>Convolution, </a:t>
            </a:r>
            <a:r>
              <a:rPr sz="2700" spc="-175" dirty="0">
                <a:latin typeface="Consolas"/>
                <a:cs typeface="Consolas"/>
              </a:rPr>
              <a:t>Filtering,</a:t>
            </a:r>
            <a:r>
              <a:rPr sz="2700" spc="-225" dirty="0">
                <a:latin typeface="Consolas"/>
                <a:cs typeface="Consolas"/>
              </a:rPr>
              <a:t> </a:t>
            </a:r>
            <a:r>
              <a:rPr sz="2700" spc="-120" dirty="0">
                <a:latin typeface="Consolas"/>
                <a:cs typeface="Consolas"/>
              </a:rPr>
              <a:t>and</a:t>
            </a:r>
            <a:r>
              <a:rPr sz="2700" spc="-254" dirty="0">
                <a:latin typeface="Consolas"/>
                <a:cs typeface="Consolas"/>
              </a:rPr>
              <a:t> </a:t>
            </a:r>
            <a:r>
              <a:rPr sz="2700" spc="-120" dirty="0">
                <a:latin typeface="Consolas"/>
                <a:cs typeface="Consolas"/>
              </a:rPr>
              <a:t>Image</a:t>
            </a:r>
            <a:r>
              <a:rPr sz="2700" spc="-170" dirty="0">
                <a:latin typeface="Consolas"/>
                <a:cs typeface="Consolas"/>
              </a:rPr>
              <a:t> </a:t>
            </a:r>
            <a:r>
              <a:rPr sz="2700" spc="-95" dirty="0">
                <a:latin typeface="Consolas"/>
                <a:cs typeface="Consolas"/>
              </a:rPr>
              <a:t>Restoration.</a:t>
            </a:r>
            <a:endParaRPr sz="27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200" y="8483600"/>
            <a:ext cx="16814800" cy="12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0200" y="1803400"/>
            <a:ext cx="8255000" cy="6019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2900" y="1638300"/>
            <a:ext cx="8229600" cy="12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90000" y="1816100"/>
            <a:ext cx="8255000" cy="6019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02700" y="1638300"/>
            <a:ext cx="8229600" cy="127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1995" y="203552"/>
            <a:ext cx="16499840" cy="650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100" dirty="0">
                <a:solidFill>
                  <a:srgbClr val="111111"/>
                </a:solidFill>
              </a:rPr>
              <a:t>Robots</a:t>
            </a:r>
            <a:r>
              <a:rPr sz="4100" spc="-25" dirty="0">
                <a:solidFill>
                  <a:srgbClr val="111111"/>
                </a:solidFill>
              </a:rPr>
              <a:t> </a:t>
            </a:r>
            <a:r>
              <a:rPr sz="4100" dirty="0">
                <a:solidFill>
                  <a:srgbClr val="181818"/>
                </a:solidFill>
              </a:rPr>
              <a:t>Do</a:t>
            </a:r>
            <a:r>
              <a:rPr sz="4100" spc="-80" dirty="0">
                <a:solidFill>
                  <a:srgbClr val="181818"/>
                </a:solidFill>
              </a:rPr>
              <a:t> </a:t>
            </a:r>
            <a:r>
              <a:rPr sz="4100" dirty="0">
                <a:solidFill>
                  <a:srgbClr val="1C1C1C"/>
                </a:solidFill>
              </a:rPr>
              <a:t>Not</a:t>
            </a:r>
            <a:r>
              <a:rPr sz="4100" spc="5" dirty="0">
                <a:solidFill>
                  <a:srgbClr val="1C1C1C"/>
                </a:solidFill>
              </a:rPr>
              <a:t> </a:t>
            </a:r>
            <a:r>
              <a:rPr sz="4100" dirty="0">
                <a:solidFill>
                  <a:srgbClr val="1A1A1A"/>
                </a:solidFill>
              </a:rPr>
              <a:t>Understand</a:t>
            </a:r>
            <a:r>
              <a:rPr sz="4100" spc="135" dirty="0">
                <a:solidFill>
                  <a:srgbClr val="1A1A1A"/>
                </a:solidFill>
              </a:rPr>
              <a:t> </a:t>
            </a:r>
            <a:r>
              <a:rPr sz="4100" dirty="0">
                <a:solidFill>
                  <a:srgbClr val="131313"/>
                </a:solidFill>
              </a:rPr>
              <a:t>Pictures.</a:t>
            </a:r>
            <a:r>
              <a:rPr sz="4100" spc="125" dirty="0">
                <a:solidFill>
                  <a:srgbClr val="131313"/>
                </a:solidFill>
              </a:rPr>
              <a:t> </a:t>
            </a:r>
            <a:r>
              <a:rPr sz="4100" dirty="0">
                <a:solidFill>
                  <a:srgbClr val="0F0F0F"/>
                </a:solidFill>
              </a:rPr>
              <a:t>They</a:t>
            </a:r>
            <a:r>
              <a:rPr sz="4100" spc="85" dirty="0">
                <a:solidFill>
                  <a:srgbClr val="0F0F0F"/>
                </a:solidFill>
              </a:rPr>
              <a:t> </a:t>
            </a:r>
            <a:r>
              <a:rPr sz="4100" dirty="0">
                <a:solidFill>
                  <a:srgbClr val="151515"/>
                </a:solidFill>
              </a:rPr>
              <a:t>Process</a:t>
            </a:r>
            <a:r>
              <a:rPr sz="4100" spc="215" dirty="0">
                <a:solidFill>
                  <a:srgbClr val="151515"/>
                </a:solidFill>
              </a:rPr>
              <a:t> </a:t>
            </a:r>
            <a:r>
              <a:rPr sz="4100" dirty="0">
                <a:solidFill>
                  <a:srgbClr val="1F1F1F"/>
                </a:solidFill>
              </a:rPr>
              <a:t>Arrays</a:t>
            </a:r>
            <a:r>
              <a:rPr sz="4100" spc="-10" dirty="0">
                <a:solidFill>
                  <a:srgbClr val="1F1F1F"/>
                </a:solidFill>
              </a:rPr>
              <a:t> </a:t>
            </a:r>
            <a:r>
              <a:rPr sz="4100" dirty="0">
                <a:solidFill>
                  <a:srgbClr val="1C1C1C"/>
                </a:solidFill>
              </a:rPr>
              <a:t>of</a:t>
            </a:r>
            <a:r>
              <a:rPr sz="4100" spc="140" dirty="0">
                <a:solidFill>
                  <a:srgbClr val="1C1C1C"/>
                </a:solidFill>
              </a:rPr>
              <a:t> </a:t>
            </a:r>
            <a:r>
              <a:rPr sz="4100" spc="-10" dirty="0">
                <a:solidFill>
                  <a:srgbClr val="111111"/>
                </a:solidFill>
              </a:rPr>
              <a:t>Numbers.</a:t>
            </a:r>
            <a:endParaRPr sz="4100"/>
          </a:p>
        </p:txBody>
      </p:sp>
      <p:sp>
        <p:nvSpPr>
          <p:cNvPr id="8" name="object 8"/>
          <p:cNvSpPr txBox="1"/>
          <p:nvPr/>
        </p:nvSpPr>
        <p:spPr>
          <a:xfrm>
            <a:off x="308306" y="1190977"/>
            <a:ext cx="11289030" cy="364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8584565" algn="l"/>
              </a:tabLst>
            </a:pPr>
            <a:r>
              <a:rPr sz="3225" baseline="1291" dirty="0">
                <a:latin typeface="Arial MT"/>
                <a:cs typeface="Arial MT"/>
              </a:rPr>
              <a:t>HUMAN</a:t>
            </a:r>
            <a:r>
              <a:rPr sz="3225" spc="127" baseline="1291" dirty="0">
                <a:latin typeface="Arial MT"/>
                <a:cs typeface="Arial MT"/>
              </a:rPr>
              <a:t> </a:t>
            </a:r>
            <a:r>
              <a:rPr sz="3225" spc="-15" baseline="1291" dirty="0">
                <a:latin typeface="Arial MT"/>
                <a:cs typeface="Arial MT"/>
              </a:rPr>
              <a:t>PERCEPTION</a:t>
            </a:r>
            <a:r>
              <a:rPr sz="3225" baseline="1291" dirty="0">
                <a:latin typeface="Arial MT"/>
                <a:cs typeface="Arial MT"/>
              </a:rPr>
              <a:t>	</a:t>
            </a:r>
            <a:r>
              <a:rPr sz="2200" spc="-120" dirty="0">
                <a:latin typeface="Arial MT"/>
                <a:cs typeface="Arial MT"/>
              </a:rPr>
              <a:t>ROBOT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95" dirty="0">
                <a:latin typeface="Arial MT"/>
                <a:cs typeface="Arial MT"/>
              </a:rPr>
              <a:t>PERCEPTION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4275" y="8568619"/>
            <a:ext cx="16804005" cy="74549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25400" marR="5080" indent="-13335">
              <a:lnSpc>
                <a:spcPts val="2750"/>
              </a:lnSpc>
              <a:spcBef>
                <a:spcPts val="330"/>
              </a:spcBef>
            </a:pPr>
            <a:r>
              <a:rPr sz="2400" spc="-145" dirty="0">
                <a:latin typeface="Consolas"/>
                <a:cs typeface="Consolas"/>
              </a:rPr>
              <a:t>Insight:</a:t>
            </a:r>
            <a:r>
              <a:rPr sz="2400" spc="-190" dirty="0">
                <a:latin typeface="Consolas"/>
                <a:cs typeface="Consolas"/>
              </a:rPr>
              <a:t> </a:t>
            </a:r>
            <a:r>
              <a:rPr sz="2400" spc="-140" dirty="0">
                <a:latin typeface="Consolas"/>
                <a:cs typeface="Consolas"/>
              </a:rPr>
              <a:t>Before</a:t>
            </a:r>
            <a:r>
              <a:rPr sz="2400" spc="-190" dirty="0">
                <a:latin typeface="Consolas"/>
                <a:cs typeface="Consolas"/>
              </a:rPr>
              <a:t> </a:t>
            </a:r>
            <a:r>
              <a:rPr sz="2400" dirty="0">
                <a:latin typeface="Consolas"/>
                <a:cs typeface="Consolas"/>
              </a:rPr>
              <a:t>a</a:t>
            </a:r>
            <a:r>
              <a:rPr sz="2400" spc="-330" dirty="0">
                <a:latin typeface="Consolas"/>
                <a:cs typeface="Consolas"/>
              </a:rPr>
              <a:t> </a:t>
            </a:r>
            <a:r>
              <a:rPr sz="2400" spc="-135" dirty="0">
                <a:latin typeface="Consolas"/>
                <a:cs typeface="Consolas"/>
              </a:rPr>
              <a:t>robot</a:t>
            </a:r>
            <a:r>
              <a:rPr sz="2400" spc="-195" dirty="0">
                <a:latin typeface="Consolas"/>
                <a:cs typeface="Consolas"/>
              </a:rPr>
              <a:t> </a:t>
            </a:r>
            <a:r>
              <a:rPr sz="2400" spc="-114" dirty="0">
                <a:latin typeface="Consolas"/>
                <a:cs typeface="Consolas"/>
              </a:rPr>
              <a:t>can</a:t>
            </a:r>
            <a:r>
              <a:rPr sz="2400" spc="-225" dirty="0">
                <a:latin typeface="Consolas"/>
                <a:cs typeface="Consolas"/>
              </a:rPr>
              <a:t> </a:t>
            </a:r>
            <a:r>
              <a:rPr sz="2400" spc="-140" dirty="0">
                <a:latin typeface="Consolas"/>
                <a:cs typeface="Consolas"/>
              </a:rPr>
              <a:t>make</a:t>
            </a:r>
            <a:r>
              <a:rPr sz="2400" spc="-195" dirty="0">
                <a:latin typeface="Consolas"/>
                <a:cs typeface="Consolas"/>
              </a:rPr>
              <a:t> </a:t>
            </a:r>
            <a:r>
              <a:rPr sz="2400" dirty="0">
                <a:latin typeface="Consolas"/>
                <a:cs typeface="Consolas"/>
              </a:rPr>
              <a:t>a</a:t>
            </a:r>
            <a:r>
              <a:rPr sz="2400" spc="-330" dirty="0">
                <a:latin typeface="Consolas"/>
                <a:cs typeface="Consolas"/>
              </a:rPr>
              <a:t> </a:t>
            </a:r>
            <a:r>
              <a:rPr sz="2400" spc="-155" dirty="0">
                <a:latin typeface="Consolas"/>
                <a:cs typeface="Consolas"/>
              </a:rPr>
              <a:t>decision,</a:t>
            </a:r>
            <a:r>
              <a:rPr sz="2400" spc="-175" dirty="0">
                <a:latin typeface="Consolas"/>
                <a:cs typeface="Consolas"/>
              </a:rPr>
              <a:t> </a:t>
            </a:r>
            <a:r>
              <a:rPr sz="2400" dirty="0">
                <a:latin typeface="Consolas"/>
                <a:cs typeface="Consolas"/>
              </a:rPr>
              <a:t>it</a:t>
            </a:r>
            <a:r>
              <a:rPr sz="2400" spc="-330" dirty="0">
                <a:latin typeface="Consolas"/>
                <a:cs typeface="Consolas"/>
              </a:rPr>
              <a:t> </a:t>
            </a:r>
            <a:r>
              <a:rPr sz="2400" spc="-110" dirty="0">
                <a:latin typeface="Consolas"/>
                <a:cs typeface="Consolas"/>
              </a:rPr>
              <a:t>must</a:t>
            </a:r>
            <a:r>
              <a:rPr sz="2400" spc="-225" dirty="0">
                <a:latin typeface="Consolas"/>
                <a:cs typeface="Consolas"/>
              </a:rPr>
              <a:t> </a:t>
            </a:r>
            <a:r>
              <a:rPr sz="2400" spc="-105" dirty="0">
                <a:latin typeface="Consolas"/>
                <a:cs typeface="Consolas"/>
              </a:rPr>
              <a:t>bridge</a:t>
            </a:r>
            <a:r>
              <a:rPr sz="2400" spc="-225" dirty="0">
                <a:latin typeface="Consolas"/>
                <a:cs typeface="Consolas"/>
              </a:rPr>
              <a:t> </a:t>
            </a:r>
            <a:r>
              <a:rPr sz="2400" spc="-125" dirty="0">
                <a:latin typeface="Consolas"/>
                <a:cs typeface="Consolas"/>
              </a:rPr>
              <a:t>the</a:t>
            </a:r>
            <a:r>
              <a:rPr sz="2400" spc="-204" dirty="0">
                <a:latin typeface="Consolas"/>
                <a:cs typeface="Consolas"/>
              </a:rPr>
              <a:t> </a:t>
            </a:r>
            <a:r>
              <a:rPr sz="2400" spc="-100" dirty="0">
                <a:latin typeface="Consolas"/>
                <a:cs typeface="Consolas"/>
              </a:rPr>
              <a:t>gap</a:t>
            </a:r>
            <a:r>
              <a:rPr sz="2400" spc="-160" dirty="0">
                <a:latin typeface="Consolas"/>
                <a:cs typeface="Consolas"/>
              </a:rPr>
              <a:t> </a:t>
            </a:r>
            <a:r>
              <a:rPr sz="2400" spc="-114" dirty="0">
                <a:latin typeface="Consolas"/>
                <a:cs typeface="Consolas"/>
              </a:rPr>
              <a:t>between</a:t>
            </a:r>
            <a:r>
              <a:rPr sz="2400" spc="-65" dirty="0">
                <a:latin typeface="Consolas"/>
                <a:cs typeface="Consolas"/>
              </a:rPr>
              <a:t> </a:t>
            </a:r>
            <a:r>
              <a:rPr sz="2400" spc="-130" dirty="0">
                <a:latin typeface="Consolas"/>
                <a:cs typeface="Consolas"/>
              </a:rPr>
              <a:t>noisy</a:t>
            </a:r>
            <a:r>
              <a:rPr sz="2400" spc="-200" dirty="0">
                <a:latin typeface="Consolas"/>
                <a:cs typeface="Consolas"/>
              </a:rPr>
              <a:t> </a:t>
            </a:r>
            <a:r>
              <a:rPr sz="2400" spc="-105" dirty="0">
                <a:latin typeface="Consolas"/>
                <a:cs typeface="Consolas"/>
              </a:rPr>
              <a:t>sensor</a:t>
            </a:r>
            <a:r>
              <a:rPr sz="2400" spc="-65" dirty="0">
                <a:latin typeface="Consolas"/>
                <a:cs typeface="Consolas"/>
              </a:rPr>
              <a:t> </a:t>
            </a:r>
            <a:r>
              <a:rPr sz="2400" spc="-135" dirty="0">
                <a:latin typeface="Consolas"/>
                <a:cs typeface="Consolas"/>
              </a:rPr>
              <a:t>input</a:t>
            </a:r>
            <a:r>
              <a:rPr sz="2400" spc="-195" dirty="0">
                <a:latin typeface="Consolas"/>
                <a:cs typeface="Consolas"/>
              </a:rPr>
              <a:t> </a:t>
            </a:r>
            <a:r>
              <a:rPr sz="2400" spc="-75" dirty="0">
                <a:latin typeface="Consolas"/>
                <a:cs typeface="Consolas"/>
              </a:rPr>
              <a:t>and</a:t>
            </a:r>
            <a:r>
              <a:rPr sz="2400" spc="-254" dirty="0">
                <a:latin typeface="Consolas"/>
                <a:cs typeface="Consolas"/>
              </a:rPr>
              <a:t> </a:t>
            </a:r>
            <a:r>
              <a:rPr sz="2400" spc="-85" dirty="0">
                <a:latin typeface="Consolas"/>
                <a:cs typeface="Consolas"/>
              </a:rPr>
              <a:t>clean</a:t>
            </a:r>
            <a:r>
              <a:rPr sz="2400" spc="-100" dirty="0">
                <a:latin typeface="Consolas"/>
                <a:cs typeface="Consolas"/>
              </a:rPr>
              <a:t> </a:t>
            </a:r>
            <a:r>
              <a:rPr sz="2400" spc="-10" dirty="0">
                <a:latin typeface="Consolas"/>
                <a:cs typeface="Consolas"/>
              </a:rPr>
              <a:t>data. </a:t>
            </a:r>
            <a:r>
              <a:rPr sz="2400" spc="-114" dirty="0">
                <a:latin typeface="Consolas"/>
                <a:cs typeface="Consolas"/>
              </a:rPr>
              <a:t>These</a:t>
            </a:r>
            <a:r>
              <a:rPr sz="2400" spc="-229" dirty="0">
                <a:latin typeface="Consolas"/>
                <a:cs typeface="Consolas"/>
              </a:rPr>
              <a:t> </a:t>
            </a:r>
            <a:r>
              <a:rPr sz="2400" spc="-135" dirty="0">
                <a:latin typeface="Consolas"/>
                <a:cs typeface="Consolas"/>
              </a:rPr>
              <a:t>techniques</a:t>
            </a:r>
            <a:r>
              <a:rPr sz="2400" spc="-195" dirty="0">
                <a:latin typeface="Consolas"/>
                <a:cs typeface="Consolas"/>
              </a:rPr>
              <a:t> </a:t>
            </a:r>
            <a:r>
              <a:rPr sz="2400" spc="-135" dirty="0">
                <a:latin typeface="Consolas"/>
                <a:cs typeface="Consolas"/>
              </a:rPr>
              <a:t>clean,</a:t>
            </a:r>
            <a:r>
              <a:rPr sz="2400" spc="-155" dirty="0">
                <a:latin typeface="Consolas"/>
                <a:cs typeface="Consolas"/>
              </a:rPr>
              <a:t> </a:t>
            </a:r>
            <a:r>
              <a:rPr sz="2400" spc="-150" dirty="0">
                <a:latin typeface="Consolas"/>
                <a:cs typeface="Consolas"/>
              </a:rPr>
              <a:t>enhance,</a:t>
            </a:r>
            <a:r>
              <a:rPr sz="2400" spc="-125" dirty="0">
                <a:latin typeface="Consolas"/>
                <a:cs typeface="Consolas"/>
              </a:rPr>
              <a:t> </a:t>
            </a:r>
            <a:r>
              <a:rPr sz="2400" spc="-75" dirty="0">
                <a:latin typeface="Consolas"/>
                <a:cs typeface="Consolas"/>
              </a:rPr>
              <a:t>and</a:t>
            </a:r>
            <a:r>
              <a:rPr sz="2400" spc="-254" dirty="0">
                <a:latin typeface="Consolas"/>
                <a:cs typeface="Consolas"/>
              </a:rPr>
              <a:t> </a:t>
            </a:r>
            <a:r>
              <a:rPr sz="2400" spc="-135" dirty="0">
                <a:latin typeface="Consolas"/>
                <a:cs typeface="Consolas"/>
              </a:rPr>
              <a:t>connect</a:t>
            </a:r>
            <a:r>
              <a:rPr sz="2400" spc="-155" dirty="0">
                <a:latin typeface="Consolas"/>
                <a:cs typeface="Consolas"/>
              </a:rPr>
              <a:t> </a:t>
            </a:r>
            <a:r>
              <a:rPr sz="2400" spc="-125" dirty="0">
                <a:latin typeface="Consolas"/>
                <a:cs typeface="Consolas"/>
              </a:rPr>
              <a:t>images</a:t>
            </a:r>
            <a:r>
              <a:rPr sz="2400" spc="-204" dirty="0">
                <a:latin typeface="Consolas"/>
                <a:cs typeface="Consolas"/>
              </a:rPr>
              <a:t> </a:t>
            </a:r>
            <a:r>
              <a:rPr sz="2400" spc="-114" dirty="0">
                <a:latin typeface="Consolas"/>
                <a:cs typeface="Consolas"/>
              </a:rPr>
              <a:t>befone</a:t>
            </a:r>
            <a:r>
              <a:rPr sz="2400" spc="-110" dirty="0">
                <a:latin typeface="Consolas"/>
                <a:cs typeface="Consolas"/>
              </a:rPr>
              <a:t> </a:t>
            </a:r>
            <a:r>
              <a:rPr sz="2400" spc="-140" dirty="0">
                <a:latin typeface="Consolas"/>
                <a:cs typeface="Consolas"/>
              </a:rPr>
              <a:t>decisions</a:t>
            </a:r>
            <a:r>
              <a:rPr sz="2400" spc="-190" dirty="0">
                <a:latin typeface="Consolas"/>
                <a:cs typeface="Consolas"/>
              </a:rPr>
              <a:t> </a:t>
            </a:r>
            <a:r>
              <a:rPr sz="2400" spc="-130" dirty="0">
                <a:latin typeface="Consolas"/>
                <a:cs typeface="Consolas"/>
              </a:rPr>
              <a:t>ane</a:t>
            </a:r>
            <a:r>
              <a:rPr sz="2400" spc="-200" dirty="0">
                <a:latin typeface="Consolas"/>
                <a:cs typeface="Consolas"/>
              </a:rPr>
              <a:t> </a:t>
            </a:r>
            <a:r>
              <a:rPr sz="2400" spc="-10" dirty="0">
                <a:latin typeface="Consolas"/>
                <a:cs typeface="Consolas"/>
              </a:rPr>
              <a:t>made.</a:t>
            </a:r>
            <a:endParaRPr sz="2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7400" y="2641600"/>
            <a:ext cx="6388100" cy="62103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76300" y="1267883"/>
            <a:ext cx="2874645" cy="0"/>
          </a:xfrm>
          <a:custGeom>
            <a:avLst/>
            <a:gdLst/>
            <a:ahLst/>
            <a:cxnLst/>
            <a:rect l="l" t="t" r="r" b="b"/>
            <a:pathLst>
              <a:path w="2874645">
                <a:moveTo>
                  <a:pt x="0" y="0"/>
                </a:moveTo>
                <a:lnTo>
                  <a:pt x="2874433" y="0"/>
                </a:lnTo>
              </a:path>
            </a:pathLst>
          </a:custGeom>
          <a:ln w="29633">
            <a:solidFill>
              <a:srgbClr val="1F67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74500" y="2959100"/>
            <a:ext cx="50800" cy="11557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51880" y="777169"/>
            <a:ext cx="2893060" cy="396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dirty="0">
                <a:latin typeface="Arial MT"/>
                <a:cs typeface="Arial MT"/>
              </a:rPr>
              <a:t>Engineering</a:t>
            </a:r>
            <a:r>
              <a:rPr sz="2400" spc="2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Editorial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42472" y="1511652"/>
            <a:ext cx="15570200" cy="840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350" dirty="0">
                <a:solidFill>
                  <a:srgbClr val="1F1F1F"/>
                </a:solidFill>
              </a:rPr>
              <a:t>Convolution</a:t>
            </a:r>
            <a:r>
              <a:rPr sz="5350" spc="105" dirty="0">
                <a:solidFill>
                  <a:srgbClr val="1F1F1F"/>
                </a:solidFill>
              </a:rPr>
              <a:t> </a:t>
            </a:r>
            <a:r>
              <a:rPr sz="5350" spc="114" dirty="0">
                <a:solidFill>
                  <a:srgbClr val="1F1F1F"/>
                </a:solidFill>
              </a:rPr>
              <a:t>is</a:t>
            </a:r>
            <a:r>
              <a:rPr sz="5350" spc="-260" dirty="0">
                <a:solidFill>
                  <a:srgbClr val="1F1F1F"/>
                </a:solidFill>
              </a:rPr>
              <a:t> </a:t>
            </a:r>
            <a:r>
              <a:rPr sz="5350" spc="95" dirty="0">
                <a:solidFill>
                  <a:srgbClr val="1C1C1C"/>
                </a:solidFill>
              </a:rPr>
              <a:t>the</a:t>
            </a:r>
            <a:r>
              <a:rPr sz="5350" spc="-90" dirty="0">
                <a:solidFill>
                  <a:srgbClr val="1C1C1C"/>
                </a:solidFill>
              </a:rPr>
              <a:t> </a:t>
            </a:r>
            <a:r>
              <a:rPr sz="5350" dirty="0">
                <a:solidFill>
                  <a:srgbClr val="1C1C1C"/>
                </a:solidFill>
              </a:rPr>
              <a:t>Atomic</a:t>
            </a:r>
            <a:r>
              <a:rPr sz="5350" spc="-20" dirty="0">
                <a:solidFill>
                  <a:srgbClr val="1C1C1C"/>
                </a:solidFill>
              </a:rPr>
              <a:t> </a:t>
            </a:r>
            <a:r>
              <a:rPr sz="5350" dirty="0">
                <a:solidFill>
                  <a:srgbClr val="232323"/>
                </a:solidFill>
              </a:rPr>
              <a:t>Unit</a:t>
            </a:r>
            <a:r>
              <a:rPr sz="5350" spc="-25" dirty="0">
                <a:solidFill>
                  <a:srgbClr val="232323"/>
                </a:solidFill>
              </a:rPr>
              <a:t> </a:t>
            </a:r>
            <a:r>
              <a:rPr sz="5350" dirty="0">
                <a:solidFill>
                  <a:srgbClr val="1A1A1A"/>
                </a:solidFill>
              </a:rPr>
              <a:t>of</a:t>
            </a:r>
            <a:r>
              <a:rPr sz="5350" spc="-100" dirty="0">
                <a:solidFill>
                  <a:srgbClr val="1A1A1A"/>
                </a:solidFill>
              </a:rPr>
              <a:t> </a:t>
            </a:r>
            <a:r>
              <a:rPr sz="5350" spc="-20" dirty="0">
                <a:solidFill>
                  <a:srgbClr val="212121"/>
                </a:solidFill>
              </a:rPr>
              <a:t>Image</a:t>
            </a:r>
            <a:r>
              <a:rPr sz="5350" spc="-110" dirty="0">
                <a:solidFill>
                  <a:srgbClr val="212121"/>
                </a:solidFill>
              </a:rPr>
              <a:t> </a:t>
            </a:r>
            <a:r>
              <a:rPr sz="5350" spc="-10" dirty="0">
                <a:solidFill>
                  <a:srgbClr val="1A1A1A"/>
                </a:solidFill>
              </a:rPr>
              <a:t>Processing</a:t>
            </a:r>
            <a:endParaRPr sz="5350"/>
          </a:p>
        </p:txBody>
      </p:sp>
      <p:sp>
        <p:nvSpPr>
          <p:cNvPr id="7" name="object 7"/>
          <p:cNvSpPr txBox="1"/>
          <p:nvPr/>
        </p:nvSpPr>
        <p:spPr>
          <a:xfrm>
            <a:off x="1497232" y="5852230"/>
            <a:ext cx="1883410" cy="417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dirty="0">
                <a:latin typeface="Arial MT"/>
                <a:cs typeface="Arial MT"/>
              </a:rPr>
              <a:t>Filter</a:t>
            </a:r>
            <a:r>
              <a:rPr sz="2550" spc="-15" dirty="0">
                <a:latin typeface="Arial MT"/>
                <a:cs typeface="Arial MT"/>
              </a:rPr>
              <a:t> </a:t>
            </a:r>
            <a:r>
              <a:rPr sz="2550" spc="70" dirty="0">
                <a:latin typeface="Arial MT"/>
                <a:cs typeface="Arial MT"/>
              </a:rPr>
              <a:t>/</a:t>
            </a:r>
            <a:r>
              <a:rPr sz="2550" spc="-180" dirty="0">
                <a:latin typeface="Arial MT"/>
                <a:cs typeface="Arial MT"/>
              </a:rPr>
              <a:t> </a:t>
            </a:r>
            <a:r>
              <a:rPr sz="2550" spc="-65" dirty="0">
                <a:latin typeface="Arial MT"/>
                <a:cs typeface="Arial MT"/>
              </a:rPr>
              <a:t>Kernel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25421" y="8057091"/>
            <a:ext cx="1685925" cy="781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970"/>
              </a:lnSpc>
              <a:spcBef>
                <a:spcPts val="105"/>
              </a:spcBef>
            </a:pPr>
            <a:r>
              <a:rPr sz="2700" spc="-80" dirty="0">
                <a:latin typeface="Arial MT"/>
                <a:cs typeface="Arial MT"/>
              </a:rPr>
              <a:t>Input</a:t>
            </a:r>
            <a:r>
              <a:rPr sz="2700" spc="-85" dirty="0">
                <a:latin typeface="Arial MT"/>
                <a:cs typeface="Arial MT"/>
              </a:rPr>
              <a:t> </a:t>
            </a:r>
            <a:r>
              <a:rPr sz="2700" spc="-135" dirty="0">
                <a:latin typeface="Arial MT"/>
                <a:cs typeface="Arial MT"/>
              </a:rPr>
              <a:t>Image</a:t>
            </a:r>
            <a:endParaRPr sz="2700">
              <a:latin typeface="Arial MT"/>
              <a:cs typeface="Arial MT"/>
            </a:endParaRPr>
          </a:p>
          <a:p>
            <a:pPr marL="569595">
              <a:lnSpc>
                <a:spcPts val="2970"/>
              </a:lnSpc>
            </a:pPr>
            <a:r>
              <a:rPr sz="2700" spc="-40" dirty="0">
                <a:latin typeface="Arial MT"/>
                <a:cs typeface="Arial MT"/>
              </a:rPr>
              <a:t>(Pixels)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00797" y="3125611"/>
            <a:ext cx="1779270" cy="7543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2910"/>
              </a:lnSpc>
              <a:spcBef>
                <a:spcPts val="135"/>
              </a:spcBef>
            </a:pPr>
            <a:r>
              <a:rPr sz="2600" spc="-10" dirty="0">
                <a:latin typeface="Arial MT"/>
                <a:cs typeface="Arial MT"/>
              </a:rPr>
              <a:t>Output</a:t>
            </a:r>
            <a:endParaRPr sz="2600">
              <a:latin typeface="Arial MT"/>
              <a:cs typeface="Arial MT"/>
            </a:endParaRPr>
          </a:p>
          <a:p>
            <a:pPr marL="15240">
              <a:lnSpc>
                <a:spcPts val="2790"/>
              </a:lnSpc>
            </a:pPr>
            <a:r>
              <a:rPr sz="2500" spc="-10" dirty="0">
                <a:latin typeface="Arial MT"/>
                <a:cs typeface="Arial MT"/>
              </a:rPr>
              <a:t>Feature</a:t>
            </a:r>
            <a:r>
              <a:rPr sz="2500" spc="-155" dirty="0">
                <a:latin typeface="Arial MT"/>
                <a:cs typeface="Arial MT"/>
              </a:rPr>
              <a:t> </a:t>
            </a:r>
            <a:r>
              <a:rPr sz="2500" spc="-45" dirty="0">
                <a:latin typeface="Arial MT"/>
                <a:cs typeface="Arial MT"/>
              </a:rPr>
              <a:t>Map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300974" y="2866707"/>
            <a:ext cx="4440555" cy="488315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575"/>
              </a:spcBef>
            </a:pPr>
            <a:r>
              <a:rPr sz="2900" spc="-130" dirty="0">
                <a:latin typeface="Consolas"/>
                <a:cs typeface="Consolas"/>
              </a:rPr>
              <a:t>DEFINITION:</a:t>
            </a:r>
            <a:endParaRPr sz="2900" dirty="0">
              <a:latin typeface="Consolas"/>
              <a:cs typeface="Consolas"/>
            </a:endParaRPr>
          </a:p>
          <a:p>
            <a:pPr marL="12700" marR="236854" indent="15875">
              <a:lnSpc>
                <a:spcPct val="111500"/>
              </a:lnSpc>
              <a:spcBef>
                <a:spcPts val="90"/>
              </a:spcBef>
              <a:tabLst>
                <a:tab pos="1091565" algn="l"/>
                <a:tab pos="1603375" algn="l"/>
                <a:tab pos="2844165" algn="l"/>
              </a:tabLst>
            </a:pPr>
            <a:r>
              <a:rPr sz="2750" dirty="0">
                <a:latin typeface="Consolas"/>
                <a:cs typeface="Consolas"/>
              </a:rPr>
              <a:t>A</a:t>
            </a:r>
            <a:r>
              <a:rPr sz="2750" spc="-280" dirty="0">
                <a:latin typeface="Consolas"/>
                <a:cs typeface="Consolas"/>
              </a:rPr>
              <a:t> </a:t>
            </a:r>
            <a:r>
              <a:rPr sz="2750" spc="-150" dirty="0">
                <a:latin typeface="Consolas"/>
                <a:cs typeface="Consolas"/>
              </a:rPr>
              <a:t>mathematical</a:t>
            </a:r>
            <a:r>
              <a:rPr sz="2750" spc="-229" dirty="0">
                <a:latin typeface="Consolas"/>
                <a:cs typeface="Consolas"/>
              </a:rPr>
              <a:t> </a:t>
            </a:r>
            <a:r>
              <a:rPr sz="2750" spc="-145" dirty="0">
                <a:latin typeface="Consolas"/>
                <a:cs typeface="Consolas"/>
              </a:rPr>
              <a:t>operation </a:t>
            </a:r>
            <a:r>
              <a:rPr sz="2750" spc="-195" dirty="0">
                <a:latin typeface="Consolas"/>
                <a:cs typeface="Consolas"/>
              </a:rPr>
              <a:t>that</a:t>
            </a:r>
            <a:r>
              <a:rPr sz="2750" spc="-245" dirty="0">
                <a:latin typeface="Consolas"/>
                <a:cs typeface="Consolas"/>
              </a:rPr>
              <a:t> </a:t>
            </a:r>
            <a:r>
              <a:rPr sz="2750" spc="-210" dirty="0">
                <a:latin typeface="Consolas"/>
                <a:cs typeface="Consolas"/>
              </a:rPr>
              <a:t>applies</a:t>
            </a:r>
            <a:r>
              <a:rPr sz="2750" spc="-165" dirty="0">
                <a:latin typeface="Consolas"/>
                <a:cs typeface="Consolas"/>
              </a:rPr>
              <a:t> </a:t>
            </a:r>
            <a:r>
              <a:rPr sz="2750" spc="-70" dirty="0">
                <a:latin typeface="Consolas"/>
                <a:cs typeface="Consolas"/>
              </a:rPr>
              <a:t>a</a:t>
            </a:r>
            <a:r>
              <a:rPr sz="2750" spc="-310" dirty="0">
                <a:latin typeface="Consolas"/>
                <a:cs typeface="Consolas"/>
              </a:rPr>
              <a:t> </a:t>
            </a:r>
            <a:r>
              <a:rPr sz="2750" spc="-10" dirty="0">
                <a:latin typeface="Consolas"/>
                <a:cs typeface="Consolas"/>
              </a:rPr>
              <a:t>small </a:t>
            </a:r>
            <a:r>
              <a:rPr sz="2950" spc="-285" dirty="0">
                <a:latin typeface="Consolas"/>
                <a:cs typeface="Consolas"/>
              </a:rPr>
              <a:t>matrix</a:t>
            </a:r>
            <a:r>
              <a:rPr sz="2950" spc="-180" dirty="0">
                <a:latin typeface="Consolas"/>
                <a:cs typeface="Consolas"/>
              </a:rPr>
              <a:t> </a:t>
            </a:r>
            <a:r>
              <a:rPr sz="2950" spc="-380" dirty="0">
                <a:latin typeface="Consolas"/>
                <a:cs typeface="Consolas"/>
              </a:rPr>
              <a:t>(Kernel)</a:t>
            </a:r>
            <a:r>
              <a:rPr sz="2950" spc="40" dirty="0">
                <a:latin typeface="Consolas"/>
                <a:cs typeface="Consolas"/>
              </a:rPr>
              <a:t> </a:t>
            </a:r>
            <a:r>
              <a:rPr sz="2950" spc="-330" dirty="0">
                <a:latin typeface="Consolas"/>
                <a:cs typeface="Consolas"/>
              </a:rPr>
              <a:t>to</a:t>
            </a:r>
            <a:r>
              <a:rPr sz="2950" spc="-340" dirty="0">
                <a:latin typeface="Consolas"/>
                <a:cs typeface="Consolas"/>
              </a:rPr>
              <a:t> </a:t>
            </a:r>
            <a:r>
              <a:rPr sz="2950" spc="-25" dirty="0">
                <a:latin typeface="Consolas"/>
                <a:cs typeface="Consolas"/>
              </a:rPr>
              <a:t>an </a:t>
            </a:r>
            <a:r>
              <a:rPr sz="2850" spc="-10" dirty="0">
                <a:latin typeface="Calibri"/>
                <a:cs typeface="Calibri"/>
              </a:rPr>
              <a:t>1mage</a:t>
            </a:r>
            <a:r>
              <a:rPr sz="2850" dirty="0">
                <a:latin typeface="Calibri"/>
                <a:cs typeface="Calibri"/>
              </a:rPr>
              <a:t>	</a:t>
            </a:r>
            <a:r>
              <a:rPr sz="2850" spc="-25" dirty="0">
                <a:latin typeface="Calibri"/>
                <a:cs typeface="Calibri"/>
              </a:rPr>
              <a:t>to</a:t>
            </a:r>
            <a:r>
              <a:rPr sz="2850" dirty="0">
                <a:latin typeface="Calibri"/>
                <a:cs typeface="Calibri"/>
              </a:rPr>
              <a:t>	</a:t>
            </a:r>
            <a:r>
              <a:rPr sz="2850" spc="-10" dirty="0">
                <a:latin typeface="Calibri"/>
                <a:cs typeface="Calibri"/>
              </a:rPr>
              <a:t>mod1fy</a:t>
            </a:r>
            <a:r>
              <a:rPr sz="2850" dirty="0">
                <a:latin typeface="Calibri"/>
                <a:cs typeface="Calibri"/>
              </a:rPr>
              <a:t>	1t</a:t>
            </a:r>
            <a:r>
              <a:rPr sz="2850" spc="165" dirty="0">
                <a:latin typeface="Calibri"/>
                <a:cs typeface="Calibri"/>
              </a:rPr>
              <a:t> </a:t>
            </a:r>
            <a:r>
              <a:rPr sz="2850" spc="-50" dirty="0">
                <a:latin typeface="Calibri"/>
                <a:cs typeface="Calibri"/>
              </a:rPr>
              <a:t>.</a:t>
            </a:r>
            <a:endParaRPr sz="28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2750" dirty="0">
              <a:latin typeface="Calibri"/>
              <a:cs typeface="Calibri"/>
            </a:endParaRPr>
          </a:p>
          <a:p>
            <a:pPr marL="22225">
              <a:lnSpc>
                <a:spcPct val="100000"/>
              </a:lnSpc>
            </a:pPr>
            <a:r>
              <a:rPr sz="2900" spc="-204" dirty="0">
                <a:latin typeface="Consolas"/>
                <a:cs typeface="Consolas"/>
              </a:rPr>
              <a:t>WHY</a:t>
            </a:r>
            <a:r>
              <a:rPr sz="2900" spc="-195" dirty="0">
                <a:latin typeface="Consolas"/>
                <a:cs typeface="Consolas"/>
              </a:rPr>
              <a:t> </a:t>
            </a:r>
            <a:r>
              <a:rPr sz="2900" spc="-35" dirty="0">
                <a:latin typeface="Consolas"/>
                <a:cs typeface="Consolas"/>
              </a:rPr>
              <a:t>IT</a:t>
            </a:r>
            <a:r>
              <a:rPr sz="2900" spc="-305" dirty="0">
                <a:latin typeface="Consolas"/>
                <a:cs typeface="Consolas"/>
              </a:rPr>
              <a:t> </a:t>
            </a:r>
            <a:r>
              <a:rPr sz="2900" spc="-204" dirty="0">
                <a:latin typeface="Consolas"/>
                <a:cs typeface="Consolas"/>
              </a:rPr>
              <a:t>MATTERS:</a:t>
            </a:r>
            <a:r>
              <a:rPr sz="2900" spc="-195" dirty="0">
                <a:latin typeface="Consolas"/>
                <a:cs typeface="Consolas"/>
              </a:rPr>
              <a:t> </a:t>
            </a:r>
            <a:r>
              <a:rPr sz="2900" spc="-25" dirty="0">
                <a:latin typeface="Consolas"/>
                <a:cs typeface="Consolas"/>
              </a:rPr>
              <a:t>The</a:t>
            </a:r>
            <a:endParaRPr sz="2900" dirty="0">
              <a:latin typeface="Consolas"/>
              <a:cs typeface="Consolas"/>
            </a:endParaRPr>
          </a:p>
          <a:p>
            <a:pPr marL="15240">
              <a:lnSpc>
                <a:spcPct val="100000"/>
              </a:lnSpc>
              <a:spcBef>
                <a:spcPts val="470"/>
              </a:spcBef>
            </a:pPr>
            <a:r>
              <a:rPr sz="2750" spc="-100" dirty="0">
                <a:latin typeface="Consolas"/>
                <a:cs typeface="Consolas"/>
              </a:rPr>
              <a:t>under</a:t>
            </a:r>
            <a:r>
              <a:rPr lang="en-IN" sz="2750" spc="-100" dirty="0">
                <a:latin typeface="Consolas"/>
                <a:cs typeface="Consolas"/>
              </a:rPr>
              <a:t>l</a:t>
            </a:r>
            <a:r>
              <a:rPr sz="2750" spc="-100" dirty="0">
                <a:latin typeface="Consolas"/>
                <a:cs typeface="Consolas"/>
              </a:rPr>
              <a:t>yin</a:t>
            </a:r>
            <a:r>
              <a:rPr lang="en-IN" sz="2750" spc="-100" dirty="0">
                <a:latin typeface="Consolas"/>
                <a:cs typeface="Consolas"/>
              </a:rPr>
              <a:t>g</a:t>
            </a:r>
            <a:r>
              <a:rPr sz="2750" spc="-210" dirty="0">
                <a:latin typeface="Consolas"/>
                <a:cs typeface="Consolas"/>
              </a:rPr>
              <a:t> </a:t>
            </a:r>
            <a:r>
              <a:rPr sz="2750" spc="-10" dirty="0">
                <a:latin typeface="Consolas"/>
                <a:cs typeface="Consolas"/>
              </a:rPr>
              <a:t>mechanism</a:t>
            </a:r>
            <a:endParaRPr sz="2750" dirty="0">
              <a:latin typeface="Consolas"/>
              <a:cs typeface="Consolas"/>
            </a:endParaRPr>
          </a:p>
          <a:p>
            <a:pPr marL="29209">
              <a:lnSpc>
                <a:spcPct val="100000"/>
              </a:lnSpc>
              <a:spcBef>
                <a:spcPts val="500"/>
              </a:spcBef>
            </a:pPr>
            <a:r>
              <a:rPr sz="2750" spc="-120" dirty="0">
                <a:latin typeface="Consolas"/>
                <a:cs typeface="Consolas"/>
              </a:rPr>
              <a:t>for</a:t>
            </a:r>
            <a:r>
              <a:rPr sz="2750" spc="-260" dirty="0">
                <a:latin typeface="Consolas"/>
                <a:cs typeface="Consolas"/>
              </a:rPr>
              <a:t> </a:t>
            </a:r>
            <a:r>
              <a:rPr sz="2750" spc="-135" dirty="0">
                <a:latin typeface="Consolas"/>
                <a:cs typeface="Consolas"/>
              </a:rPr>
              <a:t>blurring,</a:t>
            </a:r>
            <a:r>
              <a:rPr sz="2750" spc="-170" dirty="0">
                <a:latin typeface="Consolas"/>
                <a:cs typeface="Consolas"/>
              </a:rPr>
              <a:t> </a:t>
            </a:r>
            <a:r>
              <a:rPr sz="2750" spc="-110" dirty="0">
                <a:latin typeface="Consolas"/>
                <a:cs typeface="Consolas"/>
              </a:rPr>
              <a:t>sharpening,</a:t>
            </a:r>
            <a:endParaRPr sz="2750" dirty="0">
              <a:latin typeface="Consolas"/>
              <a:cs typeface="Consolas"/>
            </a:endParaRPr>
          </a:p>
          <a:p>
            <a:pPr marL="19685">
              <a:lnSpc>
                <a:spcPct val="100000"/>
              </a:lnSpc>
              <a:spcBef>
                <a:spcPts val="400"/>
              </a:spcBef>
            </a:pPr>
            <a:r>
              <a:rPr sz="2850" spc="-85" dirty="0">
                <a:latin typeface="Consolas"/>
                <a:cs typeface="Consolas"/>
              </a:rPr>
              <a:t>and</a:t>
            </a:r>
            <a:r>
              <a:rPr sz="2850" spc="-310" dirty="0">
                <a:latin typeface="Consolas"/>
                <a:cs typeface="Consolas"/>
              </a:rPr>
              <a:t> </a:t>
            </a:r>
            <a:r>
              <a:rPr sz="2850" spc="-155" dirty="0">
                <a:latin typeface="Consolas"/>
                <a:cs typeface="Consolas"/>
              </a:rPr>
              <a:t>edge</a:t>
            </a:r>
            <a:r>
              <a:rPr sz="2850" spc="-195" dirty="0">
                <a:latin typeface="Consolas"/>
                <a:cs typeface="Consolas"/>
              </a:rPr>
              <a:t> </a:t>
            </a:r>
            <a:r>
              <a:rPr sz="2850" spc="-85" dirty="0">
                <a:latin typeface="Consolas"/>
                <a:cs typeface="Consolas"/>
              </a:rPr>
              <a:t>detection.</a:t>
            </a:r>
            <a:endParaRPr sz="285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821870" y="566913"/>
            <a:ext cx="11591290" cy="8616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450" spc="-40" dirty="0">
                <a:solidFill>
                  <a:srgbClr val="1A1A1A"/>
                </a:solidFill>
              </a:rPr>
              <a:t>The</a:t>
            </a:r>
            <a:r>
              <a:rPr sz="5450" spc="-380" dirty="0">
                <a:solidFill>
                  <a:srgbClr val="1A1A1A"/>
                </a:solidFill>
              </a:rPr>
              <a:t> </a:t>
            </a:r>
            <a:r>
              <a:rPr sz="5450" dirty="0">
                <a:solidFill>
                  <a:srgbClr val="1A1A1A"/>
                </a:solidFill>
              </a:rPr>
              <a:t>Mechanics</a:t>
            </a:r>
            <a:r>
              <a:rPr sz="5450" spc="125" dirty="0">
                <a:solidFill>
                  <a:srgbClr val="1A1A1A"/>
                </a:solidFill>
              </a:rPr>
              <a:t> </a:t>
            </a:r>
            <a:r>
              <a:rPr sz="5450" spc="65" dirty="0">
                <a:solidFill>
                  <a:srgbClr val="1C1C1C"/>
                </a:solidFill>
              </a:rPr>
              <a:t>of</a:t>
            </a:r>
            <a:r>
              <a:rPr sz="5450" spc="-50" dirty="0">
                <a:solidFill>
                  <a:srgbClr val="1C1C1C"/>
                </a:solidFill>
              </a:rPr>
              <a:t> </a:t>
            </a:r>
            <a:r>
              <a:rPr sz="5450" spc="120" dirty="0">
                <a:solidFill>
                  <a:srgbClr val="1A1A1A"/>
                </a:solidFill>
              </a:rPr>
              <a:t>the</a:t>
            </a:r>
            <a:r>
              <a:rPr sz="5450" spc="-405" dirty="0">
                <a:solidFill>
                  <a:srgbClr val="1A1A1A"/>
                </a:solidFill>
              </a:rPr>
              <a:t> </a:t>
            </a:r>
            <a:r>
              <a:rPr sz="5450" dirty="0">
                <a:solidFill>
                  <a:srgbClr val="161616"/>
                </a:solidFill>
              </a:rPr>
              <a:t>Sliding</a:t>
            </a:r>
            <a:r>
              <a:rPr sz="5450" spc="-80" dirty="0">
                <a:solidFill>
                  <a:srgbClr val="161616"/>
                </a:solidFill>
              </a:rPr>
              <a:t> </a:t>
            </a:r>
            <a:r>
              <a:rPr sz="5450" spc="-10" dirty="0">
                <a:solidFill>
                  <a:srgbClr val="151515"/>
                </a:solidFill>
              </a:rPr>
              <a:t>Window</a:t>
            </a:r>
            <a:endParaRPr sz="5450"/>
          </a:p>
        </p:txBody>
      </p:sp>
      <p:sp>
        <p:nvSpPr>
          <p:cNvPr id="24" name="object 24"/>
          <p:cNvSpPr txBox="1"/>
          <p:nvPr/>
        </p:nvSpPr>
        <p:spPr>
          <a:xfrm>
            <a:off x="12301964" y="1779763"/>
            <a:ext cx="2212975" cy="480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50" spc="-390" dirty="0">
                <a:latin typeface="Arial MT"/>
                <a:cs typeface="Arial MT"/>
              </a:rPr>
              <a:t>STEP-</a:t>
            </a:r>
            <a:r>
              <a:rPr sz="2950" spc="-370" dirty="0">
                <a:latin typeface="Arial MT"/>
                <a:cs typeface="Arial MT"/>
              </a:rPr>
              <a:t>BY-</a:t>
            </a:r>
            <a:r>
              <a:rPr sz="2950" spc="-390" dirty="0">
                <a:latin typeface="Arial MT"/>
                <a:cs typeface="Arial MT"/>
              </a:rPr>
              <a:t>STEP: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309606" y="2389011"/>
            <a:ext cx="4091304" cy="8324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-225" dirty="0">
                <a:latin typeface="Consolas"/>
                <a:cs typeface="Consolas"/>
              </a:rPr>
              <a:t>1.</a:t>
            </a:r>
            <a:r>
              <a:rPr sz="2600" spc="-695" dirty="0">
                <a:latin typeface="Consolas"/>
                <a:cs typeface="Consolas"/>
              </a:rPr>
              <a:t> </a:t>
            </a:r>
            <a:r>
              <a:rPr sz="2600" spc="-165" dirty="0">
                <a:latin typeface="Consolas"/>
                <a:cs typeface="Consolas"/>
              </a:rPr>
              <a:t>PLACE:</a:t>
            </a:r>
            <a:r>
              <a:rPr sz="2600" spc="-145" dirty="0">
                <a:latin typeface="Consolas"/>
                <a:cs typeface="Consolas"/>
              </a:rPr>
              <a:t> </a:t>
            </a:r>
            <a:r>
              <a:rPr sz="2600" spc="-190" dirty="0">
                <a:latin typeface="Consolas"/>
                <a:cs typeface="Consolas"/>
              </a:rPr>
              <a:t>Align</a:t>
            </a:r>
            <a:r>
              <a:rPr sz="2600" spc="-110" dirty="0">
                <a:latin typeface="Consolas"/>
                <a:cs typeface="Consolas"/>
              </a:rPr>
              <a:t> </a:t>
            </a:r>
            <a:r>
              <a:rPr sz="2600" spc="-210" dirty="0">
                <a:latin typeface="Consolas"/>
                <a:cs typeface="Consolas"/>
              </a:rPr>
              <a:t>the</a:t>
            </a:r>
            <a:r>
              <a:rPr sz="2600" spc="-180" dirty="0">
                <a:latin typeface="Consolas"/>
                <a:cs typeface="Consolas"/>
              </a:rPr>
              <a:t> </a:t>
            </a:r>
            <a:r>
              <a:rPr sz="2600" spc="-145" dirty="0">
                <a:latin typeface="Consolas"/>
                <a:cs typeface="Consolas"/>
              </a:rPr>
              <a:t>kennel</a:t>
            </a:r>
            <a:endParaRPr sz="2600">
              <a:latin typeface="Consolas"/>
              <a:cs typeface="Consolas"/>
            </a:endParaRPr>
          </a:p>
          <a:p>
            <a:pPr marL="426084">
              <a:lnSpc>
                <a:spcPct val="100000"/>
              </a:lnSpc>
              <a:spcBef>
                <a:spcPts val="130"/>
              </a:spcBef>
            </a:pPr>
            <a:r>
              <a:rPr sz="2550" spc="-125" dirty="0">
                <a:latin typeface="Consolas"/>
                <a:cs typeface="Consolas"/>
              </a:rPr>
              <a:t>over</a:t>
            </a:r>
            <a:r>
              <a:rPr sz="2550" spc="-225" dirty="0">
                <a:latin typeface="Consolas"/>
                <a:cs typeface="Consolas"/>
              </a:rPr>
              <a:t> </a:t>
            </a:r>
            <a:r>
              <a:rPr sz="2550" spc="-215" dirty="0">
                <a:latin typeface="Consolas"/>
                <a:cs typeface="Consolas"/>
              </a:rPr>
              <a:t>the</a:t>
            </a:r>
            <a:r>
              <a:rPr sz="2550" spc="-140" dirty="0">
                <a:latin typeface="Consolas"/>
                <a:cs typeface="Consolas"/>
              </a:rPr>
              <a:t> </a:t>
            </a:r>
            <a:r>
              <a:rPr sz="2550" spc="-130" dirty="0">
                <a:latin typeface="Consolas"/>
                <a:cs typeface="Consolas"/>
              </a:rPr>
              <a:t>image</a:t>
            </a:r>
            <a:r>
              <a:rPr sz="2550" spc="-204" dirty="0">
                <a:latin typeface="Consolas"/>
                <a:cs typeface="Consolas"/>
              </a:rPr>
              <a:t> </a:t>
            </a:r>
            <a:r>
              <a:rPr sz="2550" spc="-30" dirty="0">
                <a:latin typeface="Consolas"/>
                <a:cs typeface="Consolas"/>
              </a:rPr>
              <a:t>pixels.</a:t>
            </a:r>
            <a:endParaRPr sz="2550">
              <a:latin typeface="Consolas"/>
              <a:cs typeface="Consola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287088" y="3493911"/>
            <a:ext cx="4432935" cy="3046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22275" indent="-387985">
              <a:lnSpc>
                <a:spcPct val="100000"/>
              </a:lnSpc>
              <a:spcBef>
                <a:spcPts val="135"/>
              </a:spcBef>
              <a:buAutoNum type="arabicPeriod" startAt="2"/>
              <a:tabLst>
                <a:tab pos="422275" algn="l"/>
                <a:tab pos="2037080" algn="l"/>
              </a:tabLst>
            </a:pPr>
            <a:r>
              <a:rPr sz="2600" spc="-275" dirty="0">
                <a:latin typeface="Arial MT"/>
                <a:cs typeface="Arial MT"/>
              </a:rPr>
              <a:t>FIULTIPLY: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lang="en-IN" sz="2600" spc="-10" dirty="0">
                <a:latin typeface="Arial MT"/>
                <a:cs typeface="Arial MT"/>
              </a:rPr>
              <a:t>M</a:t>
            </a:r>
            <a:r>
              <a:rPr sz="2600" spc="-10" dirty="0">
                <a:latin typeface="Arial MT"/>
                <a:cs typeface="Arial MT"/>
              </a:rPr>
              <a:t>uTtip1y</a:t>
            </a:r>
            <a:endParaRPr sz="2600" dirty="0">
              <a:latin typeface="Arial MT"/>
              <a:cs typeface="Arial MT"/>
            </a:endParaRPr>
          </a:p>
          <a:p>
            <a:pPr marL="439420">
              <a:lnSpc>
                <a:spcPct val="100000"/>
              </a:lnSpc>
              <a:spcBef>
                <a:spcPts val="80"/>
              </a:spcBef>
            </a:pPr>
            <a:r>
              <a:rPr sz="2600" spc="-350" dirty="0">
                <a:latin typeface="Courier New"/>
                <a:cs typeface="Courier New"/>
              </a:rPr>
              <a:t>overlapping</a:t>
            </a:r>
            <a:r>
              <a:rPr sz="2600" spc="270" dirty="0">
                <a:latin typeface="Courier New"/>
                <a:cs typeface="Courier New"/>
              </a:rPr>
              <a:t> </a:t>
            </a:r>
            <a:r>
              <a:rPr sz="2600" spc="-335" dirty="0">
                <a:latin typeface="Courier New"/>
                <a:cs typeface="Courier New"/>
              </a:rPr>
              <a:t>pixel</a:t>
            </a:r>
            <a:r>
              <a:rPr sz="2600" spc="-240" dirty="0">
                <a:latin typeface="Courier New"/>
                <a:cs typeface="Courier New"/>
              </a:rPr>
              <a:t> </a:t>
            </a:r>
            <a:r>
              <a:rPr sz="2600" spc="-345" dirty="0">
                <a:latin typeface="Courier New"/>
                <a:cs typeface="Courier New"/>
              </a:rPr>
              <a:t>values</a:t>
            </a:r>
            <a:endParaRPr sz="2600" dirty="0">
              <a:latin typeface="Courier New"/>
              <a:cs typeface="Courier New"/>
            </a:endParaRPr>
          </a:p>
          <a:p>
            <a:pPr marL="441325">
              <a:lnSpc>
                <a:spcPct val="100000"/>
              </a:lnSpc>
              <a:spcBef>
                <a:spcPts val="30"/>
              </a:spcBef>
            </a:pPr>
            <a:r>
              <a:rPr sz="2700" spc="-395" dirty="0">
                <a:latin typeface="Courier New"/>
                <a:cs typeface="Courier New"/>
              </a:rPr>
              <a:t>with</a:t>
            </a:r>
            <a:r>
              <a:rPr sz="2700" spc="-330" dirty="0">
                <a:latin typeface="Courier New"/>
                <a:cs typeface="Courier New"/>
              </a:rPr>
              <a:t> </a:t>
            </a:r>
            <a:r>
              <a:rPr sz="2700" spc="-365" dirty="0">
                <a:latin typeface="Courier New"/>
                <a:cs typeface="Courier New"/>
              </a:rPr>
              <a:t>kernel</a:t>
            </a:r>
            <a:r>
              <a:rPr sz="2700" spc="-240" dirty="0">
                <a:latin typeface="Courier New"/>
                <a:cs typeface="Courier New"/>
              </a:rPr>
              <a:t> </a:t>
            </a:r>
            <a:r>
              <a:rPr sz="2700" spc="-425" dirty="0">
                <a:latin typeface="Courier New"/>
                <a:cs typeface="Courier New"/>
              </a:rPr>
              <a:t>values.</a:t>
            </a:r>
            <a:endParaRPr sz="2700" dirty="0">
              <a:latin typeface="Courier New"/>
              <a:cs typeface="Courier New"/>
            </a:endParaRPr>
          </a:p>
          <a:p>
            <a:pPr marL="447040" indent="-434340">
              <a:lnSpc>
                <a:spcPct val="100000"/>
              </a:lnSpc>
              <a:spcBef>
                <a:spcPts val="2310"/>
              </a:spcBef>
              <a:buAutoNum type="arabicPeriod" startAt="3"/>
              <a:tabLst>
                <a:tab pos="447040" algn="l"/>
              </a:tabLst>
            </a:pPr>
            <a:r>
              <a:rPr sz="2600" spc="-335" dirty="0">
                <a:latin typeface="Courier New"/>
                <a:cs typeface="Courier New"/>
              </a:rPr>
              <a:t>ADD:</a:t>
            </a:r>
            <a:r>
              <a:rPr sz="2600" spc="-310" dirty="0">
                <a:latin typeface="Courier New"/>
                <a:cs typeface="Courier New"/>
              </a:rPr>
              <a:t> </a:t>
            </a:r>
            <a:r>
              <a:rPr sz="2600" spc="-335" dirty="0">
                <a:latin typeface="Courier New"/>
                <a:cs typeface="Courier New"/>
              </a:rPr>
              <a:t>Sum</a:t>
            </a:r>
            <a:r>
              <a:rPr sz="2600" spc="-210" dirty="0">
                <a:latin typeface="Courier New"/>
                <a:cs typeface="Courier New"/>
              </a:rPr>
              <a:t> </a:t>
            </a:r>
            <a:r>
              <a:rPr sz="2600" spc="-335" dirty="0">
                <a:latin typeface="Courier New"/>
                <a:cs typeface="Courier New"/>
              </a:rPr>
              <a:t>the</a:t>
            </a:r>
            <a:r>
              <a:rPr sz="2600" spc="-190" dirty="0">
                <a:latin typeface="Courier New"/>
                <a:cs typeface="Courier New"/>
              </a:rPr>
              <a:t> </a:t>
            </a:r>
            <a:r>
              <a:rPr sz="2600" spc="-345" dirty="0">
                <a:latin typeface="Courier New"/>
                <a:cs typeface="Courier New"/>
              </a:rPr>
              <a:t>results.</a:t>
            </a:r>
            <a:endParaRPr sz="2600" dirty="0">
              <a:latin typeface="Courier New"/>
              <a:cs typeface="Courier New"/>
            </a:endParaRPr>
          </a:p>
          <a:p>
            <a:pPr marL="433070" indent="-393065">
              <a:lnSpc>
                <a:spcPts val="3220"/>
              </a:lnSpc>
              <a:spcBef>
                <a:spcPts val="2280"/>
              </a:spcBef>
              <a:buAutoNum type="arabicPeriod" startAt="3"/>
              <a:tabLst>
                <a:tab pos="433070" algn="l"/>
                <a:tab pos="1719580" algn="l"/>
                <a:tab pos="2695575" algn="l"/>
                <a:tab pos="3646804" algn="l"/>
              </a:tabLst>
            </a:pPr>
            <a:r>
              <a:rPr sz="2700" spc="-509" dirty="0">
                <a:latin typeface="Arial MT"/>
                <a:cs typeface="Arial MT"/>
              </a:rPr>
              <a:t>OUTPUT:</a:t>
            </a:r>
            <a:r>
              <a:rPr sz="2700" dirty="0">
                <a:latin typeface="Arial MT"/>
                <a:cs typeface="Arial MT"/>
              </a:rPr>
              <a:t>	</a:t>
            </a:r>
            <a:r>
              <a:rPr sz="2700" spc="-10" dirty="0">
                <a:latin typeface="Arial MT"/>
                <a:cs typeface="Arial MT"/>
              </a:rPr>
              <a:t>Place</a:t>
            </a:r>
            <a:r>
              <a:rPr sz="2700" dirty="0">
                <a:latin typeface="Arial MT"/>
                <a:cs typeface="Arial MT"/>
              </a:rPr>
              <a:t>	</a:t>
            </a:r>
            <a:r>
              <a:rPr sz="2700" spc="240" dirty="0">
                <a:latin typeface="Arial MT"/>
                <a:cs typeface="Arial MT"/>
              </a:rPr>
              <a:t>final</a:t>
            </a:r>
            <a:r>
              <a:rPr sz="2700" dirty="0">
                <a:latin typeface="Arial MT"/>
                <a:cs typeface="Arial MT"/>
              </a:rPr>
              <a:t>	</a:t>
            </a:r>
            <a:r>
              <a:rPr sz="2700" spc="-70" dirty="0">
                <a:latin typeface="Arial MT"/>
                <a:cs typeface="Arial MT"/>
              </a:rPr>
              <a:t>value</a:t>
            </a:r>
            <a:endParaRPr sz="2700" dirty="0">
              <a:latin typeface="Arial MT"/>
              <a:cs typeface="Arial MT"/>
            </a:endParaRPr>
          </a:p>
          <a:p>
            <a:pPr marL="434340">
              <a:lnSpc>
                <a:spcPts val="3220"/>
              </a:lnSpc>
            </a:pPr>
            <a:r>
              <a:rPr sz="2700" spc="-235" dirty="0">
                <a:latin typeface="Consolas"/>
                <a:cs typeface="Consolas"/>
              </a:rPr>
              <a:t>in</a:t>
            </a:r>
            <a:r>
              <a:rPr sz="2700" spc="-155" dirty="0">
                <a:latin typeface="Consolas"/>
                <a:cs typeface="Consolas"/>
              </a:rPr>
              <a:t> </a:t>
            </a:r>
            <a:r>
              <a:rPr sz="2700" spc="-260" dirty="0">
                <a:latin typeface="Consolas"/>
                <a:cs typeface="Consolas"/>
              </a:rPr>
              <a:t>the</a:t>
            </a:r>
            <a:r>
              <a:rPr sz="2700" spc="-200" dirty="0">
                <a:latin typeface="Consolas"/>
                <a:cs typeface="Consolas"/>
              </a:rPr>
              <a:t> </a:t>
            </a:r>
            <a:r>
              <a:rPr sz="2700" spc="-250" dirty="0">
                <a:latin typeface="Consolas"/>
                <a:cs typeface="Consolas"/>
              </a:rPr>
              <a:t>new</a:t>
            </a:r>
            <a:r>
              <a:rPr sz="2700" spc="-135" dirty="0">
                <a:latin typeface="Consolas"/>
                <a:cs typeface="Consolas"/>
              </a:rPr>
              <a:t> </a:t>
            </a:r>
            <a:r>
              <a:rPr sz="2700" spc="-260" dirty="0">
                <a:latin typeface="Consolas"/>
                <a:cs typeface="Consolas"/>
              </a:rPr>
              <a:t>image</a:t>
            </a:r>
            <a:r>
              <a:rPr sz="2700" spc="-90" dirty="0">
                <a:latin typeface="Consolas"/>
                <a:cs typeface="Consolas"/>
              </a:rPr>
              <a:t> </a:t>
            </a:r>
            <a:r>
              <a:rPr sz="2700" spc="-270" dirty="0">
                <a:latin typeface="Consolas"/>
                <a:cs typeface="Consolas"/>
              </a:rPr>
              <a:t>array.</a:t>
            </a:r>
            <a:endParaRPr sz="2700" dirty="0">
              <a:latin typeface="Consolas"/>
              <a:cs typeface="Consola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618091" y="6874933"/>
            <a:ext cx="4013200" cy="87630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130" marR="5080" indent="-12065">
              <a:lnSpc>
                <a:spcPts val="3200"/>
              </a:lnSpc>
              <a:spcBef>
                <a:spcPts val="455"/>
              </a:spcBef>
              <a:tabLst>
                <a:tab pos="977265" algn="l"/>
                <a:tab pos="1294765" algn="l"/>
                <a:tab pos="2263775" algn="l"/>
                <a:tab pos="2445385" algn="l"/>
                <a:tab pos="3682365" algn="l"/>
              </a:tabLst>
            </a:pPr>
            <a:r>
              <a:rPr sz="2900" spc="-310" dirty="0">
                <a:latin typeface="Calibri"/>
                <a:cs typeface="Calibri"/>
              </a:rPr>
              <a:t>NOTE:</a:t>
            </a:r>
            <a:r>
              <a:rPr sz="2900" dirty="0">
                <a:latin typeface="Calibri"/>
                <a:cs typeface="Calibri"/>
              </a:rPr>
              <a:t>	</a:t>
            </a:r>
            <a:r>
              <a:rPr sz="2900" spc="-10" dirty="0">
                <a:latin typeface="Calibri"/>
                <a:cs typeface="Calibri"/>
              </a:rPr>
              <a:t>Example</a:t>
            </a:r>
            <a:r>
              <a:rPr sz="2900" dirty="0">
                <a:latin typeface="Calibri"/>
                <a:cs typeface="Calibri"/>
              </a:rPr>
              <a:t>	</a:t>
            </a:r>
            <a:r>
              <a:rPr lang="en-IN" sz="2900" dirty="0">
                <a:latin typeface="Calibri"/>
                <a:cs typeface="Calibri"/>
              </a:rPr>
              <a:t> </a:t>
            </a:r>
            <a:r>
              <a:rPr sz="2900" spc="-135" dirty="0">
                <a:latin typeface="Calibri"/>
                <a:cs typeface="Calibri"/>
              </a:rPr>
              <a:t>shorn</a:t>
            </a:r>
            <a:r>
              <a:rPr sz="2900" spc="-310" dirty="0">
                <a:latin typeface="Calibri"/>
                <a:cs typeface="Calibri"/>
              </a:rPr>
              <a:t> </a:t>
            </a:r>
            <a:r>
              <a:rPr sz="2900" spc="-50" dirty="0">
                <a:latin typeface="Calibri"/>
                <a:cs typeface="Calibri"/>
              </a:rPr>
              <a:t>: </a:t>
            </a:r>
            <a:r>
              <a:rPr sz="2900" spc="-10" dirty="0">
                <a:latin typeface="Calibri"/>
                <a:cs typeface="Calibri"/>
              </a:rPr>
              <a:t>Average</a:t>
            </a:r>
            <a:r>
              <a:rPr sz="2900" dirty="0">
                <a:latin typeface="Calibri"/>
                <a:cs typeface="Calibri"/>
              </a:rPr>
              <a:t>	</a:t>
            </a:r>
            <a:r>
              <a:rPr sz="2900" spc="215" dirty="0">
                <a:latin typeface="Calibri"/>
                <a:cs typeface="Calibri"/>
              </a:rPr>
              <a:t>Filter</a:t>
            </a:r>
            <a:r>
              <a:rPr sz="2900" dirty="0">
                <a:latin typeface="Calibri"/>
                <a:cs typeface="Calibri"/>
              </a:rPr>
              <a:t>		</a:t>
            </a:r>
            <a:r>
              <a:rPr sz="2900" spc="130" dirty="0">
                <a:latin typeface="Calibri"/>
                <a:cs typeface="Calibri"/>
              </a:rPr>
              <a:t>(Blur).</a:t>
            </a:r>
            <a:r>
              <a:rPr sz="2900" dirty="0">
                <a:latin typeface="Calibri"/>
                <a:cs typeface="Calibri"/>
              </a:rPr>
              <a:t>	</a:t>
            </a:r>
            <a:r>
              <a:rPr sz="2900" spc="-220" dirty="0">
                <a:latin typeface="Calibri"/>
                <a:cs typeface="Calibri"/>
              </a:rPr>
              <a:t>By</a:t>
            </a:r>
            <a:endParaRPr sz="2900" dirty="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627436" y="7723010"/>
            <a:ext cx="1416685" cy="8178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-210" dirty="0">
                <a:latin typeface="Consolas"/>
                <a:cs typeface="Consolas"/>
              </a:rPr>
              <a:t>averaging</a:t>
            </a:r>
            <a:endParaRPr sz="2600">
              <a:latin typeface="Consolas"/>
              <a:cs typeface="Consolas"/>
            </a:endParaRPr>
          </a:p>
          <a:p>
            <a:pPr marL="13335">
              <a:lnSpc>
                <a:spcPct val="100000"/>
              </a:lnSpc>
              <a:spcBef>
                <a:spcPts val="80"/>
              </a:spcBef>
              <a:tabLst>
                <a:tab pos="977900" algn="l"/>
              </a:tabLst>
            </a:pPr>
            <a:r>
              <a:rPr sz="2500" spc="-10" dirty="0">
                <a:latin typeface="Arial MT"/>
                <a:cs typeface="Arial MT"/>
              </a:rPr>
              <a:t>inage</a:t>
            </a:r>
            <a:r>
              <a:rPr sz="2500" dirty="0">
                <a:latin typeface="Arial MT"/>
                <a:cs typeface="Arial MT"/>
              </a:rPr>
              <a:t>	</a:t>
            </a:r>
            <a:r>
              <a:rPr sz="2500" spc="-25" dirty="0">
                <a:latin typeface="Arial MT"/>
                <a:cs typeface="Arial MT"/>
              </a:rPr>
              <a:t>is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074533" y="7723010"/>
            <a:ext cx="2399030" cy="8178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135"/>
              </a:spcBef>
            </a:pPr>
            <a:r>
              <a:rPr sz="2600" spc="-185" dirty="0">
                <a:latin typeface="Consolas"/>
                <a:cs typeface="Consolas"/>
              </a:rPr>
              <a:t>neighbors,</a:t>
            </a:r>
            <a:r>
              <a:rPr sz="2600" spc="-125" dirty="0">
                <a:latin typeface="Consolas"/>
                <a:cs typeface="Consolas"/>
              </a:rPr>
              <a:t> </a:t>
            </a:r>
            <a:r>
              <a:rPr sz="2600" spc="-145" dirty="0">
                <a:latin typeface="Consolas"/>
                <a:cs typeface="Consolas"/>
              </a:rPr>
              <a:t>the</a:t>
            </a:r>
            <a:endParaRPr sz="2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2500" spc="-165" dirty="0">
                <a:latin typeface="Arial MT"/>
                <a:cs typeface="Arial MT"/>
              </a:rPr>
              <a:t>smoothed</a:t>
            </a:r>
            <a:r>
              <a:rPr sz="2500" spc="-140" dirty="0">
                <a:latin typeface="Arial MT"/>
                <a:cs typeface="Arial MT"/>
              </a:rPr>
              <a:t> </a:t>
            </a:r>
            <a:r>
              <a:rPr sz="2500" spc="-50" dirty="0">
                <a:latin typeface="Arial MT"/>
                <a:cs typeface="Arial MT"/>
              </a:rPr>
              <a:t>.</a:t>
            </a:r>
            <a:endParaRPr sz="2500">
              <a:latin typeface="Arial MT"/>
              <a:cs typeface="Arial MT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DD3E504-ED6C-54D2-33E7-3067A9932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022" y="2260458"/>
            <a:ext cx="8944178" cy="60453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77100" y="6832600"/>
            <a:ext cx="8153400" cy="2286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91200" y="4025900"/>
            <a:ext cx="2984500" cy="2133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53500" y="4470400"/>
            <a:ext cx="977900" cy="1270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712700" y="4927600"/>
            <a:ext cx="927100" cy="3302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843000" y="4203700"/>
            <a:ext cx="2933700" cy="17780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39745" y="1157463"/>
            <a:ext cx="9961245" cy="157289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7780" marR="5080" indent="-5715">
              <a:lnSpc>
                <a:spcPts val="5600"/>
              </a:lnSpc>
              <a:spcBef>
                <a:spcPts val="1105"/>
              </a:spcBef>
            </a:pPr>
            <a:r>
              <a:rPr sz="5450" spc="120" dirty="0">
                <a:solidFill>
                  <a:srgbClr val="1F1F1F"/>
                </a:solidFill>
                <a:latin typeface="Arial MT"/>
                <a:cs typeface="Arial MT"/>
              </a:rPr>
              <a:t>Filtering</a:t>
            </a:r>
            <a:r>
              <a:rPr sz="5450" spc="-38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5450" spc="55" dirty="0">
                <a:solidFill>
                  <a:srgbClr val="232323"/>
                </a:solidFill>
                <a:latin typeface="Arial MT"/>
                <a:cs typeface="Arial MT"/>
              </a:rPr>
              <a:t>Transforms</a:t>
            </a:r>
            <a:r>
              <a:rPr sz="5450" spc="-1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5450" dirty="0">
                <a:solidFill>
                  <a:srgbClr val="212121"/>
                </a:solidFill>
                <a:latin typeface="Arial MT"/>
                <a:cs typeface="Arial MT"/>
              </a:rPr>
              <a:t>Chaos</a:t>
            </a:r>
            <a:r>
              <a:rPr sz="5450" spc="-15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5450" spc="150" dirty="0">
                <a:solidFill>
                  <a:srgbClr val="232323"/>
                </a:solidFill>
                <a:latin typeface="Arial MT"/>
                <a:cs typeface="Arial MT"/>
              </a:rPr>
              <a:t>into </a:t>
            </a:r>
            <a:r>
              <a:rPr sz="5450" dirty="0">
                <a:solidFill>
                  <a:srgbClr val="1D1D1D"/>
                </a:solidFill>
                <a:latin typeface="Arial MT"/>
                <a:cs typeface="Arial MT"/>
              </a:rPr>
              <a:t>Manageable</a:t>
            </a:r>
            <a:r>
              <a:rPr sz="5450" spc="19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5450" spc="-10" dirty="0">
                <a:solidFill>
                  <a:srgbClr val="232323"/>
                </a:solidFill>
                <a:latin typeface="Arial MT"/>
                <a:cs typeface="Arial MT"/>
              </a:rPr>
              <a:t>Signals</a:t>
            </a:r>
            <a:endParaRPr sz="54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9553" y="3608211"/>
            <a:ext cx="3384550" cy="7816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2985"/>
              </a:lnSpc>
              <a:spcBef>
                <a:spcPts val="135"/>
              </a:spcBef>
              <a:tabLst>
                <a:tab pos="1602740" algn="l"/>
                <a:tab pos="3048000" algn="l"/>
              </a:tabLst>
            </a:pPr>
            <a:r>
              <a:rPr sz="2600" spc="260" dirty="0">
                <a:latin typeface="Calibri"/>
                <a:cs typeface="Calibri"/>
              </a:rPr>
              <a:t>Filtering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85" dirty="0">
                <a:latin typeface="Calibri"/>
                <a:cs typeface="Calibri"/>
              </a:rPr>
              <a:t>modifies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25" dirty="0">
                <a:latin typeface="Calibri"/>
                <a:cs typeface="Calibri"/>
              </a:rPr>
              <a:t>an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ts val="2925"/>
              </a:lnSpc>
              <a:tabLst>
                <a:tab pos="968375" algn="l"/>
                <a:tab pos="1462405" algn="l"/>
              </a:tabLst>
            </a:pPr>
            <a:r>
              <a:rPr sz="2550" spc="-10" dirty="0">
                <a:latin typeface="Calibri"/>
                <a:cs typeface="Calibri"/>
              </a:rPr>
              <a:t>1nage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-25" dirty="0">
                <a:latin typeface="Calibri"/>
                <a:cs typeface="Calibri"/>
              </a:rPr>
              <a:t>by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85" dirty="0">
                <a:latin typeface="Calibri"/>
                <a:cs typeface="Calibri"/>
              </a:rPr>
              <a:t>spec1f1cal1y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1384" y="4367388"/>
            <a:ext cx="3820160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612900" algn="l"/>
                <a:tab pos="2096770" algn="l"/>
              </a:tabLst>
            </a:pPr>
            <a:r>
              <a:rPr sz="2350" spc="40" dirty="0">
                <a:latin typeface="Calibri"/>
                <a:cs typeface="Calibri"/>
              </a:rPr>
              <a:t>enhanc1ng</a:t>
            </a:r>
            <a:r>
              <a:rPr sz="2350" dirty="0">
                <a:latin typeface="Calibri"/>
                <a:cs typeface="Calibri"/>
              </a:rPr>
              <a:t>	</a:t>
            </a:r>
            <a:r>
              <a:rPr sz="2350" spc="-25" dirty="0">
                <a:latin typeface="Calibri"/>
                <a:cs typeface="Calibri"/>
              </a:rPr>
              <a:t>or</a:t>
            </a:r>
            <a:r>
              <a:rPr sz="2350" dirty="0">
                <a:latin typeface="Calibri"/>
                <a:cs typeface="Calibri"/>
              </a:rPr>
              <a:t>	</a:t>
            </a:r>
            <a:r>
              <a:rPr sz="2350" spc="114" dirty="0">
                <a:latin typeface="Calibri"/>
                <a:cs typeface="Calibri"/>
              </a:rPr>
              <a:t>suppress1ng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5607" y="4718050"/>
            <a:ext cx="3626193" cy="15267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5080">
              <a:lnSpc>
                <a:spcPts val="2900"/>
              </a:lnSpc>
              <a:spcBef>
                <a:spcPts val="280"/>
              </a:spcBef>
              <a:tabLst>
                <a:tab pos="1308735" algn="l"/>
                <a:tab pos="2887980" algn="l"/>
                <a:tab pos="3376295" algn="l"/>
              </a:tabLst>
            </a:pPr>
            <a:r>
              <a:rPr sz="2500" spc="225" dirty="0">
                <a:latin typeface="Calibri"/>
                <a:cs typeface="Calibri"/>
              </a:rPr>
              <a:t>certain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150" dirty="0">
                <a:latin typeface="Calibri"/>
                <a:cs typeface="Calibri"/>
              </a:rPr>
              <a:t>features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spc="55" dirty="0">
                <a:latin typeface="Calibri"/>
                <a:cs typeface="Calibri"/>
              </a:rPr>
              <a:t>.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85" dirty="0">
                <a:latin typeface="Calibri"/>
                <a:cs typeface="Calibri"/>
              </a:rPr>
              <a:t>It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80" dirty="0">
                <a:latin typeface="Calibri"/>
                <a:cs typeface="Calibri"/>
              </a:rPr>
              <a:t>is </a:t>
            </a:r>
            <a:r>
              <a:rPr sz="2400" spc="-10" dirty="0">
                <a:latin typeface="Consolas"/>
                <a:cs typeface="Consolas"/>
              </a:rPr>
              <a:t>implemented </a:t>
            </a:r>
            <a:r>
              <a:rPr sz="2500" spc="-260" dirty="0">
                <a:latin typeface="Courier New"/>
                <a:cs typeface="Courier New"/>
              </a:rPr>
              <a:t>mathematically</a:t>
            </a:r>
            <a:r>
              <a:rPr sz="2500" spc="-114" dirty="0">
                <a:latin typeface="Courier New"/>
                <a:cs typeface="Courier New"/>
              </a:rPr>
              <a:t> </a:t>
            </a:r>
            <a:r>
              <a:rPr sz="2500" spc="-315" dirty="0">
                <a:latin typeface="Courier New"/>
                <a:cs typeface="Courier New"/>
              </a:rPr>
              <a:t>using </a:t>
            </a:r>
            <a:r>
              <a:rPr sz="2500" spc="-285" dirty="0">
                <a:latin typeface="Courier New"/>
                <a:cs typeface="Courier New"/>
              </a:rPr>
              <a:t>sonvolution.</a:t>
            </a:r>
            <a:endParaRPr sz="2500" dirty="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8922" y="6544380"/>
            <a:ext cx="2872740" cy="224917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79400" marR="436880" indent="-267335">
              <a:lnSpc>
                <a:spcPts val="2850"/>
              </a:lnSpc>
              <a:spcBef>
                <a:spcPts val="390"/>
              </a:spcBef>
              <a:buChar char="•"/>
              <a:tabLst>
                <a:tab pos="279400" algn="l"/>
                <a:tab pos="334645" algn="l"/>
              </a:tabLst>
            </a:pPr>
            <a:r>
              <a:rPr sz="2550" dirty="0">
                <a:solidFill>
                  <a:srgbClr val="131313"/>
                </a:solidFill>
                <a:latin typeface="Courier New"/>
                <a:cs typeface="Courier New"/>
              </a:rPr>
              <a:t>	</a:t>
            </a:r>
            <a:r>
              <a:rPr sz="2550" spc="-310" dirty="0">
                <a:latin typeface="Courier New"/>
                <a:cs typeface="Courier New"/>
              </a:rPr>
              <a:t>Remove</a:t>
            </a:r>
            <a:r>
              <a:rPr sz="2550" spc="-75" dirty="0">
                <a:latin typeface="Courier New"/>
                <a:cs typeface="Courier New"/>
              </a:rPr>
              <a:t> </a:t>
            </a:r>
            <a:r>
              <a:rPr sz="2550" spc="-355" dirty="0">
                <a:latin typeface="Courier New"/>
                <a:cs typeface="Courier New"/>
              </a:rPr>
              <a:t>Noise </a:t>
            </a:r>
            <a:r>
              <a:rPr sz="2550" spc="-295" dirty="0">
                <a:latin typeface="Courier New"/>
                <a:cs typeface="Courier New"/>
              </a:rPr>
              <a:t>(G</a:t>
            </a:r>
            <a:r>
              <a:rPr lang="en-IN" sz="2550" spc="-295" dirty="0" err="1">
                <a:latin typeface="Courier New"/>
                <a:cs typeface="Courier New"/>
              </a:rPr>
              <a:t>ra</a:t>
            </a:r>
            <a:r>
              <a:rPr sz="2550" spc="-295" dirty="0" err="1">
                <a:latin typeface="Courier New"/>
                <a:cs typeface="Courier New"/>
              </a:rPr>
              <a:t>iny</a:t>
            </a:r>
            <a:r>
              <a:rPr sz="2550" spc="90" dirty="0">
                <a:latin typeface="Courier New"/>
                <a:cs typeface="Courier New"/>
              </a:rPr>
              <a:t> </a:t>
            </a:r>
            <a:r>
              <a:rPr sz="2550" spc="-200" dirty="0">
                <a:latin typeface="Courier New"/>
                <a:cs typeface="Courier New"/>
              </a:rPr>
              <a:t>Data)</a:t>
            </a:r>
            <a:endParaRPr sz="2550" dirty="0">
              <a:latin typeface="Courier New"/>
              <a:cs typeface="Courier New"/>
            </a:endParaRPr>
          </a:p>
          <a:p>
            <a:pPr marL="321945" indent="-281305">
              <a:lnSpc>
                <a:spcPts val="2830"/>
              </a:lnSpc>
              <a:buClr>
                <a:srgbClr val="131313"/>
              </a:buClr>
              <a:buChar char="•"/>
              <a:tabLst>
                <a:tab pos="321945" algn="l"/>
                <a:tab pos="1606550" algn="l"/>
              </a:tabLst>
            </a:pPr>
            <a:r>
              <a:rPr sz="2500" spc="-10" dirty="0">
                <a:latin typeface="Calibri"/>
                <a:cs typeface="Calibri"/>
              </a:rPr>
              <a:t>Enhance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10" dirty="0">
                <a:latin typeface="Calibri"/>
                <a:cs typeface="Calibri"/>
              </a:rPr>
              <a:t>Edges</a:t>
            </a:r>
            <a:endParaRPr sz="2500" dirty="0">
              <a:latin typeface="Calibri"/>
              <a:cs typeface="Calibri"/>
            </a:endParaRPr>
          </a:p>
          <a:p>
            <a:pPr marL="355600">
              <a:lnSpc>
                <a:spcPts val="2840"/>
              </a:lnSpc>
            </a:pPr>
            <a:r>
              <a:rPr sz="2400" spc="90" dirty="0">
                <a:latin typeface="Calibri"/>
                <a:cs typeface="Calibri"/>
              </a:rPr>
              <a:t>(Boundar1es)</a:t>
            </a:r>
            <a:endParaRPr sz="2400" dirty="0">
              <a:latin typeface="Calibri"/>
              <a:cs typeface="Calibri"/>
            </a:endParaRPr>
          </a:p>
          <a:p>
            <a:pPr marL="339090" indent="-298450">
              <a:lnSpc>
                <a:spcPts val="2960"/>
              </a:lnSpc>
              <a:buClr>
                <a:srgbClr val="181818"/>
              </a:buClr>
              <a:buChar char="•"/>
              <a:tabLst>
                <a:tab pos="339090" algn="l"/>
                <a:tab pos="1441450" algn="l"/>
              </a:tabLst>
            </a:pPr>
            <a:r>
              <a:rPr sz="2500" spc="-10" dirty="0">
                <a:latin typeface="Calibri"/>
                <a:cs typeface="Calibri"/>
              </a:rPr>
              <a:t>Snooth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10" dirty="0">
                <a:latin typeface="Calibri"/>
                <a:cs typeface="Calibri"/>
              </a:rPr>
              <a:t>Images</a:t>
            </a:r>
            <a:endParaRPr sz="25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400" spc="220" dirty="0">
                <a:latin typeface="Calibri"/>
                <a:cs typeface="Calibri"/>
              </a:rPr>
              <a:t>(Pre-</a:t>
            </a:r>
            <a:r>
              <a:rPr sz="2400" spc="225" dirty="0">
                <a:latin typeface="Calibri"/>
                <a:cs typeface="Calibri"/>
              </a:rPr>
              <a:t>processing)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68068" y="6207830"/>
            <a:ext cx="1831975" cy="417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280" dirty="0">
                <a:latin typeface="Courier New"/>
                <a:cs typeface="Courier New"/>
              </a:rPr>
              <a:t>Noisy</a:t>
            </a:r>
            <a:r>
              <a:rPr sz="2550" spc="-185" dirty="0">
                <a:latin typeface="Courier New"/>
                <a:cs typeface="Courier New"/>
              </a:rPr>
              <a:t> </a:t>
            </a:r>
            <a:r>
              <a:rPr sz="2550" spc="-190" dirty="0">
                <a:latin typeface="Courier New"/>
                <a:cs typeface="Courier New"/>
              </a:rPr>
              <a:t>Input</a:t>
            </a:r>
            <a:endParaRPr sz="25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09442" y="7893050"/>
            <a:ext cx="128968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25" dirty="0">
                <a:latin typeface="Consolas"/>
                <a:cs typeface="Consolas"/>
              </a:rPr>
              <a:t>Raw</a:t>
            </a:r>
            <a:r>
              <a:rPr sz="2500" spc="-220" dirty="0">
                <a:latin typeface="Consolas"/>
                <a:cs typeface="Consolas"/>
              </a:rPr>
              <a:t> </a:t>
            </a:r>
            <a:r>
              <a:rPr sz="2500" spc="-110" dirty="0">
                <a:latin typeface="Consolas"/>
                <a:cs typeface="Consolas"/>
              </a:rPr>
              <a:t>Feed</a:t>
            </a:r>
            <a:endParaRPr sz="250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844616" y="4442883"/>
            <a:ext cx="2832100" cy="1371600"/>
          </a:xfrm>
          <a:prstGeom prst="rect">
            <a:avLst/>
          </a:prstGeom>
          <a:ln w="21166">
            <a:solidFill>
              <a:srgbClr val="0F4B83"/>
            </a:solidFill>
          </a:ln>
        </p:spPr>
        <p:txBody>
          <a:bodyPr vert="horz" wrap="square" lIns="0" tIns="243204" rIns="0" bIns="0" rtlCol="0">
            <a:spAutoFit/>
          </a:bodyPr>
          <a:lstStyle/>
          <a:p>
            <a:pPr marL="50800" algn="ctr">
              <a:lnSpc>
                <a:spcPts val="3005"/>
              </a:lnSpc>
              <a:spcBef>
                <a:spcPts val="1914"/>
              </a:spcBef>
            </a:pPr>
            <a:r>
              <a:rPr sz="2550" spc="-10" dirty="0">
                <a:latin typeface="Consolas"/>
                <a:cs typeface="Consolas"/>
              </a:rPr>
              <a:t>Filten</a:t>
            </a:r>
            <a:endParaRPr sz="2550">
              <a:latin typeface="Consolas"/>
              <a:cs typeface="Consolas"/>
            </a:endParaRPr>
          </a:p>
          <a:p>
            <a:pPr marL="24130" algn="ctr">
              <a:lnSpc>
                <a:spcPts val="2945"/>
              </a:lnSpc>
            </a:pPr>
            <a:r>
              <a:rPr sz="2500" spc="-75" dirty="0">
                <a:latin typeface="Consolas"/>
                <a:cs typeface="Consolas"/>
              </a:rPr>
              <a:t>(Convolution)</a:t>
            </a:r>
            <a:endParaRPr sz="2500">
              <a:latin typeface="Consolas"/>
              <a:cs typeface="Consola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310943" y="6207830"/>
            <a:ext cx="2012950" cy="417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90" dirty="0">
                <a:latin typeface="Consolas"/>
                <a:cs typeface="Consolas"/>
              </a:rPr>
              <a:t>Clean</a:t>
            </a:r>
            <a:r>
              <a:rPr sz="2550" spc="-250" dirty="0">
                <a:latin typeface="Consolas"/>
                <a:cs typeface="Consolas"/>
              </a:rPr>
              <a:t> </a:t>
            </a:r>
            <a:r>
              <a:rPr sz="2550" spc="-75" dirty="0">
                <a:latin typeface="Consolas"/>
                <a:cs typeface="Consolas"/>
              </a:rPr>
              <a:t>Signal</a:t>
            </a:r>
            <a:endParaRPr sz="255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950035" y="7884230"/>
            <a:ext cx="2098675" cy="417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155" dirty="0">
                <a:latin typeface="Consolas"/>
                <a:cs typeface="Consolas"/>
              </a:rPr>
              <a:t>Filtered</a:t>
            </a:r>
            <a:r>
              <a:rPr sz="2550" spc="-175" dirty="0">
                <a:latin typeface="Consolas"/>
                <a:cs typeface="Consolas"/>
              </a:rPr>
              <a:t> </a:t>
            </a:r>
            <a:r>
              <a:rPr sz="2550" spc="-110" dirty="0">
                <a:latin typeface="Consolas"/>
                <a:cs typeface="Consolas"/>
              </a:rPr>
              <a:t>Feed</a:t>
            </a:r>
            <a:endParaRPr sz="25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800" y="2578100"/>
            <a:ext cx="7073900" cy="4699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48800" y="2565400"/>
            <a:ext cx="7099300" cy="47244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22130" y="468488"/>
            <a:ext cx="12324715" cy="766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850" dirty="0"/>
              <a:t>The</a:t>
            </a:r>
            <a:r>
              <a:rPr sz="4850" spc="-254" dirty="0"/>
              <a:t> </a:t>
            </a:r>
            <a:r>
              <a:rPr sz="4850" spc="-25" dirty="0"/>
              <a:t>Toolkit:</a:t>
            </a:r>
            <a:r>
              <a:rPr sz="4850" spc="-280" dirty="0"/>
              <a:t> </a:t>
            </a:r>
            <a:r>
              <a:rPr sz="4850" dirty="0"/>
              <a:t>Low-Pass</a:t>
            </a:r>
            <a:r>
              <a:rPr sz="4850" spc="-10" dirty="0"/>
              <a:t> </a:t>
            </a:r>
            <a:r>
              <a:rPr sz="4850" dirty="0"/>
              <a:t>vs.</a:t>
            </a:r>
            <a:r>
              <a:rPr sz="4850" spc="-745" dirty="0"/>
              <a:t> </a:t>
            </a:r>
            <a:r>
              <a:rPr sz="4850" dirty="0"/>
              <a:t>High-Pass</a:t>
            </a:r>
            <a:r>
              <a:rPr sz="4850" spc="-90" dirty="0"/>
              <a:t> </a:t>
            </a:r>
            <a:r>
              <a:rPr sz="4850" spc="-10" dirty="0"/>
              <a:t>Filtering</a:t>
            </a:r>
            <a:endParaRPr sz="4850"/>
          </a:p>
        </p:txBody>
      </p:sp>
      <p:sp>
        <p:nvSpPr>
          <p:cNvPr id="5" name="object 5"/>
          <p:cNvSpPr txBox="1"/>
          <p:nvPr/>
        </p:nvSpPr>
        <p:spPr>
          <a:xfrm>
            <a:off x="855406" y="1776588"/>
            <a:ext cx="6496050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dirty="0">
                <a:latin typeface="Arial MT"/>
                <a:cs typeface="Arial MT"/>
              </a:rPr>
              <a:t>Low-Pass</a:t>
            </a:r>
            <a:r>
              <a:rPr sz="3600" spc="-4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Filter</a:t>
            </a:r>
            <a:r>
              <a:rPr sz="3600" spc="8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(Gaussian</a:t>
            </a:r>
            <a:r>
              <a:rPr sz="3600" spc="-30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Blur)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5423" y="7446433"/>
            <a:ext cx="6922770" cy="87630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6510" marR="5080" indent="-4445">
              <a:lnSpc>
                <a:spcPts val="3200"/>
              </a:lnSpc>
              <a:spcBef>
                <a:spcPts val="455"/>
              </a:spcBef>
            </a:pPr>
            <a:r>
              <a:rPr sz="2900" u="heavy" spc="-215" dirty="0">
                <a:uFill>
                  <a:solidFill>
                    <a:srgbClr val="2F6480"/>
                  </a:solidFill>
                </a:uFill>
                <a:latin typeface="Consolas"/>
                <a:cs typeface="Consolas"/>
              </a:rPr>
              <a:t>Function</a:t>
            </a:r>
            <a:r>
              <a:rPr sz="2900" spc="-215" dirty="0">
                <a:latin typeface="Consolas"/>
                <a:cs typeface="Consolas"/>
              </a:rPr>
              <a:t>:</a:t>
            </a:r>
            <a:r>
              <a:rPr sz="2900" spc="-90" dirty="0">
                <a:latin typeface="Consolas"/>
                <a:cs typeface="Consolas"/>
              </a:rPr>
              <a:t> </a:t>
            </a:r>
            <a:r>
              <a:rPr sz="2900" spc="-204" dirty="0">
                <a:latin typeface="Consolas"/>
                <a:cs typeface="Consolas"/>
              </a:rPr>
              <a:t>Removes</a:t>
            </a:r>
            <a:r>
              <a:rPr sz="2900" spc="-160" dirty="0">
                <a:latin typeface="Consolas"/>
                <a:cs typeface="Consolas"/>
              </a:rPr>
              <a:t> </a:t>
            </a:r>
            <a:r>
              <a:rPr sz="2900" spc="-265" dirty="0">
                <a:latin typeface="Consolas"/>
                <a:cs typeface="Consolas"/>
              </a:rPr>
              <a:t>noise,</a:t>
            </a:r>
            <a:r>
              <a:rPr sz="2900" spc="-20" dirty="0">
                <a:latin typeface="Consolas"/>
                <a:cs typeface="Consolas"/>
              </a:rPr>
              <a:t> </a:t>
            </a:r>
            <a:r>
              <a:rPr sz="2900" spc="-220" dirty="0">
                <a:latin typeface="Consolas"/>
                <a:cs typeface="Consolas"/>
              </a:rPr>
              <a:t>smooths</a:t>
            </a:r>
            <a:r>
              <a:rPr sz="2900" spc="-235" dirty="0">
                <a:latin typeface="Consolas"/>
                <a:cs typeface="Consolas"/>
              </a:rPr>
              <a:t> </a:t>
            </a:r>
            <a:r>
              <a:rPr sz="2900" spc="-195" dirty="0">
                <a:latin typeface="Consolas"/>
                <a:cs typeface="Consolas"/>
              </a:rPr>
              <a:t>image. </a:t>
            </a:r>
            <a:r>
              <a:rPr sz="2900" spc="-220" dirty="0">
                <a:latin typeface="Consolas"/>
                <a:cs typeface="Consolas"/>
              </a:rPr>
              <a:t>keeps</a:t>
            </a:r>
            <a:r>
              <a:rPr sz="2900" spc="-250" dirty="0">
                <a:latin typeface="Consolas"/>
                <a:cs typeface="Consolas"/>
              </a:rPr>
              <a:t> </a:t>
            </a:r>
            <a:r>
              <a:rPr sz="2900" spc="-245" dirty="0">
                <a:latin typeface="Consolas"/>
                <a:cs typeface="Consolas"/>
              </a:rPr>
              <a:t>low-</a:t>
            </a:r>
            <a:r>
              <a:rPr sz="2900" spc="-195" dirty="0">
                <a:latin typeface="Consolas"/>
                <a:cs typeface="Consolas"/>
              </a:rPr>
              <a:t>frequency</a:t>
            </a:r>
            <a:r>
              <a:rPr sz="2900" spc="-110" dirty="0">
                <a:latin typeface="Consolas"/>
                <a:cs typeface="Consolas"/>
              </a:rPr>
              <a:t> </a:t>
            </a:r>
            <a:r>
              <a:rPr sz="2900" spc="-30" dirty="0">
                <a:latin typeface="Consolas"/>
                <a:cs typeface="Consolas"/>
              </a:rPr>
              <a:t>data.</a:t>
            </a:r>
            <a:endParaRPr sz="29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74162" y="1765300"/>
            <a:ext cx="586105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50" spc="-25" dirty="0">
                <a:latin typeface="Arial MT"/>
                <a:cs typeface="Arial MT"/>
              </a:rPr>
              <a:t>High-</a:t>
            </a:r>
            <a:r>
              <a:rPr sz="3750" dirty="0">
                <a:latin typeface="Arial MT"/>
                <a:cs typeface="Arial MT"/>
              </a:rPr>
              <a:t>Pass</a:t>
            </a:r>
            <a:r>
              <a:rPr sz="3750" spc="-125" dirty="0">
                <a:latin typeface="Arial MT"/>
                <a:cs typeface="Arial MT"/>
              </a:rPr>
              <a:t> </a:t>
            </a:r>
            <a:r>
              <a:rPr sz="3750" dirty="0">
                <a:latin typeface="Arial MT"/>
                <a:cs typeface="Arial MT"/>
              </a:rPr>
              <a:t>Filter</a:t>
            </a:r>
            <a:r>
              <a:rPr sz="3750" spc="40" dirty="0">
                <a:latin typeface="Arial MT"/>
                <a:cs typeface="Arial MT"/>
              </a:rPr>
              <a:t> </a:t>
            </a:r>
            <a:r>
              <a:rPr sz="3750" spc="-10" dirty="0">
                <a:latin typeface="Arial MT"/>
                <a:cs typeface="Arial MT"/>
              </a:rPr>
              <a:t>(Laplacian)</a:t>
            </a:r>
            <a:endParaRPr sz="37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37123" y="7446433"/>
            <a:ext cx="7246620" cy="87630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0320" marR="5080" indent="-8255">
              <a:lnSpc>
                <a:spcPts val="3200"/>
              </a:lnSpc>
              <a:spcBef>
                <a:spcPts val="455"/>
              </a:spcBef>
            </a:pPr>
            <a:r>
              <a:rPr sz="2900" spc="-220" dirty="0">
                <a:latin typeface="Consolas"/>
                <a:cs typeface="Consolas"/>
              </a:rPr>
              <a:t>Function:</a:t>
            </a:r>
            <a:r>
              <a:rPr sz="2900" spc="-180" dirty="0">
                <a:latin typeface="Consolas"/>
                <a:cs typeface="Consolas"/>
              </a:rPr>
              <a:t> </a:t>
            </a:r>
            <a:r>
              <a:rPr sz="2900" spc="-204" dirty="0">
                <a:latin typeface="Consolas"/>
                <a:cs typeface="Consolas"/>
              </a:rPr>
              <a:t>Enhances</a:t>
            </a:r>
            <a:r>
              <a:rPr sz="2900" spc="-155" dirty="0">
                <a:latin typeface="Consolas"/>
                <a:cs typeface="Consolas"/>
              </a:rPr>
              <a:t> </a:t>
            </a:r>
            <a:r>
              <a:rPr sz="2900" spc="-240" dirty="0">
                <a:latin typeface="Consolas"/>
                <a:cs typeface="Consolas"/>
              </a:rPr>
              <a:t>edges,</a:t>
            </a:r>
            <a:r>
              <a:rPr sz="2900" spc="-160" dirty="0">
                <a:latin typeface="Consolas"/>
                <a:cs typeface="Consolas"/>
              </a:rPr>
              <a:t> </a:t>
            </a:r>
            <a:r>
              <a:rPr sz="2900" spc="-130" dirty="0">
                <a:latin typeface="Consolas"/>
                <a:cs typeface="Consolas"/>
              </a:rPr>
              <a:t>highlights </a:t>
            </a:r>
            <a:r>
              <a:rPr sz="2900" spc="-225" dirty="0">
                <a:latin typeface="Consolas"/>
                <a:cs typeface="Consolas"/>
              </a:rPr>
              <a:t>boundaries.</a:t>
            </a:r>
            <a:r>
              <a:rPr sz="2900" spc="10" dirty="0">
                <a:latin typeface="Consolas"/>
                <a:cs typeface="Consolas"/>
              </a:rPr>
              <a:t> </a:t>
            </a:r>
            <a:r>
              <a:rPr sz="2900" spc="-229" dirty="0">
                <a:latin typeface="Consolas"/>
                <a:cs typeface="Consolas"/>
              </a:rPr>
              <a:t>Heeps</a:t>
            </a:r>
            <a:r>
              <a:rPr sz="2900" spc="-170" dirty="0">
                <a:latin typeface="Consolas"/>
                <a:cs typeface="Consolas"/>
              </a:rPr>
              <a:t> </a:t>
            </a:r>
            <a:r>
              <a:rPr sz="2900" spc="-220" dirty="0">
                <a:latin typeface="Consolas"/>
                <a:cs typeface="Consolas"/>
              </a:rPr>
              <a:t>high-frequency</a:t>
            </a:r>
            <a:r>
              <a:rPr sz="2900" spc="-200" dirty="0">
                <a:latin typeface="Consolas"/>
                <a:cs typeface="Consolas"/>
              </a:rPr>
              <a:t> </a:t>
            </a:r>
            <a:r>
              <a:rPr sz="2900" spc="-229" dirty="0">
                <a:latin typeface="Consolas"/>
                <a:cs typeface="Consolas"/>
              </a:rPr>
              <a:t>changes.</a:t>
            </a:r>
            <a:endParaRPr sz="29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0881" y="8758414"/>
            <a:ext cx="13991590" cy="480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50" spc="-380" dirty="0">
                <a:latin typeface="Courier New"/>
                <a:cs typeface="Courier New"/>
              </a:rPr>
              <a:t>Crucial</a:t>
            </a:r>
            <a:r>
              <a:rPr sz="2950" spc="-500" dirty="0">
                <a:latin typeface="Courier New"/>
                <a:cs typeface="Courier New"/>
              </a:rPr>
              <a:t> </a:t>
            </a:r>
            <a:r>
              <a:rPr sz="2950" spc="-325" dirty="0">
                <a:latin typeface="Courier New"/>
                <a:cs typeface="Courier New"/>
              </a:rPr>
              <a:t>for</a:t>
            </a:r>
            <a:r>
              <a:rPr sz="2950" spc="-275" dirty="0">
                <a:latin typeface="Courier New"/>
                <a:cs typeface="Courier New"/>
              </a:rPr>
              <a:t> </a:t>
            </a:r>
            <a:r>
              <a:rPr sz="2950" spc="-415" dirty="0">
                <a:latin typeface="Courier New"/>
                <a:cs typeface="Courier New"/>
              </a:rPr>
              <a:t>Robotics:</a:t>
            </a:r>
            <a:r>
              <a:rPr sz="2950" spc="-30" dirty="0">
                <a:latin typeface="Courier New"/>
                <a:cs typeface="Courier New"/>
              </a:rPr>
              <a:t> </a:t>
            </a:r>
            <a:r>
              <a:rPr sz="2950" spc="-415" dirty="0">
                <a:latin typeface="Courier New"/>
                <a:cs typeface="Courier New"/>
              </a:rPr>
              <a:t>Low-pass</a:t>
            </a:r>
            <a:r>
              <a:rPr sz="2950" spc="-150" dirty="0">
                <a:latin typeface="Courier New"/>
                <a:cs typeface="Courier New"/>
              </a:rPr>
              <a:t> </a:t>
            </a:r>
            <a:r>
              <a:rPr sz="2950" spc="-395" dirty="0">
                <a:latin typeface="Courier New"/>
                <a:cs typeface="Courier New"/>
              </a:rPr>
              <a:t>cleans</a:t>
            </a:r>
            <a:r>
              <a:rPr sz="2950" spc="-300" dirty="0">
                <a:latin typeface="Courier New"/>
                <a:cs typeface="Courier New"/>
              </a:rPr>
              <a:t> </a:t>
            </a:r>
            <a:r>
              <a:rPr sz="2950" spc="-345" dirty="0">
                <a:latin typeface="Courier New"/>
                <a:cs typeface="Courier New"/>
              </a:rPr>
              <a:t>the</a:t>
            </a:r>
            <a:r>
              <a:rPr sz="2950" spc="-285" dirty="0">
                <a:latin typeface="Courier New"/>
                <a:cs typeface="Courier New"/>
              </a:rPr>
              <a:t> </a:t>
            </a:r>
            <a:r>
              <a:rPr sz="2950" spc="-415" dirty="0">
                <a:latin typeface="Courier New"/>
                <a:cs typeface="Courier New"/>
              </a:rPr>
              <a:t>view;</a:t>
            </a:r>
            <a:r>
              <a:rPr sz="2950" spc="-220" dirty="0">
                <a:latin typeface="Courier New"/>
                <a:cs typeface="Courier New"/>
              </a:rPr>
              <a:t> </a:t>
            </a:r>
            <a:r>
              <a:rPr sz="2950" spc="-400" dirty="0">
                <a:latin typeface="Courier New"/>
                <a:cs typeface="Courier New"/>
              </a:rPr>
              <a:t>High-</a:t>
            </a:r>
            <a:r>
              <a:rPr sz="2950" spc="-395" dirty="0">
                <a:latin typeface="Courier New"/>
                <a:cs typeface="Courier New"/>
              </a:rPr>
              <a:t>pass</a:t>
            </a:r>
            <a:r>
              <a:rPr sz="2950" spc="-400" dirty="0">
                <a:latin typeface="Courier New"/>
                <a:cs typeface="Courier New"/>
              </a:rPr>
              <a:t> </a:t>
            </a:r>
            <a:r>
              <a:rPr sz="2950" spc="-345" dirty="0">
                <a:latin typeface="Courier New"/>
                <a:cs typeface="Courier New"/>
              </a:rPr>
              <a:t>finds</a:t>
            </a:r>
            <a:r>
              <a:rPr sz="2950" spc="-415" dirty="0">
                <a:latin typeface="Courier New"/>
                <a:cs typeface="Courier New"/>
              </a:rPr>
              <a:t> </a:t>
            </a:r>
            <a:r>
              <a:rPr sz="2950" spc="-380" dirty="0">
                <a:latin typeface="Courier New"/>
                <a:cs typeface="Courier New"/>
              </a:rPr>
              <a:t>the</a:t>
            </a:r>
            <a:r>
              <a:rPr sz="2950" spc="-300" dirty="0">
                <a:latin typeface="Courier New"/>
                <a:cs typeface="Courier New"/>
              </a:rPr>
              <a:t> </a:t>
            </a:r>
            <a:r>
              <a:rPr sz="2950" spc="-425" dirty="0">
                <a:latin typeface="Courier New"/>
                <a:cs typeface="Courier New"/>
              </a:rPr>
              <a:t>obstacles.</a:t>
            </a:r>
            <a:endParaRPr sz="2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200" y="3898900"/>
            <a:ext cx="6388100" cy="3733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75900" y="3898900"/>
            <a:ext cx="6388100" cy="37338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77376" y="539749"/>
            <a:ext cx="1485900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75" dirty="0">
                <a:solidFill>
                  <a:srgbClr val="1F1F1F"/>
                </a:solidFill>
              </a:rPr>
              <a:t>Image</a:t>
            </a:r>
            <a:r>
              <a:rPr sz="5000" spc="-220" dirty="0">
                <a:solidFill>
                  <a:srgbClr val="1F1F1F"/>
                </a:solidFill>
              </a:rPr>
              <a:t> </a:t>
            </a:r>
            <a:r>
              <a:rPr sz="5000" spc="75" dirty="0">
                <a:solidFill>
                  <a:srgbClr val="1C1C1C"/>
                </a:solidFill>
              </a:rPr>
              <a:t>Enhancement:</a:t>
            </a:r>
            <a:r>
              <a:rPr sz="5000" spc="315" dirty="0">
                <a:solidFill>
                  <a:srgbClr val="1C1C1C"/>
                </a:solidFill>
              </a:rPr>
              <a:t> </a:t>
            </a:r>
            <a:r>
              <a:rPr sz="5000" spc="160" dirty="0">
                <a:solidFill>
                  <a:srgbClr val="1C1C1C"/>
                </a:solidFill>
              </a:rPr>
              <a:t>Optimizing</a:t>
            </a:r>
            <a:r>
              <a:rPr sz="5000" spc="-45" dirty="0">
                <a:solidFill>
                  <a:srgbClr val="1C1C1C"/>
                </a:solidFill>
              </a:rPr>
              <a:t> </a:t>
            </a:r>
            <a:r>
              <a:rPr sz="5000" spc="170" dirty="0">
                <a:solidFill>
                  <a:srgbClr val="1D1D1D"/>
                </a:solidFill>
              </a:rPr>
              <a:t>for</a:t>
            </a:r>
            <a:r>
              <a:rPr sz="5000" spc="-260" dirty="0">
                <a:solidFill>
                  <a:srgbClr val="1D1D1D"/>
                </a:solidFill>
              </a:rPr>
              <a:t> </a:t>
            </a:r>
            <a:r>
              <a:rPr sz="5000" spc="195" dirty="0">
                <a:solidFill>
                  <a:srgbClr val="1D1D1D"/>
                </a:solidFill>
              </a:rPr>
              <a:t>Interpretation</a:t>
            </a:r>
            <a:endParaRPr sz="5000"/>
          </a:p>
        </p:txBody>
      </p:sp>
      <p:sp>
        <p:nvSpPr>
          <p:cNvPr id="5" name="object 5"/>
          <p:cNvSpPr txBox="1"/>
          <p:nvPr/>
        </p:nvSpPr>
        <p:spPr>
          <a:xfrm>
            <a:off x="695236" y="1751188"/>
            <a:ext cx="15222219" cy="1640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4235"/>
              </a:lnSpc>
              <a:spcBef>
                <a:spcPts val="110"/>
              </a:spcBef>
            </a:pPr>
            <a:r>
              <a:rPr sz="3600" spc="-330" dirty="0">
                <a:latin typeface="Courier New"/>
                <a:cs typeface="Courier New"/>
              </a:rPr>
              <a:t>Goal:</a:t>
            </a:r>
            <a:r>
              <a:rPr sz="3600" spc="-240" dirty="0">
                <a:latin typeface="Courier New"/>
                <a:cs typeface="Courier New"/>
              </a:rPr>
              <a:t> </a:t>
            </a:r>
            <a:r>
              <a:rPr sz="3600" spc="-330" dirty="0">
                <a:latin typeface="Courier New"/>
                <a:cs typeface="Courier New"/>
              </a:rPr>
              <a:t>Improving</a:t>
            </a:r>
            <a:r>
              <a:rPr sz="3600" spc="175" dirty="0">
                <a:latin typeface="Courier New"/>
                <a:cs typeface="Courier New"/>
              </a:rPr>
              <a:t> </a:t>
            </a:r>
            <a:r>
              <a:rPr sz="3600" spc="-330" dirty="0">
                <a:latin typeface="Courier New"/>
                <a:cs typeface="Courier New"/>
              </a:rPr>
              <a:t>visual</a:t>
            </a:r>
            <a:r>
              <a:rPr sz="3600" spc="-120" dirty="0">
                <a:latin typeface="Courier New"/>
                <a:cs typeface="Courier New"/>
              </a:rPr>
              <a:t> </a:t>
            </a:r>
            <a:r>
              <a:rPr sz="3600" spc="-355" dirty="0">
                <a:latin typeface="Courier New"/>
                <a:cs typeface="Courier New"/>
              </a:rPr>
              <a:t>quality</a:t>
            </a:r>
            <a:r>
              <a:rPr sz="3600" spc="-140" dirty="0">
                <a:latin typeface="Courier New"/>
                <a:cs typeface="Courier New"/>
              </a:rPr>
              <a:t> </a:t>
            </a:r>
            <a:r>
              <a:rPr sz="3600" spc="-265" dirty="0">
                <a:latin typeface="Courier New"/>
                <a:cs typeface="Courier New"/>
              </a:rPr>
              <a:t>for</a:t>
            </a:r>
            <a:r>
              <a:rPr sz="3600" spc="30" dirty="0">
                <a:latin typeface="Courier New"/>
                <a:cs typeface="Courier New"/>
              </a:rPr>
              <a:t> </a:t>
            </a:r>
            <a:r>
              <a:rPr sz="3600" spc="-375" dirty="0">
                <a:latin typeface="Courier New"/>
                <a:cs typeface="Courier New"/>
              </a:rPr>
              <a:t>better</a:t>
            </a:r>
            <a:r>
              <a:rPr sz="3600" spc="-90" dirty="0">
                <a:latin typeface="Courier New"/>
                <a:cs typeface="Courier New"/>
              </a:rPr>
              <a:t> </a:t>
            </a:r>
            <a:r>
              <a:rPr sz="3600" spc="-300" dirty="0">
                <a:latin typeface="Courier New"/>
                <a:cs typeface="Courier New"/>
              </a:rPr>
              <a:t>interpretation.</a:t>
            </a:r>
            <a:endParaRPr sz="3600">
              <a:latin typeface="Courier New"/>
              <a:cs typeface="Courier New"/>
            </a:endParaRPr>
          </a:p>
          <a:p>
            <a:pPr marL="22225">
              <a:lnSpc>
                <a:spcPts val="4100"/>
              </a:lnSpc>
            </a:pPr>
            <a:r>
              <a:rPr sz="3600" spc="-375" dirty="0">
                <a:latin typeface="Courier New"/>
                <a:cs typeface="Courier New"/>
              </a:rPr>
              <a:t>hey</a:t>
            </a:r>
            <a:r>
              <a:rPr sz="3600" spc="-120" dirty="0">
                <a:latin typeface="Courier New"/>
                <a:cs typeface="Courier New"/>
              </a:rPr>
              <a:t> </a:t>
            </a:r>
            <a:r>
              <a:rPr sz="3600" spc="-310" dirty="0">
                <a:latin typeface="Courier New"/>
                <a:cs typeface="Courier New"/>
              </a:rPr>
              <a:t>Characteristic:</a:t>
            </a:r>
            <a:r>
              <a:rPr sz="3600" spc="-305" dirty="0">
                <a:latin typeface="Courier New"/>
                <a:cs typeface="Courier New"/>
              </a:rPr>
              <a:t> </a:t>
            </a:r>
            <a:r>
              <a:rPr sz="3600" spc="-330" dirty="0">
                <a:latin typeface="Courier New"/>
                <a:cs typeface="Courier New"/>
              </a:rPr>
              <a:t>Subjective.</a:t>
            </a:r>
            <a:r>
              <a:rPr sz="3600" spc="140" dirty="0">
                <a:latin typeface="Courier New"/>
                <a:cs typeface="Courier New"/>
              </a:rPr>
              <a:t> </a:t>
            </a:r>
            <a:r>
              <a:rPr sz="3600" spc="-330" dirty="0">
                <a:latin typeface="Courier New"/>
                <a:cs typeface="Courier New"/>
              </a:rPr>
              <a:t>Depends</a:t>
            </a:r>
            <a:r>
              <a:rPr sz="3600" spc="-15" dirty="0">
                <a:latin typeface="Courier New"/>
                <a:cs typeface="Courier New"/>
              </a:rPr>
              <a:t> </a:t>
            </a:r>
            <a:r>
              <a:rPr sz="3600" spc="-375" dirty="0">
                <a:latin typeface="Courier New"/>
                <a:cs typeface="Courier New"/>
              </a:rPr>
              <a:t>on</a:t>
            </a:r>
            <a:r>
              <a:rPr sz="3600" spc="-40" dirty="0">
                <a:latin typeface="Courier New"/>
                <a:cs typeface="Courier New"/>
              </a:rPr>
              <a:t> </a:t>
            </a:r>
            <a:r>
              <a:rPr sz="3600" spc="-375" dirty="0">
                <a:latin typeface="Courier New"/>
                <a:cs typeface="Courier New"/>
              </a:rPr>
              <a:t>human</a:t>
            </a:r>
            <a:r>
              <a:rPr sz="3600" spc="55" dirty="0">
                <a:latin typeface="Courier New"/>
                <a:cs typeface="Courier New"/>
              </a:rPr>
              <a:t> </a:t>
            </a:r>
            <a:r>
              <a:rPr sz="3600" spc="-375" dirty="0">
                <a:latin typeface="Courier New"/>
                <a:cs typeface="Courier New"/>
              </a:rPr>
              <a:t>or</a:t>
            </a:r>
            <a:r>
              <a:rPr sz="3600" spc="-95" dirty="0">
                <a:latin typeface="Courier New"/>
                <a:cs typeface="Courier New"/>
              </a:rPr>
              <a:t> </a:t>
            </a:r>
            <a:r>
              <a:rPr sz="3600" spc="-350" dirty="0">
                <a:latin typeface="Courier New"/>
                <a:cs typeface="Courier New"/>
              </a:rPr>
              <a:t>robot</a:t>
            </a:r>
            <a:r>
              <a:rPr sz="3600" spc="65" dirty="0">
                <a:latin typeface="Courier New"/>
                <a:cs typeface="Courier New"/>
              </a:rPr>
              <a:t> </a:t>
            </a:r>
            <a:r>
              <a:rPr sz="3600" spc="-365" dirty="0">
                <a:latin typeface="Courier New"/>
                <a:cs typeface="Courier New"/>
              </a:rPr>
              <a:t>needs,</a:t>
            </a:r>
            <a:endParaRPr sz="3600">
              <a:latin typeface="Courier New"/>
              <a:cs typeface="Courier New"/>
            </a:endParaRPr>
          </a:p>
          <a:p>
            <a:pPr marL="18415">
              <a:lnSpc>
                <a:spcPts val="4365"/>
              </a:lnSpc>
              <a:tabLst>
                <a:tab pos="972185" algn="l"/>
                <a:tab pos="1463675" algn="l"/>
                <a:tab pos="3119120" algn="l"/>
              </a:tabLst>
            </a:pPr>
            <a:r>
              <a:rPr sz="3750" spc="40" dirty="0">
                <a:latin typeface="Calibri"/>
                <a:cs typeface="Calibri"/>
              </a:rPr>
              <a:t>not</a:t>
            </a:r>
            <a:r>
              <a:rPr sz="3750" dirty="0">
                <a:latin typeface="Calibri"/>
                <a:cs typeface="Calibri"/>
              </a:rPr>
              <a:t>	</a:t>
            </a:r>
            <a:r>
              <a:rPr sz="3750" spc="-50" dirty="0">
                <a:latin typeface="Calibri"/>
                <a:cs typeface="Calibri"/>
              </a:rPr>
              <a:t>a</a:t>
            </a:r>
            <a:r>
              <a:rPr sz="3750" dirty="0">
                <a:latin typeface="Calibri"/>
                <a:cs typeface="Calibri"/>
              </a:rPr>
              <a:t>	</a:t>
            </a:r>
            <a:r>
              <a:rPr sz="3750" spc="-10" dirty="0">
                <a:latin typeface="Calibri"/>
                <a:cs typeface="Calibri"/>
              </a:rPr>
              <a:t>ground</a:t>
            </a:r>
            <a:r>
              <a:rPr sz="3750" dirty="0">
                <a:latin typeface="Calibri"/>
                <a:cs typeface="Calibri"/>
              </a:rPr>
              <a:t>	</a:t>
            </a:r>
            <a:r>
              <a:rPr sz="3750" spc="275" dirty="0">
                <a:latin typeface="Calibri"/>
                <a:cs typeface="Calibri"/>
              </a:rPr>
              <a:t>truth</a:t>
            </a:r>
            <a:r>
              <a:rPr sz="3750" spc="-395" dirty="0">
                <a:latin typeface="Calibri"/>
                <a:cs typeface="Calibri"/>
              </a:rPr>
              <a:t> </a:t>
            </a:r>
            <a:r>
              <a:rPr sz="3750" spc="120" dirty="0">
                <a:solidFill>
                  <a:srgbClr val="161616"/>
                </a:solidFill>
                <a:latin typeface="Calibri"/>
                <a:cs typeface="Calibri"/>
              </a:rPr>
              <a:t>.</a:t>
            </a:r>
            <a:endParaRPr sz="37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0634" y="7708900"/>
            <a:ext cx="530034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0265" algn="l"/>
                <a:tab pos="1522730" algn="l"/>
                <a:tab pos="3028315" algn="l"/>
                <a:tab pos="4173854" algn="l"/>
              </a:tabLst>
            </a:pPr>
            <a:r>
              <a:rPr sz="2500" spc="-20" dirty="0">
                <a:latin typeface="Calibri"/>
                <a:cs typeface="Calibri"/>
              </a:rPr>
              <a:t>Raw,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25" dirty="0">
                <a:latin typeface="Calibri"/>
                <a:cs typeface="Calibri"/>
              </a:rPr>
              <a:t>Low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155" dirty="0">
                <a:latin typeface="Calibri"/>
                <a:cs typeface="Calibri"/>
              </a:rPr>
              <a:t>Contrast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65" dirty="0">
                <a:latin typeface="Calibri"/>
                <a:cs typeface="Calibri"/>
              </a:rPr>
              <a:t>(N1ght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145" dirty="0">
                <a:latin typeface="Calibri"/>
                <a:cs typeface="Calibri"/>
              </a:rPr>
              <a:t>V1sion)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32790" y="4795661"/>
            <a:ext cx="2004695" cy="187261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26670" algn="ctr">
              <a:lnSpc>
                <a:spcPts val="3085"/>
              </a:lnSpc>
              <a:spcBef>
                <a:spcPts val="135"/>
              </a:spcBef>
            </a:pPr>
            <a:r>
              <a:rPr sz="2600" spc="-50" dirty="0">
                <a:latin typeface="Consolas"/>
                <a:cs typeface="Consolas"/>
              </a:rPr>
              <a:t>Brightness</a:t>
            </a:r>
            <a:endParaRPr sz="2600">
              <a:latin typeface="Consolas"/>
              <a:cs typeface="Consolas"/>
            </a:endParaRPr>
          </a:p>
          <a:p>
            <a:pPr algn="ctr">
              <a:lnSpc>
                <a:spcPts val="2845"/>
              </a:lnSpc>
            </a:pPr>
            <a:r>
              <a:rPr sz="2400" spc="-10" dirty="0">
                <a:latin typeface="Consolas"/>
                <a:cs typeface="Consolas"/>
              </a:rPr>
              <a:t>Adjustment</a:t>
            </a:r>
            <a:r>
              <a:rPr sz="2400" spc="-305" dirty="0">
                <a:latin typeface="Consolas"/>
                <a:cs typeface="Consolas"/>
              </a:rPr>
              <a:t> </a:t>
            </a:r>
            <a:r>
              <a:rPr sz="2400" spc="-50" dirty="0">
                <a:latin typeface="Consolas"/>
                <a:cs typeface="Consolas"/>
              </a:rPr>
              <a:t>+</a:t>
            </a:r>
            <a:endParaRPr sz="2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2400">
              <a:latin typeface="Consolas"/>
              <a:cs typeface="Consolas"/>
            </a:endParaRPr>
          </a:p>
          <a:p>
            <a:pPr marL="179705" marR="194945" indent="-4445" algn="ctr">
              <a:lnSpc>
                <a:spcPts val="2800"/>
              </a:lnSpc>
            </a:pPr>
            <a:r>
              <a:rPr sz="2750" spc="55" dirty="0">
                <a:latin typeface="Calibri"/>
                <a:cs typeface="Calibri"/>
              </a:rPr>
              <a:t>Contrast </a:t>
            </a:r>
            <a:r>
              <a:rPr sz="2750" spc="-10" dirty="0">
                <a:latin typeface="Calibri"/>
                <a:cs typeface="Calibri"/>
              </a:rPr>
              <a:t>Stretch1ng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653705" y="7717719"/>
            <a:ext cx="3811270" cy="396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dirty="0">
                <a:latin typeface="Consolas"/>
                <a:cs typeface="Consolas"/>
              </a:rPr>
              <a:t>Enhanced</a:t>
            </a:r>
            <a:r>
              <a:rPr sz="2400" spc="-130" dirty="0">
                <a:latin typeface="Consolas"/>
                <a:cs typeface="Consolas"/>
              </a:rPr>
              <a:t> </a:t>
            </a:r>
            <a:r>
              <a:rPr sz="2400" dirty="0">
                <a:latin typeface="Consolas"/>
                <a:cs typeface="Consolas"/>
              </a:rPr>
              <a:t>for</a:t>
            </a:r>
            <a:r>
              <a:rPr sz="2400" spc="-245" dirty="0">
                <a:latin typeface="Consolas"/>
                <a:cs typeface="Consolas"/>
              </a:rPr>
              <a:t> </a:t>
            </a:r>
            <a:r>
              <a:rPr sz="2400" spc="-30" dirty="0">
                <a:latin typeface="Consolas"/>
                <a:cs typeface="Consolas"/>
              </a:rPr>
              <a:t>Navigation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0827" y="8287455"/>
            <a:ext cx="14735810" cy="960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940">
              <a:lnSpc>
                <a:spcPts val="3620"/>
              </a:lnSpc>
              <a:spcBef>
                <a:spcPts val="95"/>
              </a:spcBef>
            </a:pPr>
            <a:r>
              <a:rPr sz="3200" spc="-335" dirty="0">
                <a:latin typeface="Courier New"/>
                <a:cs typeface="Courier New"/>
              </a:rPr>
              <a:t>Robotic</a:t>
            </a:r>
            <a:r>
              <a:rPr sz="3200" spc="40" dirty="0">
                <a:latin typeface="Courier New"/>
                <a:cs typeface="Courier New"/>
              </a:rPr>
              <a:t> </a:t>
            </a:r>
            <a:r>
              <a:rPr sz="3200" spc="-315" dirty="0">
                <a:latin typeface="Courier New"/>
                <a:cs typeface="Courier New"/>
              </a:rPr>
              <a:t>Application:</a:t>
            </a:r>
            <a:r>
              <a:rPr sz="3200" spc="-80" dirty="0">
                <a:latin typeface="Courier New"/>
                <a:cs typeface="Courier New"/>
              </a:rPr>
              <a:t> </a:t>
            </a:r>
            <a:r>
              <a:rPr sz="3200" spc="-335" dirty="0">
                <a:latin typeface="Courier New"/>
                <a:cs typeface="Courier New"/>
              </a:rPr>
              <a:t>Increasing</a:t>
            </a:r>
            <a:r>
              <a:rPr sz="3200" spc="495" dirty="0">
                <a:latin typeface="Courier New"/>
                <a:cs typeface="Courier New"/>
              </a:rPr>
              <a:t> </a:t>
            </a:r>
            <a:r>
              <a:rPr sz="3200" spc="-335" dirty="0">
                <a:latin typeface="Courier New"/>
                <a:cs typeface="Courier New"/>
              </a:rPr>
              <a:t>brightness</a:t>
            </a:r>
            <a:r>
              <a:rPr sz="3200" spc="-30" dirty="0">
                <a:latin typeface="Courier New"/>
                <a:cs typeface="Courier New"/>
              </a:rPr>
              <a:t> </a:t>
            </a:r>
            <a:r>
              <a:rPr sz="3200" spc="-330" dirty="0">
                <a:latin typeface="Courier New"/>
                <a:cs typeface="Courier New"/>
              </a:rPr>
              <a:t>in</a:t>
            </a:r>
            <a:r>
              <a:rPr sz="3200" spc="-20" dirty="0">
                <a:latin typeface="Courier New"/>
                <a:cs typeface="Courier New"/>
              </a:rPr>
              <a:t> </a:t>
            </a:r>
            <a:r>
              <a:rPr sz="3200" spc="-355" dirty="0">
                <a:latin typeface="Courier New"/>
                <a:cs typeface="Courier New"/>
              </a:rPr>
              <a:t>dark</a:t>
            </a:r>
            <a:r>
              <a:rPr sz="3200" spc="-70" dirty="0">
                <a:latin typeface="Courier New"/>
                <a:cs typeface="Courier New"/>
              </a:rPr>
              <a:t> </a:t>
            </a:r>
            <a:r>
              <a:rPr sz="3200" spc="-315" dirty="0">
                <a:latin typeface="Courier New"/>
                <a:cs typeface="Courier New"/>
              </a:rPr>
              <a:t>environments</a:t>
            </a:r>
            <a:r>
              <a:rPr sz="3200" spc="25" dirty="0">
                <a:latin typeface="Courier New"/>
                <a:cs typeface="Courier New"/>
              </a:rPr>
              <a:t> </a:t>
            </a:r>
            <a:r>
              <a:rPr sz="3200" spc="-305" dirty="0">
                <a:latin typeface="Courier New"/>
                <a:cs typeface="Courier New"/>
              </a:rPr>
              <a:t>allows</a:t>
            </a:r>
            <a:endParaRPr sz="3200">
              <a:latin typeface="Courier New"/>
              <a:cs typeface="Courier New"/>
            </a:endParaRPr>
          </a:p>
          <a:p>
            <a:pPr marL="12700">
              <a:lnSpc>
                <a:spcPts val="3740"/>
              </a:lnSpc>
            </a:pPr>
            <a:r>
              <a:rPr sz="3300" spc="-165" dirty="0">
                <a:latin typeface="Consolas"/>
                <a:cs typeface="Consolas"/>
              </a:rPr>
              <a:t>navigation</a:t>
            </a:r>
            <a:r>
              <a:rPr sz="3300" spc="-200" dirty="0">
                <a:latin typeface="Consolas"/>
                <a:cs typeface="Consolas"/>
              </a:rPr>
              <a:t> </a:t>
            </a:r>
            <a:r>
              <a:rPr sz="3300" spc="-160" dirty="0">
                <a:latin typeface="Consolas"/>
                <a:cs typeface="Consolas"/>
              </a:rPr>
              <a:t>algorithms</a:t>
            </a:r>
            <a:r>
              <a:rPr sz="3300" spc="-75" dirty="0">
                <a:latin typeface="Consolas"/>
                <a:cs typeface="Consolas"/>
              </a:rPr>
              <a:t> </a:t>
            </a:r>
            <a:r>
              <a:rPr sz="3300" spc="-260" dirty="0">
                <a:latin typeface="Consolas"/>
                <a:cs typeface="Consolas"/>
              </a:rPr>
              <a:t>to</a:t>
            </a:r>
            <a:r>
              <a:rPr sz="3300" spc="-190" dirty="0">
                <a:latin typeface="Consolas"/>
                <a:cs typeface="Consolas"/>
              </a:rPr>
              <a:t> </a:t>
            </a:r>
            <a:r>
              <a:rPr sz="3300" spc="-65" dirty="0">
                <a:latin typeface="Consolas"/>
                <a:cs typeface="Consolas"/>
              </a:rPr>
              <a:t>function.</a:t>
            </a:r>
            <a:endParaRPr sz="33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500" y="3886200"/>
            <a:ext cx="1270000" cy="37592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8200" y="4000500"/>
            <a:ext cx="3606800" cy="3454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42000" y="6197600"/>
            <a:ext cx="1257300" cy="1447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61100" y="3886200"/>
            <a:ext cx="838200" cy="1143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811000" y="3975100"/>
            <a:ext cx="3530600" cy="34925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6600" y="1905000"/>
            <a:ext cx="15938500" cy="9398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961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100"/>
              </a:spcBef>
            </a:pPr>
            <a:r>
              <a:rPr sz="5000" spc="75" dirty="0">
                <a:solidFill>
                  <a:srgbClr val="131313"/>
                </a:solidFill>
              </a:rPr>
              <a:t>Image</a:t>
            </a:r>
            <a:r>
              <a:rPr sz="5000" spc="-220" dirty="0">
                <a:solidFill>
                  <a:srgbClr val="131313"/>
                </a:solidFill>
              </a:rPr>
              <a:t> </a:t>
            </a:r>
            <a:r>
              <a:rPr sz="5000" spc="130" dirty="0">
                <a:solidFill>
                  <a:srgbClr val="161616"/>
                </a:solidFill>
              </a:rPr>
              <a:t>Restoration:</a:t>
            </a:r>
            <a:r>
              <a:rPr sz="5000" spc="-204" dirty="0">
                <a:solidFill>
                  <a:srgbClr val="161616"/>
                </a:solidFill>
              </a:rPr>
              <a:t> </a:t>
            </a:r>
            <a:r>
              <a:rPr sz="5000" spc="70" dirty="0">
                <a:solidFill>
                  <a:srgbClr val="161616"/>
                </a:solidFill>
              </a:rPr>
              <a:t>Recovering</a:t>
            </a:r>
            <a:r>
              <a:rPr sz="5000" spc="185" dirty="0">
                <a:solidFill>
                  <a:srgbClr val="161616"/>
                </a:solidFill>
              </a:rPr>
              <a:t> </a:t>
            </a:r>
            <a:r>
              <a:rPr sz="5000" spc="65" dirty="0">
                <a:solidFill>
                  <a:srgbClr val="1C1C1C"/>
                </a:solidFill>
              </a:rPr>
              <a:t>the</a:t>
            </a:r>
            <a:r>
              <a:rPr sz="5000" spc="215" dirty="0">
                <a:solidFill>
                  <a:srgbClr val="1C1C1C"/>
                </a:solidFill>
              </a:rPr>
              <a:t> </a:t>
            </a:r>
            <a:r>
              <a:rPr sz="5000" spc="120" dirty="0">
                <a:solidFill>
                  <a:srgbClr val="161616"/>
                </a:solidFill>
              </a:rPr>
              <a:t>Original</a:t>
            </a:r>
            <a:r>
              <a:rPr sz="5000" spc="-210" dirty="0">
                <a:solidFill>
                  <a:srgbClr val="161616"/>
                </a:solidFill>
              </a:rPr>
              <a:t> </a:t>
            </a:r>
            <a:r>
              <a:rPr sz="5000" spc="170" dirty="0">
                <a:solidFill>
                  <a:srgbClr val="131313"/>
                </a:solidFill>
              </a:rPr>
              <a:t>Truth</a:t>
            </a:r>
            <a:endParaRPr sz="5000"/>
          </a:p>
        </p:txBody>
      </p:sp>
      <p:sp>
        <p:nvSpPr>
          <p:cNvPr id="9" name="object 9"/>
          <p:cNvSpPr txBox="1"/>
          <p:nvPr/>
        </p:nvSpPr>
        <p:spPr>
          <a:xfrm>
            <a:off x="694649" y="2820458"/>
            <a:ext cx="3470951" cy="565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50" spc="-305" dirty="0">
                <a:latin typeface="Courier New"/>
                <a:cs typeface="Courier New"/>
              </a:rPr>
              <a:t>known</a:t>
            </a:r>
            <a:r>
              <a:rPr sz="3550" spc="50" dirty="0">
                <a:latin typeface="Courier New"/>
                <a:cs typeface="Courier New"/>
              </a:rPr>
              <a:t> </a:t>
            </a:r>
            <a:r>
              <a:rPr sz="3550" spc="-315" dirty="0">
                <a:latin typeface="Courier New"/>
                <a:cs typeface="Courier New"/>
              </a:rPr>
              <a:t>errors.</a:t>
            </a:r>
            <a:endParaRPr sz="3550" dirty="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6846" y="7555230"/>
            <a:ext cx="6064250" cy="1242695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318135" algn="ctr">
              <a:lnSpc>
                <a:spcPct val="100000"/>
              </a:lnSpc>
              <a:spcBef>
                <a:spcPts val="1360"/>
              </a:spcBef>
            </a:pPr>
            <a:r>
              <a:rPr sz="2500" u="heavy" spc="-110" dirty="0">
                <a:uFill>
                  <a:solidFill>
                    <a:srgbClr val="386B7C"/>
                  </a:solidFill>
                </a:uFill>
                <a:latin typeface="Consolas"/>
                <a:cs typeface="Consolas"/>
              </a:rPr>
              <a:t>Degraded</a:t>
            </a:r>
            <a:r>
              <a:rPr sz="2500" u="heavy" spc="-210" dirty="0">
                <a:uFill>
                  <a:solidFill>
                    <a:srgbClr val="386B7C"/>
                  </a:solidFill>
                </a:uFill>
                <a:latin typeface="Consolas"/>
                <a:cs typeface="Consolas"/>
              </a:rPr>
              <a:t> </a:t>
            </a:r>
            <a:r>
              <a:rPr sz="2500" u="heavy" spc="-90" dirty="0">
                <a:uFill>
                  <a:solidFill>
                    <a:srgbClr val="386B7C"/>
                  </a:solidFill>
                </a:uFill>
                <a:latin typeface="Consolas"/>
                <a:cs typeface="Consolas"/>
              </a:rPr>
              <a:t>Image</a:t>
            </a:r>
            <a:r>
              <a:rPr sz="2500" spc="-254" dirty="0">
                <a:latin typeface="Consolas"/>
                <a:cs typeface="Consolas"/>
              </a:rPr>
              <a:t> </a:t>
            </a:r>
            <a:r>
              <a:rPr sz="2500" spc="-90" dirty="0">
                <a:latin typeface="Consolas"/>
                <a:cs typeface="Consolas"/>
              </a:rPr>
              <a:t>(Notion</a:t>
            </a:r>
            <a:r>
              <a:rPr sz="2500" spc="-185" dirty="0">
                <a:latin typeface="Consolas"/>
                <a:cs typeface="Consolas"/>
              </a:rPr>
              <a:t> </a:t>
            </a:r>
            <a:r>
              <a:rPr sz="2500" spc="-10" dirty="0">
                <a:latin typeface="Consolas"/>
                <a:cs typeface="Consolas"/>
              </a:rPr>
              <a:t>Blur)</a:t>
            </a:r>
            <a:endParaRPr sz="25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3100" spc="-265" dirty="0">
                <a:latin typeface="Courier New"/>
                <a:cs typeface="Courier New"/>
              </a:rPr>
              <a:t>Robotic</a:t>
            </a:r>
            <a:r>
              <a:rPr sz="3100" spc="-100" dirty="0">
                <a:latin typeface="Courier New"/>
                <a:cs typeface="Courier New"/>
              </a:rPr>
              <a:t> </a:t>
            </a:r>
            <a:r>
              <a:rPr sz="3100" spc="-220" dirty="0">
                <a:latin typeface="Courier New"/>
                <a:cs typeface="Courier New"/>
              </a:rPr>
              <a:t>Application:</a:t>
            </a:r>
            <a:r>
              <a:rPr sz="3100" spc="-10" dirty="0">
                <a:latin typeface="Courier New"/>
                <a:cs typeface="Courier New"/>
              </a:rPr>
              <a:t> </a:t>
            </a:r>
            <a:r>
              <a:rPr sz="3100" spc="-295" dirty="0">
                <a:latin typeface="Courier New"/>
                <a:cs typeface="Courier New"/>
              </a:rPr>
              <a:t>Removing</a:t>
            </a:r>
            <a:endParaRPr sz="3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86193" y="4804480"/>
            <a:ext cx="3088640" cy="7772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ts val="2980"/>
              </a:lnSpc>
              <a:spcBef>
                <a:spcPts val="120"/>
              </a:spcBef>
              <a:tabLst>
                <a:tab pos="1294765" algn="l"/>
                <a:tab pos="2934970" algn="l"/>
              </a:tabLst>
            </a:pPr>
            <a:r>
              <a:rPr sz="2550" spc="155" dirty="0">
                <a:latin typeface="Calibri"/>
                <a:cs typeface="Calibri"/>
              </a:rPr>
              <a:t>Inverse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125" dirty="0">
                <a:latin typeface="Calibri"/>
                <a:cs typeface="Calibri"/>
              </a:rPr>
              <a:t>F1Iter1ng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-50" dirty="0">
                <a:latin typeface="Calibri"/>
                <a:cs typeface="Calibri"/>
              </a:rPr>
              <a:t>/</a:t>
            </a:r>
            <a:endParaRPr sz="2550">
              <a:latin typeface="Calibri"/>
              <a:cs typeface="Calibri"/>
            </a:endParaRPr>
          </a:p>
          <a:p>
            <a:pPr marR="18415" algn="ctr">
              <a:lnSpc>
                <a:spcPts val="2920"/>
              </a:lnSpc>
            </a:pPr>
            <a:r>
              <a:rPr sz="2500" spc="-80" dirty="0">
                <a:latin typeface="Consolas"/>
                <a:cs typeface="Consolas"/>
              </a:rPr>
              <a:t>Noise</a:t>
            </a:r>
            <a:r>
              <a:rPr sz="2500" spc="-250" dirty="0">
                <a:latin typeface="Consolas"/>
                <a:cs typeface="Consolas"/>
              </a:rPr>
              <a:t> </a:t>
            </a:r>
            <a:r>
              <a:rPr sz="2500" spc="-25" dirty="0">
                <a:latin typeface="Consolas"/>
                <a:cs typeface="Consolas"/>
              </a:rPr>
              <a:t>Modeling</a:t>
            </a:r>
            <a:endParaRPr sz="25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31732" y="7555230"/>
            <a:ext cx="9248775" cy="1242695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3863340">
              <a:lnSpc>
                <a:spcPct val="100000"/>
              </a:lnSpc>
              <a:spcBef>
                <a:spcPts val="1360"/>
              </a:spcBef>
            </a:pPr>
            <a:r>
              <a:rPr sz="2500" spc="-100" dirty="0">
                <a:latin typeface="Consolas"/>
                <a:cs typeface="Consolas"/>
              </a:rPr>
              <a:t>Re</a:t>
            </a:r>
            <a:r>
              <a:rPr sz="2500" u="heavy" spc="-100" dirty="0">
                <a:uFill>
                  <a:solidFill>
                    <a:srgbClr val="BF7C3B"/>
                  </a:solidFill>
                </a:uFill>
                <a:latin typeface="Consolas"/>
                <a:cs typeface="Consolas"/>
              </a:rPr>
              <a:t>st</a:t>
            </a:r>
            <a:r>
              <a:rPr sz="2500" spc="-100" dirty="0">
                <a:latin typeface="Consolas"/>
                <a:cs typeface="Consolas"/>
              </a:rPr>
              <a:t>ored</a:t>
            </a:r>
            <a:r>
              <a:rPr sz="2500" spc="-210" dirty="0">
                <a:latin typeface="Consolas"/>
                <a:cs typeface="Consolas"/>
              </a:rPr>
              <a:t> </a:t>
            </a:r>
            <a:r>
              <a:rPr sz="2500" spc="-90" dirty="0">
                <a:latin typeface="Consolas"/>
                <a:cs typeface="Consolas"/>
              </a:rPr>
              <a:t>Image</a:t>
            </a:r>
            <a:r>
              <a:rPr sz="2500" spc="-254" dirty="0">
                <a:latin typeface="Consolas"/>
                <a:cs typeface="Consolas"/>
              </a:rPr>
              <a:t> </a:t>
            </a:r>
            <a:r>
              <a:rPr sz="2500" spc="-95" dirty="0">
                <a:latin typeface="Consolas"/>
                <a:cs typeface="Consolas"/>
              </a:rPr>
              <a:t>(Sharp,</a:t>
            </a:r>
            <a:r>
              <a:rPr sz="2500" spc="-200" dirty="0">
                <a:latin typeface="Consolas"/>
                <a:cs typeface="Consolas"/>
              </a:rPr>
              <a:t> </a:t>
            </a:r>
            <a:r>
              <a:rPr sz="2500" spc="-50" dirty="0">
                <a:latin typeface="Consolas"/>
                <a:cs typeface="Consolas"/>
              </a:rPr>
              <a:t>Scannable)</a:t>
            </a:r>
            <a:endParaRPr sz="25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3100" spc="-265" dirty="0">
                <a:latin typeface="Courier New"/>
                <a:cs typeface="Courier New"/>
              </a:rPr>
              <a:t>motion</a:t>
            </a:r>
            <a:r>
              <a:rPr sz="3100" spc="45" dirty="0">
                <a:latin typeface="Courier New"/>
                <a:cs typeface="Courier New"/>
              </a:rPr>
              <a:t> </a:t>
            </a:r>
            <a:r>
              <a:rPr sz="3100" spc="-285" dirty="0">
                <a:latin typeface="Courier New"/>
                <a:cs typeface="Courier New"/>
              </a:rPr>
              <a:t>blur</a:t>
            </a:r>
            <a:r>
              <a:rPr sz="3100" spc="-190" dirty="0">
                <a:latin typeface="Courier New"/>
                <a:cs typeface="Courier New"/>
              </a:rPr>
              <a:t> </a:t>
            </a:r>
            <a:r>
              <a:rPr sz="3100" spc="-215" dirty="0">
                <a:latin typeface="Courier New"/>
                <a:cs typeface="Courier New"/>
              </a:rPr>
              <a:t>aTTows</a:t>
            </a:r>
            <a:r>
              <a:rPr sz="3100" spc="-285" dirty="0">
                <a:latin typeface="Courier New"/>
                <a:cs typeface="Courier New"/>
              </a:rPr>
              <a:t> </a:t>
            </a:r>
            <a:r>
              <a:rPr sz="3100" spc="-160" dirty="0">
                <a:latin typeface="Courier New"/>
                <a:cs typeface="Courier New"/>
              </a:rPr>
              <a:t>for</a:t>
            </a:r>
            <a:r>
              <a:rPr sz="3100" spc="-270" dirty="0">
                <a:latin typeface="Courier New"/>
                <a:cs typeface="Courier New"/>
              </a:rPr>
              <a:t> </a:t>
            </a:r>
            <a:r>
              <a:rPr sz="3100" spc="-215" dirty="0">
                <a:latin typeface="Courier New"/>
                <a:cs typeface="Courier New"/>
              </a:rPr>
              <a:t>accurate</a:t>
            </a:r>
            <a:r>
              <a:rPr sz="3100" spc="-45" dirty="0">
                <a:latin typeface="Courier New"/>
                <a:cs typeface="Courier New"/>
              </a:rPr>
              <a:t> </a:t>
            </a:r>
            <a:r>
              <a:rPr sz="3100" spc="-200" dirty="0">
                <a:latin typeface="Courier New"/>
                <a:cs typeface="Courier New"/>
              </a:rPr>
              <a:t>localization</a:t>
            </a:r>
            <a:endParaRPr sz="31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1228" y="8740775"/>
            <a:ext cx="8227695" cy="501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100" dirty="0">
                <a:latin typeface="Consolas"/>
                <a:cs typeface="Consolas"/>
              </a:rPr>
              <a:t>even</a:t>
            </a:r>
            <a:r>
              <a:rPr sz="3100" spc="-210" dirty="0">
                <a:latin typeface="Consolas"/>
                <a:cs typeface="Consolas"/>
              </a:rPr>
              <a:t> </a:t>
            </a:r>
            <a:r>
              <a:rPr sz="3100" dirty="0">
                <a:latin typeface="Consolas"/>
                <a:cs typeface="Consolas"/>
              </a:rPr>
              <a:t>when</a:t>
            </a:r>
            <a:r>
              <a:rPr sz="3100" spc="-150" dirty="0">
                <a:latin typeface="Consolas"/>
                <a:cs typeface="Consolas"/>
              </a:rPr>
              <a:t> </a:t>
            </a:r>
            <a:r>
              <a:rPr sz="3100" dirty="0">
                <a:latin typeface="Consolas"/>
                <a:cs typeface="Consolas"/>
              </a:rPr>
              <a:t>the</a:t>
            </a:r>
            <a:r>
              <a:rPr sz="3100" spc="-229" dirty="0">
                <a:latin typeface="Consolas"/>
                <a:cs typeface="Consolas"/>
              </a:rPr>
              <a:t> </a:t>
            </a:r>
            <a:r>
              <a:rPr sz="3100" dirty="0">
                <a:latin typeface="Consolas"/>
                <a:cs typeface="Consolas"/>
              </a:rPr>
              <a:t>robot</a:t>
            </a:r>
            <a:r>
              <a:rPr sz="3100" spc="-185" dirty="0">
                <a:latin typeface="Consolas"/>
                <a:cs typeface="Consolas"/>
              </a:rPr>
              <a:t> </a:t>
            </a:r>
            <a:r>
              <a:rPr sz="3100" dirty="0">
                <a:latin typeface="Consolas"/>
                <a:cs typeface="Consolas"/>
              </a:rPr>
              <a:t>is</a:t>
            </a:r>
            <a:r>
              <a:rPr sz="3100" spc="-300" dirty="0">
                <a:latin typeface="Consolas"/>
                <a:cs typeface="Consolas"/>
              </a:rPr>
              <a:t> </a:t>
            </a:r>
            <a:r>
              <a:rPr sz="3100" dirty="0">
                <a:latin typeface="Consolas"/>
                <a:cs typeface="Consolas"/>
              </a:rPr>
              <a:t>moving</a:t>
            </a:r>
            <a:r>
              <a:rPr sz="3100" spc="-135" dirty="0">
                <a:latin typeface="Consolas"/>
                <a:cs typeface="Consolas"/>
              </a:rPr>
              <a:t> </a:t>
            </a:r>
            <a:r>
              <a:rPr sz="3100" dirty="0">
                <a:latin typeface="Consolas"/>
                <a:cs typeface="Consolas"/>
              </a:rPr>
              <a:t>at</a:t>
            </a:r>
            <a:r>
              <a:rPr sz="3100" spc="-295" dirty="0">
                <a:latin typeface="Consolas"/>
                <a:cs typeface="Consolas"/>
              </a:rPr>
              <a:t> </a:t>
            </a:r>
            <a:r>
              <a:rPr sz="3100" spc="-35" dirty="0">
                <a:latin typeface="Consolas"/>
                <a:cs typeface="Consolas"/>
              </a:rPr>
              <a:t>speed.</a:t>
            </a:r>
            <a:endParaRPr sz="31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9800" y="7274983"/>
            <a:ext cx="15625444" cy="0"/>
          </a:xfrm>
          <a:custGeom>
            <a:avLst/>
            <a:gdLst/>
            <a:ahLst/>
            <a:cxnLst/>
            <a:rect l="l" t="t" r="r" b="b"/>
            <a:pathLst>
              <a:path w="15625444">
                <a:moveTo>
                  <a:pt x="0" y="0"/>
                </a:moveTo>
                <a:lnTo>
                  <a:pt x="15625234" y="0"/>
                </a:lnTo>
              </a:path>
            </a:pathLst>
          </a:custGeom>
          <a:ln w="29633">
            <a:solidFill>
              <a:srgbClr val="5B5B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27100" y="2667001"/>
            <a:ext cx="15633700" cy="4610312"/>
            <a:chOff x="927100" y="3018367"/>
            <a:chExt cx="15633700" cy="4258945"/>
          </a:xfrm>
        </p:grpSpPr>
        <p:sp>
          <p:nvSpPr>
            <p:cNvPr id="4" name="object 4"/>
            <p:cNvSpPr/>
            <p:nvPr/>
          </p:nvSpPr>
          <p:spPr>
            <a:xfrm>
              <a:off x="8940800" y="3083983"/>
              <a:ext cx="7446645" cy="0"/>
            </a:xfrm>
            <a:custGeom>
              <a:avLst/>
              <a:gdLst/>
              <a:ahLst/>
              <a:cxnLst/>
              <a:rect l="l" t="t" r="r" b="b"/>
              <a:pathLst>
                <a:path w="7446644">
                  <a:moveTo>
                    <a:pt x="0" y="0"/>
                  </a:moveTo>
                  <a:lnTo>
                    <a:pt x="7446433" y="0"/>
                  </a:lnTo>
                </a:path>
              </a:pathLst>
            </a:custGeom>
            <a:ln w="29633">
              <a:solidFill>
                <a:srgbClr val="5B5B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940800" y="3033183"/>
              <a:ext cx="7433945" cy="0"/>
            </a:xfrm>
            <a:custGeom>
              <a:avLst/>
              <a:gdLst/>
              <a:ahLst/>
              <a:cxnLst/>
              <a:rect l="l" t="t" r="r" b="b"/>
              <a:pathLst>
                <a:path w="7433944">
                  <a:moveTo>
                    <a:pt x="0" y="0"/>
                  </a:moveTo>
                  <a:lnTo>
                    <a:pt x="7433733" y="0"/>
                  </a:lnTo>
                </a:path>
              </a:pathLst>
            </a:custGeom>
            <a:ln w="29633">
              <a:solidFill>
                <a:srgbClr val="5B5B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7100" y="3124200"/>
              <a:ext cx="15633700" cy="415290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67795" y="482247"/>
            <a:ext cx="9610725" cy="176339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 marR="5080" indent="3175">
              <a:lnSpc>
                <a:spcPts val="6600"/>
              </a:lnSpc>
              <a:spcBef>
                <a:spcPts val="680"/>
              </a:spcBef>
            </a:pPr>
            <a:r>
              <a:rPr sz="5900" spc="-95" dirty="0"/>
              <a:t>The</a:t>
            </a:r>
            <a:r>
              <a:rPr sz="5900" spc="-300" dirty="0"/>
              <a:t> </a:t>
            </a:r>
            <a:r>
              <a:rPr sz="5900" dirty="0"/>
              <a:t>Critical</a:t>
            </a:r>
            <a:r>
              <a:rPr sz="5900" spc="-250" dirty="0"/>
              <a:t> </a:t>
            </a:r>
            <a:r>
              <a:rPr sz="5900" spc="-10" dirty="0"/>
              <a:t>Distinction: </a:t>
            </a:r>
            <a:r>
              <a:rPr sz="5900" spc="-75" dirty="0"/>
              <a:t>Enhancement</a:t>
            </a:r>
            <a:r>
              <a:rPr sz="5900" spc="-100" dirty="0"/>
              <a:t> </a:t>
            </a:r>
            <a:r>
              <a:rPr sz="5900" spc="-85" dirty="0"/>
              <a:t>vs.</a:t>
            </a:r>
            <a:r>
              <a:rPr sz="5900" spc="-540" dirty="0"/>
              <a:t> </a:t>
            </a:r>
            <a:r>
              <a:rPr sz="5900" spc="-35" dirty="0"/>
              <a:t>Restoration</a:t>
            </a:r>
            <a:endParaRPr sz="5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500" y="3911600"/>
            <a:ext cx="14211300" cy="4546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2219" y="990952"/>
            <a:ext cx="15492730" cy="840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350" dirty="0">
                <a:solidFill>
                  <a:srgbClr val="1F1F1F"/>
                </a:solidFill>
              </a:rPr>
              <a:t>Histogram</a:t>
            </a:r>
            <a:r>
              <a:rPr sz="5350" spc="145" dirty="0">
                <a:solidFill>
                  <a:srgbClr val="1F1F1F"/>
                </a:solidFill>
              </a:rPr>
              <a:t> </a:t>
            </a:r>
            <a:r>
              <a:rPr sz="5350" dirty="0">
                <a:solidFill>
                  <a:srgbClr val="1C1C1C"/>
                </a:solidFill>
              </a:rPr>
              <a:t>Processing:</a:t>
            </a:r>
            <a:r>
              <a:rPr sz="5350" spc="110" dirty="0">
                <a:solidFill>
                  <a:srgbClr val="1C1C1C"/>
                </a:solidFill>
              </a:rPr>
              <a:t> </a:t>
            </a:r>
            <a:r>
              <a:rPr sz="5350" dirty="0">
                <a:solidFill>
                  <a:srgbClr val="1C1C1C"/>
                </a:solidFill>
              </a:rPr>
              <a:t>Decoding</a:t>
            </a:r>
            <a:r>
              <a:rPr sz="5350" spc="-60" dirty="0">
                <a:solidFill>
                  <a:srgbClr val="1C1C1C"/>
                </a:solidFill>
              </a:rPr>
              <a:t> </a:t>
            </a:r>
            <a:r>
              <a:rPr sz="5350" spc="85" dirty="0">
                <a:solidFill>
                  <a:srgbClr val="1F1F1F"/>
                </a:solidFill>
              </a:rPr>
              <a:t>Light</a:t>
            </a:r>
            <a:r>
              <a:rPr sz="5350" spc="-10" dirty="0">
                <a:solidFill>
                  <a:srgbClr val="1F1F1F"/>
                </a:solidFill>
              </a:rPr>
              <a:t> </a:t>
            </a:r>
            <a:r>
              <a:rPr sz="5350" spc="70" dirty="0">
                <a:solidFill>
                  <a:srgbClr val="1D1D1D"/>
                </a:solidFill>
              </a:rPr>
              <a:t>Distribution</a:t>
            </a:r>
            <a:endParaRPr sz="5350"/>
          </a:p>
        </p:txBody>
      </p:sp>
      <p:sp>
        <p:nvSpPr>
          <p:cNvPr id="5" name="object 5"/>
          <p:cNvSpPr txBox="1"/>
          <p:nvPr/>
        </p:nvSpPr>
        <p:spPr>
          <a:xfrm>
            <a:off x="671386" y="2078213"/>
            <a:ext cx="15083155" cy="1732914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 indent="36195">
              <a:lnSpc>
                <a:spcPts val="3400"/>
              </a:lnSpc>
              <a:spcBef>
                <a:spcPts val="365"/>
              </a:spcBef>
            </a:pPr>
            <a:r>
              <a:rPr sz="2950" spc="-590" dirty="0">
                <a:solidFill>
                  <a:srgbClr val="0C0C0C"/>
                </a:solidFill>
                <a:latin typeface="Courier New"/>
                <a:cs typeface="Courier New"/>
              </a:rPr>
              <a:t>A</a:t>
            </a:r>
            <a:r>
              <a:rPr sz="2950" spc="-155" dirty="0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sz="2950" spc="-434" dirty="0">
                <a:latin typeface="Courier New"/>
                <a:cs typeface="Courier New"/>
              </a:rPr>
              <a:t>histogram</a:t>
            </a:r>
            <a:r>
              <a:rPr sz="2950" spc="80" dirty="0">
                <a:latin typeface="Courier New"/>
                <a:cs typeface="Courier New"/>
              </a:rPr>
              <a:t> </a:t>
            </a:r>
            <a:r>
              <a:rPr sz="2950" spc="-415" dirty="0">
                <a:latin typeface="Courier New"/>
                <a:cs typeface="Courier New"/>
              </a:rPr>
              <a:t>maps</a:t>
            </a:r>
            <a:r>
              <a:rPr sz="2950" spc="-360" dirty="0">
                <a:latin typeface="Courier New"/>
                <a:cs typeface="Courier New"/>
              </a:rPr>
              <a:t> </a:t>
            </a:r>
            <a:r>
              <a:rPr sz="2950" spc="-380" dirty="0">
                <a:latin typeface="Courier New"/>
                <a:cs typeface="Courier New"/>
              </a:rPr>
              <a:t>the</a:t>
            </a:r>
            <a:r>
              <a:rPr sz="2950" spc="-280" dirty="0">
                <a:latin typeface="Courier New"/>
                <a:cs typeface="Courier New"/>
              </a:rPr>
              <a:t> </a:t>
            </a:r>
            <a:r>
              <a:rPr sz="2950" spc="-415" dirty="0">
                <a:latin typeface="Courier New"/>
                <a:cs typeface="Courier New"/>
              </a:rPr>
              <a:t>distribution</a:t>
            </a:r>
            <a:r>
              <a:rPr sz="2950" spc="-40" dirty="0">
                <a:latin typeface="Courier New"/>
                <a:cs typeface="Courier New"/>
              </a:rPr>
              <a:t> </a:t>
            </a:r>
            <a:r>
              <a:rPr sz="2950" spc="-380" dirty="0">
                <a:latin typeface="Courier New"/>
                <a:cs typeface="Courier New"/>
              </a:rPr>
              <a:t>of</a:t>
            </a:r>
            <a:r>
              <a:rPr sz="2950" spc="-145" dirty="0">
                <a:latin typeface="Courier New"/>
                <a:cs typeface="Courier New"/>
              </a:rPr>
              <a:t> </a:t>
            </a:r>
            <a:r>
              <a:rPr sz="2950" spc="-430" dirty="0">
                <a:latin typeface="Courier New"/>
                <a:cs typeface="Courier New"/>
              </a:rPr>
              <a:t>pixel</a:t>
            </a:r>
            <a:r>
              <a:rPr sz="2950" spc="-380" dirty="0">
                <a:latin typeface="Courier New"/>
                <a:cs typeface="Courier New"/>
              </a:rPr>
              <a:t> </a:t>
            </a:r>
            <a:r>
              <a:rPr sz="2950" spc="-415" dirty="0">
                <a:latin typeface="Courier New"/>
                <a:cs typeface="Courier New"/>
              </a:rPr>
              <a:t>intensity</a:t>
            </a:r>
            <a:r>
              <a:rPr sz="2950" spc="20" dirty="0">
                <a:latin typeface="Courier New"/>
                <a:cs typeface="Courier New"/>
              </a:rPr>
              <a:t> </a:t>
            </a:r>
            <a:r>
              <a:rPr sz="2950" spc="-415" dirty="0">
                <a:latin typeface="Courier New"/>
                <a:cs typeface="Courier New"/>
              </a:rPr>
              <a:t>values.</a:t>
            </a:r>
            <a:r>
              <a:rPr sz="2950" spc="-270" dirty="0">
                <a:latin typeface="Courier New"/>
                <a:cs typeface="Courier New"/>
              </a:rPr>
              <a:t> </a:t>
            </a:r>
            <a:r>
              <a:rPr sz="2950" spc="-415" dirty="0">
                <a:latin typeface="Courier New"/>
                <a:cs typeface="Courier New"/>
              </a:rPr>
              <a:t>It</a:t>
            </a:r>
            <a:r>
              <a:rPr sz="2950" spc="-260" dirty="0">
                <a:latin typeface="Courier New"/>
                <a:cs typeface="Courier New"/>
              </a:rPr>
              <a:t> </a:t>
            </a:r>
            <a:r>
              <a:rPr sz="2950" spc="-340" dirty="0">
                <a:latin typeface="Courier New"/>
                <a:cs typeface="Courier New"/>
              </a:rPr>
              <a:t>is</a:t>
            </a:r>
            <a:r>
              <a:rPr sz="2950" spc="-505" dirty="0">
                <a:latin typeface="Courier New"/>
                <a:cs typeface="Courier New"/>
              </a:rPr>
              <a:t> </a:t>
            </a:r>
            <a:r>
              <a:rPr sz="2950" spc="-305" dirty="0">
                <a:latin typeface="Courier New"/>
                <a:cs typeface="Courier New"/>
              </a:rPr>
              <a:t>a</a:t>
            </a:r>
            <a:r>
              <a:rPr sz="2950" spc="-320" dirty="0">
                <a:latin typeface="Courier New"/>
                <a:cs typeface="Courier New"/>
              </a:rPr>
              <a:t> </a:t>
            </a:r>
            <a:r>
              <a:rPr sz="2950" spc="-415" dirty="0">
                <a:latin typeface="Courier New"/>
                <a:cs typeface="Courier New"/>
              </a:rPr>
              <a:t>diagnostic</a:t>
            </a:r>
            <a:r>
              <a:rPr sz="2950" spc="-85" dirty="0">
                <a:latin typeface="Courier New"/>
                <a:cs typeface="Courier New"/>
              </a:rPr>
              <a:t> </a:t>
            </a:r>
            <a:r>
              <a:rPr sz="2950" spc="-400" dirty="0">
                <a:latin typeface="Courier New"/>
                <a:cs typeface="Courier New"/>
              </a:rPr>
              <a:t>tool </a:t>
            </a:r>
            <a:r>
              <a:rPr sz="2950" spc="-360" dirty="0">
                <a:latin typeface="Courier New"/>
                <a:cs typeface="Courier New"/>
              </a:rPr>
              <a:t>for</a:t>
            </a:r>
            <a:r>
              <a:rPr sz="2950" spc="-210" dirty="0">
                <a:latin typeface="Courier New"/>
                <a:cs typeface="Courier New"/>
              </a:rPr>
              <a:t> </a:t>
            </a:r>
            <a:r>
              <a:rPr sz="2950" spc="-430" dirty="0">
                <a:latin typeface="Courier New"/>
                <a:cs typeface="Courier New"/>
              </a:rPr>
              <a:t>robot</a:t>
            </a:r>
            <a:r>
              <a:rPr sz="2950" spc="-114" dirty="0">
                <a:latin typeface="Courier New"/>
                <a:cs typeface="Courier New"/>
              </a:rPr>
              <a:t> </a:t>
            </a:r>
            <a:r>
              <a:rPr sz="2950" spc="-425" dirty="0">
                <a:latin typeface="Courier New"/>
                <a:cs typeface="Courier New"/>
              </a:rPr>
              <a:t>vision.</a:t>
            </a:r>
            <a:endParaRPr sz="2950">
              <a:latin typeface="Courier New"/>
              <a:cs typeface="Courier New"/>
            </a:endParaRPr>
          </a:p>
          <a:p>
            <a:pPr marL="1020444" algn="ctr">
              <a:lnSpc>
                <a:spcPct val="100000"/>
              </a:lnSpc>
              <a:spcBef>
                <a:spcPts val="3070"/>
              </a:spcBef>
            </a:pPr>
            <a:r>
              <a:rPr sz="2750" spc="-10" dirty="0">
                <a:solidFill>
                  <a:srgbClr val="111111"/>
                </a:solidFill>
                <a:latin typeface="Arial MT"/>
                <a:cs typeface="Arial MT"/>
              </a:rPr>
              <a:t>Pixel</a:t>
            </a:r>
            <a:r>
              <a:rPr sz="2750" spc="-204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750" spc="75" dirty="0">
                <a:latin typeface="Arial MT"/>
                <a:cs typeface="Arial MT"/>
              </a:rPr>
              <a:t>Intensity</a:t>
            </a:r>
            <a:r>
              <a:rPr sz="2750" spc="50" dirty="0"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0F0F0F"/>
                </a:solidFill>
                <a:latin typeface="Arial MT"/>
                <a:cs typeface="Arial MT"/>
              </a:rPr>
              <a:t>Histogram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3257" y="8426450"/>
            <a:ext cx="17208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70" dirty="0">
                <a:latin typeface="Consolas"/>
                <a:cs typeface="Consolas"/>
              </a:rPr>
              <a:t>0</a:t>
            </a:r>
            <a:endParaRPr sz="25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3241" y="4824588"/>
            <a:ext cx="1823720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-110" dirty="0">
                <a:latin typeface="Consolas"/>
                <a:cs typeface="Consolas"/>
              </a:rPr>
              <a:t>UndereKposed</a:t>
            </a:r>
            <a:endParaRPr sz="235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93560" y="4824588"/>
            <a:ext cx="214185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dirty="0">
                <a:latin typeface="Consolas"/>
                <a:cs typeface="Consolas"/>
              </a:rPr>
              <a:t>/</a:t>
            </a:r>
            <a:r>
              <a:rPr sz="2350" spc="-290" dirty="0">
                <a:latin typeface="Consolas"/>
                <a:cs typeface="Consolas"/>
              </a:rPr>
              <a:t> </a:t>
            </a:r>
            <a:r>
              <a:rPr sz="2350" spc="-10" dirty="0">
                <a:latin typeface="Consolas"/>
                <a:cs typeface="Consolas"/>
              </a:rPr>
              <a:t>Low</a:t>
            </a:r>
            <a:r>
              <a:rPr sz="2350" spc="-240" dirty="0">
                <a:latin typeface="Consolas"/>
                <a:cs typeface="Consolas"/>
              </a:rPr>
              <a:t> </a:t>
            </a:r>
            <a:r>
              <a:rPr sz="2350" spc="-100" dirty="0">
                <a:latin typeface="Consolas"/>
                <a:cs typeface="Consolas"/>
              </a:rPr>
              <a:t>Contrast</a:t>
            </a:r>
            <a:endParaRPr sz="235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73524" y="8426450"/>
            <a:ext cx="31496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280" dirty="0">
                <a:latin typeface="Arial MT"/>
                <a:cs typeface="Arial MT"/>
              </a:rPr>
              <a:t>b4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80118" y="8348485"/>
            <a:ext cx="5513705" cy="92710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R="7620" algn="ctr">
              <a:lnSpc>
                <a:spcPct val="100000"/>
              </a:lnSpc>
              <a:spcBef>
                <a:spcPts val="760"/>
              </a:spcBef>
            </a:pPr>
            <a:r>
              <a:rPr sz="2400" spc="-25" dirty="0">
                <a:latin typeface="Courier New"/>
                <a:cs typeface="Courier New"/>
              </a:rPr>
              <a:t>128</a:t>
            </a:r>
            <a:endParaRPr sz="24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z="2400" spc="-265" dirty="0">
                <a:latin typeface="Courier New"/>
                <a:cs typeface="Courier New"/>
              </a:rPr>
              <a:t>Pixel</a:t>
            </a:r>
            <a:r>
              <a:rPr sz="2400" spc="-210" dirty="0">
                <a:latin typeface="Courier New"/>
                <a:cs typeface="Courier New"/>
              </a:rPr>
              <a:t> </a:t>
            </a:r>
            <a:r>
              <a:rPr sz="2400" spc="-280" dirty="0">
                <a:latin typeface="Courier New"/>
                <a:cs typeface="Courier New"/>
              </a:rPr>
              <a:t>Intensity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spc="-225" dirty="0">
                <a:latin typeface="Courier New"/>
                <a:cs typeface="Courier New"/>
              </a:rPr>
              <a:t>(O=Black,</a:t>
            </a:r>
            <a:r>
              <a:rPr sz="2400" spc="-75" dirty="0">
                <a:latin typeface="Courier New"/>
                <a:cs typeface="Courier New"/>
              </a:rPr>
              <a:t> </a:t>
            </a:r>
            <a:r>
              <a:rPr sz="2400" spc="-200" dirty="0">
                <a:latin typeface="Courier New"/>
                <a:cs typeface="Courier New"/>
              </a:rPr>
              <a:t>255=White)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877460" y="8431389"/>
            <a:ext cx="48450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-25" dirty="0">
                <a:latin typeface="Times New Roman"/>
                <a:cs typeface="Times New Roman"/>
              </a:rPr>
              <a:t>192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382898" y="6490405"/>
            <a:ext cx="3007360" cy="321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58314" algn="l"/>
                <a:tab pos="2376805" algn="l"/>
              </a:tabLst>
            </a:pPr>
            <a:r>
              <a:rPr sz="1950" spc="-10" dirty="0">
                <a:latin typeface="Arial MT"/>
                <a:cs typeface="Arial MT"/>
              </a:rPr>
              <a:t>Corresponding</a:t>
            </a:r>
            <a:r>
              <a:rPr sz="1950" dirty="0">
                <a:latin typeface="Arial MT"/>
                <a:cs typeface="Arial MT"/>
              </a:rPr>
              <a:t>	</a:t>
            </a:r>
            <a:r>
              <a:rPr sz="1950" spc="-20" dirty="0">
                <a:latin typeface="Arial MT"/>
                <a:cs typeface="Arial MT"/>
              </a:rPr>
              <a:t>Dark</a:t>
            </a:r>
            <a:r>
              <a:rPr sz="1950" dirty="0">
                <a:latin typeface="Arial MT"/>
                <a:cs typeface="Arial MT"/>
              </a:rPr>
              <a:t>	</a:t>
            </a:r>
            <a:r>
              <a:rPr sz="1950" spc="-10" dirty="0">
                <a:latin typeface="Arial MT"/>
                <a:cs typeface="Arial MT"/>
              </a:rPr>
              <a:t>Inage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294623" y="8431389"/>
            <a:ext cx="450850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-185" dirty="0">
                <a:latin typeface="Arial MT"/>
                <a:cs typeface="Arial MT"/>
              </a:rPr>
              <a:t>255</a:t>
            </a:r>
            <a:endParaRPr sz="2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0400" y="4546600"/>
            <a:ext cx="4368800" cy="29972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70700" y="5270500"/>
            <a:ext cx="3924300" cy="1549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88700" y="5283200"/>
            <a:ext cx="4343400" cy="22479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9400" y="3200400"/>
            <a:ext cx="2654300" cy="1016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052300" y="3200400"/>
            <a:ext cx="2654300" cy="10033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03324" y="468488"/>
            <a:ext cx="15580712" cy="916276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629285" algn="ctr">
              <a:lnSpc>
                <a:spcPct val="100000"/>
              </a:lnSpc>
              <a:spcBef>
                <a:spcPts val="370"/>
              </a:spcBef>
            </a:pPr>
            <a:r>
              <a:rPr sz="5700" dirty="0"/>
              <a:t>Automating</a:t>
            </a:r>
            <a:r>
              <a:rPr sz="5700" spc="-190" dirty="0"/>
              <a:t> </a:t>
            </a:r>
            <a:r>
              <a:rPr sz="5700" dirty="0"/>
              <a:t>Clarity</a:t>
            </a:r>
            <a:r>
              <a:rPr sz="5700" spc="-200" dirty="0"/>
              <a:t> </a:t>
            </a:r>
            <a:r>
              <a:rPr sz="5700" spc="120" dirty="0"/>
              <a:t>with</a:t>
            </a:r>
            <a:r>
              <a:rPr sz="5700" spc="-400" dirty="0"/>
              <a:t> </a:t>
            </a:r>
            <a:r>
              <a:rPr sz="5700" spc="-40" dirty="0"/>
              <a:t>Histogram</a:t>
            </a:r>
            <a:r>
              <a:rPr sz="5700" spc="-110" dirty="0"/>
              <a:t> </a:t>
            </a:r>
            <a:r>
              <a:rPr sz="5700" spc="-10" dirty="0"/>
              <a:t>Equalization</a:t>
            </a:r>
            <a:endParaRPr sz="5700" dirty="0"/>
          </a:p>
        </p:txBody>
      </p:sp>
      <p:sp>
        <p:nvSpPr>
          <p:cNvPr id="8" name="object 8"/>
          <p:cNvSpPr txBox="1"/>
          <p:nvPr/>
        </p:nvSpPr>
        <p:spPr>
          <a:xfrm>
            <a:off x="3325710" y="2677230"/>
            <a:ext cx="1544320" cy="417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dirty="0">
                <a:latin typeface="Consolas"/>
                <a:cs typeface="Consolas"/>
              </a:rPr>
              <a:t>Raw</a:t>
            </a:r>
            <a:r>
              <a:rPr sz="2550" spc="-250" dirty="0">
                <a:latin typeface="Consolas"/>
                <a:cs typeface="Consolas"/>
              </a:rPr>
              <a:t> </a:t>
            </a:r>
            <a:r>
              <a:rPr sz="2550" spc="-75" dirty="0">
                <a:latin typeface="Consolas"/>
                <a:cs typeface="Consolas"/>
              </a:rPr>
              <a:t>Input</a:t>
            </a:r>
            <a:endParaRPr sz="255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87798" y="4160661"/>
            <a:ext cx="112395" cy="237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-50" dirty="0">
                <a:solidFill>
                  <a:srgbClr val="3A3A3A"/>
                </a:solidFill>
                <a:latin typeface="Calibri"/>
                <a:cs typeface="Calibri"/>
              </a:rPr>
              <a:t>0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36386" y="4160661"/>
            <a:ext cx="2252980" cy="237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69265" algn="l"/>
                <a:tab pos="977265" algn="l"/>
                <a:tab pos="1477645" algn="l"/>
                <a:tab pos="1985645" algn="l"/>
              </a:tabLst>
            </a:pPr>
            <a:r>
              <a:rPr sz="1350" spc="-25" dirty="0">
                <a:solidFill>
                  <a:srgbClr val="181818"/>
                </a:solidFill>
                <a:latin typeface="Calibri"/>
                <a:cs typeface="Calibri"/>
              </a:rPr>
              <a:t>BE</a:t>
            </a:r>
            <a:r>
              <a:rPr sz="1350" dirty="0">
                <a:solidFill>
                  <a:srgbClr val="181818"/>
                </a:solidFill>
                <a:latin typeface="Calibri"/>
                <a:cs typeface="Calibri"/>
              </a:rPr>
              <a:t>	</a:t>
            </a:r>
            <a:r>
              <a:rPr sz="1350" spc="-25" dirty="0">
                <a:solidFill>
                  <a:srgbClr val="161616"/>
                </a:solidFill>
                <a:latin typeface="Calibri"/>
                <a:cs typeface="Calibri"/>
              </a:rPr>
              <a:t>100</a:t>
            </a:r>
            <a:r>
              <a:rPr sz="1350" dirty="0">
                <a:solidFill>
                  <a:srgbClr val="161616"/>
                </a:solidFill>
                <a:latin typeface="Calibri"/>
                <a:cs typeface="Calibri"/>
              </a:rPr>
              <a:t>	</a:t>
            </a:r>
            <a:r>
              <a:rPr sz="1350" spc="-25" dirty="0">
                <a:solidFill>
                  <a:srgbClr val="383838"/>
                </a:solidFill>
                <a:latin typeface="Calibri"/>
                <a:cs typeface="Calibri"/>
              </a:rPr>
              <a:t>1S0</a:t>
            </a:r>
            <a:r>
              <a:rPr sz="1350" dirty="0">
                <a:solidFill>
                  <a:srgbClr val="383838"/>
                </a:solidFill>
                <a:latin typeface="Calibri"/>
                <a:cs typeface="Calibri"/>
              </a:rPr>
              <a:t>	</a:t>
            </a:r>
            <a:r>
              <a:rPr sz="1350" spc="-25" dirty="0">
                <a:solidFill>
                  <a:srgbClr val="1A1A1A"/>
                </a:solidFill>
                <a:latin typeface="Calibri"/>
                <a:cs typeface="Calibri"/>
              </a:rPr>
              <a:t>200</a:t>
            </a:r>
            <a:r>
              <a:rPr sz="1350" dirty="0">
                <a:solidFill>
                  <a:srgbClr val="1A1A1A"/>
                </a:solidFill>
                <a:latin typeface="Calibri"/>
                <a:cs typeface="Calibri"/>
              </a:rPr>
              <a:t>	</a:t>
            </a:r>
            <a:r>
              <a:rPr sz="1350" spc="-25" dirty="0">
                <a:latin typeface="Calibri"/>
                <a:cs typeface="Calibri"/>
              </a:rPr>
              <a:t>2SS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13102" y="5689247"/>
            <a:ext cx="3343910" cy="64579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5080" indent="986155">
              <a:lnSpc>
                <a:spcPts val="2300"/>
              </a:lnSpc>
              <a:spcBef>
                <a:spcPts val="409"/>
              </a:spcBef>
            </a:pPr>
            <a:r>
              <a:rPr sz="2150" spc="-40" dirty="0">
                <a:latin typeface="Consolas"/>
                <a:cs typeface="Consolas"/>
              </a:rPr>
              <a:t>Algorithm: </a:t>
            </a:r>
            <a:r>
              <a:rPr sz="2150" spc="-90" dirty="0">
                <a:latin typeface="Consolas"/>
                <a:cs typeface="Consolas"/>
              </a:rPr>
              <a:t>Redistribute</a:t>
            </a:r>
            <a:r>
              <a:rPr sz="2150" spc="-195" dirty="0">
                <a:latin typeface="Consolas"/>
                <a:cs typeface="Consolas"/>
              </a:rPr>
              <a:t> </a:t>
            </a:r>
            <a:r>
              <a:rPr sz="2150" spc="-110" dirty="0">
                <a:latin typeface="Consolas"/>
                <a:cs typeface="Consolas"/>
              </a:rPr>
              <a:t>Intensities</a:t>
            </a:r>
            <a:endParaRPr sz="215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987687" y="2668411"/>
            <a:ext cx="269938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711960" algn="l"/>
              </a:tabLst>
            </a:pPr>
            <a:r>
              <a:rPr sz="2600" spc="-10" dirty="0">
                <a:latin typeface="Arial MT"/>
                <a:cs typeface="Arial MT"/>
              </a:rPr>
              <a:t>Equalized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25" dirty="0">
                <a:latin typeface="Arial MT"/>
                <a:cs typeface="Arial MT"/>
              </a:rPr>
              <a:t>Output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020843" y="4175830"/>
            <a:ext cx="9779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solidFill>
                  <a:srgbClr val="1C1C1C"/>
                </a:solidFill>
                <a:latin typeface="Times New Roman"/>
                <a:cs typeface="Times New Roman"/>
              </a:rPr>
              <a:t>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481235" y="4175830"/>
            <a:ext cx="129539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75" dirty="0">
                <a:latin typeface="Times New Roman"/>
                <a:cs typeface="Times New Roman"/>
              </a:rPr>
              <a:t>H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921665" y="4175830"/>
            <a:ext cx="178943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07365" algn="l"/>
                <a:tab pos="1019175" algn="l"/>
                <a:tab pos="1527175" algn="l"/>
              </a:tabLst>
            </a:pPr>
            <a:r>
              <a:rPr sz="1300" spc="-25" dirty="0">
                <a:solidFill>
                  <a:srgbClr val="313131"/>
                </a:solidFill>
                <a:latin typeface="Times New Roman"/>
                <a:cs typeface="Times New Roman"/>
              </a:rPr>
              <a:t>100</a:t>
            </a:r>
            <a:r>
              <a:rPr sz="1300" dirty="0">
                <a:solidFill>
                  <a:srgbClr val="313131"/>
                </a:solidFill>
                <a:latin typeface="Times New Roman"/>
                <a:cs typeface="Times New Roman"/>
              </a:rPr>
              <a:t>	</a:t>
            </a:r>
            <a:r>
              <a:rPr sz="1300" spc="-25" dirty="0">
                <a:solidFill>
                  <a:srgbClr val="161616"/>
                </a:solidFill>
                <a:latin typeface="Times New Roman"/>
                <a:cs typeface="Times New Roman"/>
              </a:rPr>
              <a:t>150</a:t>
            </a:r>
            <a:r>
              <a:rPr sz="1300" dirty="0">
                <a:solidFill>
                  <a:srgbClr val="161616"/>
                </a:solidFill>
                <a:latin typeface="Times New Roman"/>
                <a:cs typeface="Times New Roman"/>
              </a:rPr>
              <a:t>	</a:t>
            </a:r>
            <a:r>
              <a:rPr sz="1300" spc="-25" dirty="0">
                <a:latin typeface="Times New Roman"/>
                <a:cs typeface="Times New Roman"/>
              </a:rPr>
              <a:t>200</a:t>
            </a:r>
            <a:r>
              <a:rPr sz="1300" dirty="0">
                <a:latin typeface="Times New Roman"/>
                <a:cs typeface="Times New Roman"/>
              </a:rPr>
              <a:t>	</a:t>
            </a:r>
            <a:r>
              <a:rPr sz="1300" spc="-25" dirty="0">
                <a:solidFill>
                  <a:srgbClr val="1F1F1F"/>
                </a:solidFill>
                <a:latin typeface="Times New Roman"/>
                <a:cs typeface="Times New Roman"/>
              </a:rPr>
              <a:t>25</a:t>
            </a:r>
            <a:r>
              <a:rPr sz="1300" spc="-25" dirty="0">
                <a:solidFill>
                  <a:srgbClr val="5D5D5D"/>
                </a:solidFill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63009" y="8332610"/>
            <a:ext cx="6963409" cy="82169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529590" marR="5080" indent="-517525">
              <a:lnSpc>
                <a:spcPts val="3100"/>
              </a:lnSpc>
              <a:spcBef>
                <a:spcPts val="254"/>
              </a:spcBef>
            </a:pPr>
            <a:r>
              <a:rPr sz="2600" spc="-90" dirty="0">
                <a:latin typeface="Consolas"/>
                <a:cs typeface="Consolas"/>
              </a:rPr>
              <a:t>Essential</a:t>
            </a:r>
            <a:r>
              <a:rPr sz="2600" spc="-270" dirty="0">
                <a:latin typeface="Consolas"/>
                <a:cs typeface="Consolas"/>
              </a:rPr>
              <a:t> </a:t>
            </a:r>
            <a:r>
              <a:rPr sz="2600" dirty="0">
                <a:latin typeface="Consolas"/>
                <a:cs typeface="Consolas"/>
              </a:rPr>
              <a:t>for</a:t>
            </a:r>
            <a:r>
              <a:rPr sz="2600" spc="-325" dirty="0">
                <a:latin typeface="Consolas"/>
                <a:cs typeface="Consolas"/>
              </a:rPr>
              <a:t> </a:t>
            </a:r>
            <a:r>
              <a:rPr sz="2600" spc="-100" dirty="0">
                <a:latin typeface="Consolas"/>
                <a:cs typeface="Consolas"/>
              </a:rPr>
              <a:t>outdoor</a:t>
            </a:r>
            <a:r>
              <a:rPr sz="2600" spc="-260" dirty="0">
                <a:latin typeface="Consolas"/>
                <a:cs typeface="Consolas"/>
              </a:rPr>
              <a:t> </a:t>
            </a:r>
            <a:r>
              <a:rPr sz="2600" spc="-65" dirty="0">
                <a:latin typeface="Consolas"/>
                <a:cs typeface="Consolas"/>
              </a:rPr>
              <a:t>robots</a:t>
            </a:r>
            <a:r>
              <a:rPr sz="2600" spc="-290" dirty="0">
                <a:latin typeface="Consolas"/>
                <a:cs typeface="Consolas"/>
              </a:rPr>
              <a:t> </a:t>
            </a:r>
            <a:r>
              <a:rPr sz="2600" spc="-80" dirty="0">
                <a:latin typeface="Consolas"/>
                <a:cs typeface="Consolas"/>
              </a:rPr>
              <a:t>dealing</a:t>
            </a:r>
            <a:r>
              <a:rPr sz="2600" spc="-114" dirty="0">
                <a:latin typeface="Consolas"/>
                <a:cs typeface="Consolas"/>
              </a:rPr>
              <a:t> </a:t>
            </a:r>
            <a:r>
              <a:rPr sz="2600" spc="-35" dirty="0">
                <a:latin typeface="Consolas"/>
                <a:cs typeface="Consolas"/>
              </a:rPr>
              <a:t>with </a:t>
            </a:r>
            <a:r>
              <a:rPr sz="2600" spc="-110" dirty="0">
                <a:latin typeface="Consolas"/>
                <a:cs typeface="Consolas"/>
              </a:rPr>
              <a:t>variable</a:t>
            </a:r>
            <a:r>
              <a:rPr sz="2600" spc="-250" dirty="0">
                <a:latin typeface="Consolas"/>
                <a:cs typeface="Consolas"/>
              </a:rPr>
              <a:t> </a:t>
            </a:r>
            <a:r>
              <a:rPr sz="2600" spc="-80" dirty="0">
                <a:latin typeface="Consolas"/>
                <a:cs typeface="Consolas"/>
              </a:rPr>
              <a:t>sunlight</a:t>
            </a:r>
            <a:r>
              <a:rPr sz="2600" spc="-270" dirty="0">
                <a:latin typeface="Consolas"/>
                <a:cs typeface="Consolas"/>
              </a:rPr>
              <a:t> </a:t>
            </a:r>
            <a:r>
              <a:rPr sz="2600" dirty="0">
                <a:latin typeface="Consolas"/>
                <a:cs typeface="Consolas"/>
              </a:rPr>
              <a:t>and</a:t>
            </a:r>
            <a:r>
              <a:rPr sz="2600" spc="-215" dirty="0">
                <a:latin typeface="Consolas"/>
                <a:cs typeface="Consolas"/>
              </a:rPr>
              <a:t> </a:t>
            </a:r>
            <a:r>
              <a:rPr sz="2600" spc="-105" dirty="0">
                <a:latin typeface="Consolas"/>
                <a:cs typeface="Consolas"/>
              </a:rPr>
              <a:t>deep</a:t>
            </a:r>
            <a:r>
              <a:rPr sz="2600" spc="-250" dirty="0">
                <a:latin typeface="Consolas"/>
                <a:cs typeface="Consolas"/>
              </a:rPr>
              <a:t> </a:t>
            </a:r>
            <a:r>
              <a:rPr sz="2600" spc="-10" dirty="0">
                <a:latin typeface="Consolas"/>
                <a:cs typeface="Consolas"/>
              </a:rPr>
              <a:t>shadows.</a:t>
            </a:r>
            <a:endParaRPr sz="2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8100" y="8064500"/>
            <a:ext cx="609600" cy="609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53200" y="2692400"/>
            <a:ext cx="584200" cy="5842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5699" rIns="0" bIns="0" rtlCol="0">
            <a:spAutoFit/>
          </a:bodyPr>
          <a:lstStyle/>
          <a:p>
            <a:pPr marL="2854325">
              <a:lnSpc>
                <a:spcPct val="100000"/>
              </a:lnSpc>
              <a:spcBef>
                <a:spcPts val="90"/>
              </a:spcBef>
            </a:pPr>
            <a:r>
              <a:rPr sz="7300" spc="-180" dirty="0">
                <a:solidFill>
                  <a:srgbClr val="212121"/>
                </a:solidFill>
              </a:rPr>
              <a:t>The</a:t>
            </a:r>
            <a:r>
              <a:rPr sz="7300" spc="-590" dirty="0">
                <a:solidFill>
                  <a:srgbClr val="212121"/>
                </a:solidFill>
              </a:rPr>
              <a:t> </a:t>
            </a:r>
            <a:r>
              <a:rPr sz="7300" spc="-140" dirty="0">
                <a:solidFill>
                  <a:srgbClr val="1D1D1D"/>
                </a:solidFill>
              </a:rPr>
              <a:t>Pipeline</a:t>
            </a:r>
            <a:r>
              <a:rPr sz="7300" spc="-345" dirty="0">
                <a:solidFill>
                  <a:srgbClr val="1D1D1D"/>
                </a:solidFill>
              </a:rPr>
              <a:t> </a:t>
            </a:r>
            <a:r>
              <a:rPr sz="7300" spc="55" dirty="0">
                <a:solidFill>
                  <a:srgbClr val="212121"/>
                </a:solidFill>
              </a:rPr>
              <a:t>of</a:t>
            </a:r>
            <a:r>
              <a:rPr sz="7300" spc="-484" dirty="0">
                <a:solidFill>
                  <a:srgbClr val="212121"/>
                </a:solidFill>
              </a:rPr>
              <a:t> </a:t>
            </a:r>
            <a:r>
              <a:rPr sz="7300" spc="-10" dirty="0">
                <a:solidFill>
                  <a:srgbClr val="1F1F1F"/>
                </a:solidFill>
              </a:rPr>
              <a:t>Perception</a:t>
            </a:r>
            <a:endParaRPr sz="7300"/>
          </a:p>
        </p:txBody>
      </p:sp>
      <p:sp>
        <p:nvSpPr>
          <p:cNvPr id="5" name="object 5"/>
          <p:cNvSpPr txBox="1"/>
          <p:nvPr/>
        </p:nvSpPr>
        <p:spPr>
          <a:xfrm>
            <a:off x="6225116" y="2575983"/>
            <a:ext cx="4965700" cy="876300"/>
          </a:xfrm>
          <a:prstGeom prst="rect">
            <a:avLst/>
          </a:prstGeom>
          <a:ln w="21166">
            <a:solidFill>
              <a:srgbClr val="3F544F"/>
            </a:solidFill>
          </a:ln>
        </p:spPr>
        <p:txBody>
          <a:bodyPr vert="horz" wrap="square" lIns="0" tIns="224154" rIns="0" bIns="0" rtlCol="0">
            <a:spAutoFit/>
          </a:bodyPr>
          <a:lstStyle/>
          <a:p>
            <a:pPr marL="1332865">
              <a:lnSpc>
                <a:spcPct val="100000"/>
              </a:lnSpc>
              <a:spcBef>
                <a:spcPts val="1764"/>
              </a:spcBef>
            </a:pPr>
            <a:r>
              <a:rPr sz="2200" spc="-65" dirty="0">
                <a:latin typeface="Consolas"/>
                <a:cs typeface="Consolas"/>
              </a:rPr>
              <a:t>Input</a:t>
            </a:r>
            <a:r>
              <a:rPr sz="2200" spc="-240" dirty="0">
                <a:latin typeface="Consolas"/>
                <a:cs typeface="Consolas"/>
              </a:rPr>
              <a:t> </a:t>
            </a:r>
            <a:r>
              <a:rPr sz="2200" spc="-50" dirty="0">
                <a:latin typeface="Consolas"/>
                <a:cs typeface="Consolas"/>
              </a:rPr>
              <a:t>Image</a:t>
            </a:r>
            <a:r>
              <a:rPr sz="2200" spc="-245" dirty="0">
                <a:latin typeface="Consolas"/>
                <a:cs typeface="Consolas"/>
              </a:rPr>
              <a:t> </a:t>
            </a:r>
            <a:r>
              <a:rPr sz="2200" spc="-40" dirty="0">
                <a:latin typeface="Consolas"/>
                <a:cs typeface="Consolas"/>
              </a:rPr>
              <a:t>(Raw</a:t>
            </a:r>
            <a:r>
              <a:rPr sz="2200" spc="-180" dirty="0">
                <a:latin typeface="Consolas"/>
                <a:cs typeface="Consolas"/>
              </a:rPr>
              <a:t> </a:t>
            </a:r>
            <a:r>
              <a:rPr sz="2200" spc="-10" dirty="0">
                <a:latin typeface="Consolas"/>
                <a:cs typeface="Consolas"/>
              </a:rPr>
              <a:t>Data)</a:t>
            </a:r>
            <a:endParaRPr sz="2200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25116" y="3934883"/>
            <a:ext cx="4965700" cy="729045"/>
          </a:xfrm>
          <a:prstGeom prst="rect">
            <a:avLst/>
          </a:prstGeom>
          <a:ln w="21166">
            <a:solidFill>
              <a:srgbClr val="3F544F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 marL="576580" marR="534670" indent="269240">
              <a:lnSpc>
                <a:spcPts val="2600"/>
              </a:lnSpc>
              <a:spcBef>
                <a:spcPts val="484"/>
              </a:spcBef>
              <a:tabLst>
                <a:tab pos="1562100" algn="l"/>
                <a:tab pos="2585085" algn="l"/>
                <a:tab pos="2868930" algn="l"/>
                <a:tab pos="3590925" algn="l"/>
              </a:tabLst>
            </a:pPr>
            <a:r>
              <a:rPr sz="2300" spc="-10" dirty="0">
                <a:latin typeface="Arial MT"/>
                <a:cs typeface="Arial MT"/>
              </a:rPr>
              <a:t>Convolut1on</a:t>
            </a:r>
            <a:r>
              <a:rPr sz="2300" dirty="0">
                <a:latin typeface="Arial MT"/>
                <a:cs typeface="Arial MT"/>
              </a:rPr>
              <a:t>	</a:t>
            </a:r>
            <a:r>
              <a:rPr sz="2300" spc="-305" dirty="0">
                <a:latin typeface="Arial MT"/>
                <a:cs typeface="Arial MT"/>
              </a:rPr>
              <a:t>+</a:t>
            </a:r>
            <a:r>
              <a:rPr sz="2300" dirty="0">
                <a:latin typeface="Arial MT"/>
                <a:cs typeface="Arial MT"/>
              </a:rPr>
              <a:t>	</a:t>
            </a:r>
            <a:r>
              <a:rPr sz="2300" spc="-10" dirty="0">
                <a:latin typeface="Arial MT"/>
                <a:cs typeface="Arial MT"/>
              </a:rPr>
              <a:t>Fi</a:t>
            </a:r>
            <a:r>
              <a:rPr lang="en-IN" sz="2300" spc="-10" dirty="0">
                <a:latin typeface="Arial MT"/>
                <a:cs typeface="Arial MT"/>
              </a:rPr>
              <a:t>l</a:t>
            </a:r>
            <a:r>
              <a:rPr sz="2300" spc="-10" dirty="0">
                <a:latin typeface="Arial MT"/>
                <a:cs typeface="Arial MT"/>
              </a:rPr>
              <a:t>ter</a:t>
            </a:r>
            <a:r>
              <a:rPr lang="en-IN" sz="2300" spc="-10" dirty="0" err="1">
                <a:latin typeface="Arial MT"/>
                <a:cs typeface="Arial MT"/>
              </a:rPr>
              <a:t>i</a:t>
            </a:r>
            <a:r>
              <a:rPr sz="2300" spc="-10" dirty="0">
                <a:latin typeface="Arial MT"/>
                <a:cs typeface="Arial MT"/>
              </a:rPr>
              <a:t>ng (Noise</a:t>
            </a:r>
            <a:r>
              <a:rPr sz="2300" dirty="0">
                <a:latin typeface="Arial MT"/>
                <a:cs typeface="Arial MT"/>
              </a:rPr>
              <a:t>	</a:t>
            </a:r>
            <a:r>
              <a:rPr sz="2300" spc="-10" dirty="0">
                <a:latin typeface="Arial MT"/>
                <a:cs typeface="Arial MT"/>
              </a:rPr>
              <a:t>Removal,</a:t>
            </a:r>
            <a:r>
              <a:rPr sz="2300" dirty="0">
                <a:latin typeface="Arial MT"/>
                <a:cs typeface="Arial MT"/>
              </a:rPr>
              <a:t>	</a:t>
            </a:r>
            <a:r>
              <a:rPr sz="2300" spc="-635" dirty="0">
                <a:latin typeface="Arial MT"/>
                <a:cs typeface="Arial MT"/>
              </a:rPr>
              <a:t> </a:t>
            </a:r>
            <a:r>
              <a:rPr sz="2300" spc="-20" dirty="0">
                <a:latin typeface="Arial MT"/>
                <a:cs typeface="Arial MT"/>
              </a:rPr>
              <a:t>Edge</a:t>
            </a:r>
            <a:r>
              <a:rPr sz="2300" dirty="0">
                <a:latin typeface="Arial MT"/>
                <a:cs typeface="Arial MT"/>
              </a:rPr>
              <a:t>	</a:t>
            </a:r>
            <a:r>
              <a:rPr sz="2300" spc="-50" dirty="0">
                <a:latin typeface="Arial MT"/>
                <a:cs typeface="Arial MT"/>
              </a:rPr>
              <a:t>Setup)</a:t>
            </a:r>
            <a:endParaRPr sz="23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25116" y="5281083"/>
            <a:ext cx="4965700" cy="855344"/>
          </a:xfrm>
          <a:prstGeom prst="rect">
            <a:avLst/>
          </a:prstGeom>
          <a:ln w="12700">
            <a:solidFill>
              <a:srgbClr val="3F544F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13335" algn="ctr">
              <a:lnSpc>
                <a:spcPts val="2545"/>
              </a:lnSpc>
              <a:spcBef>
                <a:spcPts val="415"/>
              </a:spcBef>
            </a:pPr>
            <a:r>
              <a:rPr sz="2200" spc="-70" dirty="0">
                <a:latin typeface="Consolas"/>
                <a:cs typeface="Consolas"/>
              </a:rPr>
              <a:t>Image</a:t>
            </a:r>
            <a:r>
              <a:rPr sz="2200" spc="-235" dirty="0">
                <a:latin typeface="Consolas"/>
                <a:cs typeface="Consolas"/>
              </a:rPr>
              <a:t> </a:t>
            </a:r>
            <a:r>
              <a:rPr sz="2200" spc="-65" dirty="0">
                <a:latin typeface="Consolas"/>
                <a:cs typeface="Consolas"/>
              </a:rPr>
              <a:t>Enhancement</a:t>
            </a:r>
            <a:r>
              <a:rPr sz="2200" spc="-80" dirty="0">
                <a:latin typeface="Consolas"/>
                <a:cs typeface="Consolas"/>
              </a:rPr>
              <a:t> </a:t>
            </a:r>
            <a:r>
              <a:rPr sz="2200" dirty="0">
                <a:solidFill>
                  <a:srgbClr val="0C0C0C"/>
                </a:solidFill>
                <a:latin typeface="Consolas"/>
                <a:cs typeface="Consolas"/>
              </a:rPr>
              <a:t>/</a:t>
            </a:r>
            <a:r>
              <a:rPr sz="2200" spc="-254" dirty="0">
                <a:solidFill>
                  <a:srgbClr val="0C0C0C"/>
                </a:solidFill>
                <a:latin typeface="Consolas"/>
                <a:cs typeface="Consolas"/>
              </a:rPr>
              <a:t> </a:t>
            </a:r>
            <a:r>
              <a:rPr sz="2200" spc="-10" dirty="0">
                <a:latin typeface="Consolas"/>
                <a:cs typeface="Consolas"/>
              </a:rPr>
              <a:t>Restoration</a:t>
            </a:r>
            <a:endParaRPr sz="2200">
              <a:latin typeface="Consolas"/>
              <a:cs typeface="Consolas"/>
            </a:endParaRPr>
          </a:p>
          <a:p>
            <a:pPr marL="27305" algn="ctr">
              <a:lnSpc>
                <a:spcPts val="2665"/>
              </a:lnSpc>
            </a:pPr>
            <a:r>
              <a:rPr sz="2300" spc="-140" dirty="0">
                <a:latin typeface="Consolas"/>
                <a:cs typeface="Consolas"/>
              </a:rPr>
              <a:t>(Correction</a:t>
            </a:r>
            <a:r>
              <a:rPr sz="2300" spc="-135" dirty="0">
                <a:latin typeface="Consolas"/>
                <a:cs typeface="Consolas"/>
              </a:rPr>
              <a:t> </a:t>
            </a:r>
            <a:r>
              <a:rPr sz="2300" dirty="0">
                <a:latin typeface="Consolas"/>
                <a:cs typeface="Consolas"/>
              </a:rPr>
              <a:t>&amp;</a:t>
            </a:r>
            <a:r>
              <a:rPr sz="2300" spc="-225" dirty="0">
                <a:latin typeface="Consolas"/>
                <a:cs typeface="Consolas"/>
              </a:rPr>
              <a:t> </a:t>
            </a:r>
            <a:r>
              <a:rPr sz="2300" spc="-35" dirty="0">
                <a:latin typeface="Consolas"/>
                <a:cs typeface="Consolas"/>
              </a:rPr>
              <a:t>Recovery)</a:t>
            </a:r>
            <a:endParaRPr sz="23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25116" y="6627283"/>
            <a:ext cx="4965700" cy="863600"/>
          </a:xfrm>
          <a:prstGeom prst="rect">
            <a:avLst/>
          </a:prstGeom>
          <a:ln w="21166">
            <a:solidFill>
              <a:srgbClr val="3F544F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1235710" marR="1025525" indent="-170815">
              <a:lnSpc>
                <a:spcPts val="2500"/>
              </a:lnSpc>
              <a:spcBef>
                <a:spcPts val="665"/>
              </a:spcBef>
              <a:tabLst>
                <a:tab pos="2500630" algn="l"/>
                <a:tab pos="2653030" algn="l"/>
              </a:tabLst>
            </a:pPr>
            <a:r>
              <a:rPr sz="2300" spc="-10" dirty="0">
                <a:latin typeface="Calibri"/>
                <a:cs typeface="Calibri"/>
              </a:rPr>
              <a:t>Histogram</a:t>
            </a:r>
            <a:r>
              <a:rPr sz="2300" dirty="0">
                <a:latin typeface="Calibri"/>
                <a:cs typeface="Calibri"/>
              </a:rPr>
              <a:t>	</a:t>
            </a:r>
            <a:r>
              <a:rPr sz="2300" spc="110" dirty="0">
                <a:latin typeface="Calibri"/>
                <a:cs typeface="Calibri"/>
              </a:rPr>
              <a:t>Processing (Light1ng</a:t>
            </a:r>
            <a:r>
              <a:rPr sz="2300" dirty="0">
                <a:latin typeface="Calibri"/>
                <a:cs typeface="Calibri"/>
              </a:rPr>
              <a:t>		</a:t>
            </a:r>
            <a:r>
              <a:rPr sz="2300" spc="85" dirty="0">
                <a:latin typeface="Calibri"/>
                <a:cs typeface="Calibri"/>
              </a:rPr>
              <a:t>Balance)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25116" y="7973483"/>
            <a:ext cx="4965700" cy="863600"/>
          </a:xfrm>
          <a:prstGeom prst="rect">
            <a:avLst/>
          </a:prstGeom>
          <a:ln w="21166">
            <a:solidFill>
              <a:srgbClr val="3F544F"/>
            </a:solidFill>
          </a:ln>
        </p:spPr>
        <p:txBody>
          <a:bodyPr vert="horz" wrap="square" lIns="0" tIns="198755" rIns="0" bIns="0" rtlCol="0">
            <a:spAutoFit/>
          </a:bodyPr>
          <a:lstStyle/>
          <a:p>
            <a:pPr marL="923290">
              <a:lnSpc>
                <a:spcPct val="100000"/>
              </a:lnSpc>
              <a:spcBef>
                <a:spcPts val="1565"/>
              </a:spcBef>
              <a:tabLst>
                <a:tab pos="2068830" algn="l"/>
                <a:tab pos="4240530" algn="l"/>
              </a:tabLst>
            </a:pPr>
            <a:r>
              <a:rPr sz="2300" spc="-10" dirty="0">
                <a:latin typeface="Calibri"/>
                <a:cs typeface="Calibri"/>
              </a:rPr>
              <a:t>Output:</a:t>
            </a:r>
            <a:r>
              <a:rPr sz="2300" dirty="0">
                <a:latin typeface="Calibri"/>
                <a:cs typeface="Calibri"/>
              </a:rPr>
              <a:t>	</a:t>
            </a:r>
            <a:r>
              <a:rPr sz="2300" spc="75" dirty="0">
                <a:latin typeface="Calibri"/>
                <a:cs typeface="Calibri"/>
              </a:rPr>
              <a:t>Decis1on-</a:t>
            </a:r>
            <a:r>
              <a:rPr sz="2300" spc="-2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Ready</a:t>
            </a:r>
            <a:r>
              <a:rPr sz="2300" dirty="0">
                <a:latin typeface="Calibri"/>
                <a:cs typeface="Calibri"/>
              </a:rPr>
              <a:t>	</a:t>
            </a:r>
            <a:r>
              <a:rPr sz="2300" spc="-20" dirty="0">
                <a:latin typeface="Calibri"/>
                <a:cs typeface="Calibri"/>
              </a:rPr>
              <a:t>Data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01877" y="2522008"/>
            <a:ext cx="3817620" cy="1416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875" marR="5080" indent="-3810">
              <a:lnSpc>
                <a:spcPct val="99000"/>
              </a:lnSpc>
              <a:spcBef>
                <a:spcPts val="120"/>
              </a:spcBef>
            </a:pPr>
            <a:r>
              <a:rPr sz="2300" spc="-190" dirty="0">
                <a:latin typeface="Courier New"/>
                <a:cs typeface="Courier New"/>
              </a:rPr>
              <a:t>This</a:t>
            </a:r>
            <a:r>
              <a:rPr sz="2300" spc="-95" dirty="0">
                <a:latin typeface="Courier New"/>
                <a:cs typeface="Courier New"/>
              </a:rPr>
              <a:t> </a:t>
            </a:r>
            <a:r>
              <a:rPr sz="2300" spc="-270" dirty="0">
                <a:latin typeface="Courier New"/>
                <a:cs typeface="Courier New"/>
              </a:rPr>
              <a:t>pipeline</a:t>
            </a:r>
            <a:r>
              <a:rPr sz="2300" spc="-204" dirty="0">
                <a:latin typeface="Courier New"/>
                <a:cs typeface="Courier New"/>
              </a:rPr>
              <a:t> </a:t>
            </a:r>
            <a:r>
              <a:rPr sz="2300" spc="-150" dirty="0">
                <a:latin typeface="Courier New"/>
                <a:cs typeface="Courier New"/>
              </a:rPr>
              <a:t>transforms </a:t>
            </a:r>
            <a:r>
              <a:rPr sz="2300" spc="-254" dirty="0">
                <a:latin typeface="Courier New"/>
                <a:cs typeface="Courier New"/>
              </a:rPr>
              <a:t>chaotic</a:t>
            </a:r>
            <a:r>
              <a:rPr sz="2300" spc="-95" dirty="0">
                <a:latin typeface="Courier New"/>
                <a:cs typeface="Courier New"/>
              </a:rPr>
              <a:t> </a:t>
            </a:r>
            <a:r>
              <a:rPr sz="2300" spc="-254" dirty="0">
                <a:latin typeface="Courier New"/>
                <a:cs typeface="Courier New"/>
              </a:rPr>
              <a:t>sensory</a:t>
            </a:r>
            <a:r>
              <a:rPr sz="2300" spc="-30" dirty="0">
                <a:latin typeface="Courier New"/>
                <a:cs typeface="Courier New"/>
              </a:rPr>
              <a:t> </a:t>
            </a:r>
            <a:r>
              <a:rPr sz="2300" spc="-270" dirty="0">
                <a:latin typeface="Courier New"/>
                <a:cs typeface="Courier New"/>
              </a:rPr>
              <a:t>input</a:t>
            </a:r>
            <a:r>
              <a:rPr sz="2300" spc="-30" dirty="0">
                <a:latin typeface="Courier New"/>
                <a:cs typeface="Courier New"/>
              </a:rPr>
              <a:t> </a:t>
            </a:r>
            <a:r>
              <a:rPr sz="2300" spc="-275" dirty="0">
                <a:latin typeface="Courier New"/>
                <a:cs typeface="Courier New"/>
              </a:rPr>
              <a:t>into </a:t>
            </a:r>
            <a:r>
              <a:rPr sz="2300" spc="-270" dirty="0">
                <a:latin typeface="Courier New"/>
                <a:cs typeface="Courier New"/>
              </a:rPr>
              <a:t>structured</a:t>
            </a:r>
            <a:r>
              <a:rPr sz="2300" spc="190" dirty="0">
                <a:latin typeface="Courier New"/>
                <a:cs typeface="Courier New"/>
              </a:rPr>
              <a:t> </a:t>
            </a:r>
            <a:r>
              <a:rPr sz="2300" spc="-254" dirty="0">
                <a:solidFill>
                  <a:srgbClr val="0C0C0C"/>
                </a:solidFill>
                <a:latin typeface="Courier New"/>
                <a:cs typeface="Courier New"/>
              </a:rPr>
              <a:t>data</a:t>
            </a:r>
            <a:r>
              <a:rPr sz="2300" spc="-195" dirty="0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sz="2300" spc="-265" dirty="0">
                <a:latin typeface="Courier New"/>
                <a:cs typeface="Courier New"/>
              </a:rPr>
              <a:t>a</a:t>
            </a:r>
            <a:r>
              <a:rPr sz="2300" spc="-105" dirty="0">
                <a:latin typeface="Courier New"/>
                <a:cs typeface="Courier New"/>
              </a:rPr>
              <a:t> </a:t>
            </a:r>
            <a:r>
              <a:rPr sz="2300" spc="-280" dirty="0">
                <a:latin typeface="Courier New"/>
                <a:cs typeface="Courier New"/>
              </a:rPr>
              <a:t>robot </a:t>
            </a:r>
            <a:r>
              <a:rPr sz="2300" spc="-254" dirty="0">
                <a:latin typeface="Courier New"/>
                <a:cs typeface="Courier New"/>
              </a:rPr>
              <a:t>can</a:t>
            </a:r>
            <a:r>
              <a:rPr sz="2300" spc="-125" dirty="0">
                <a:latin typeface="Courier New"/>
                <a:cs typeface="Courier New"/>
              </a:rPr>
              <a:t> </a:t>
            </a:r>
            <a:r>
              <a:rPr sz="2300" spc="-280" dirty="0">
                <a:latin typeface="Courier New"/>
                <a:cs typeface="Courier New"/>
              </a:rPr>
              <a:t>trust.</a:t>
            </a:r>
            <a:endParaRPr sz="2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" y="2590800"/>
            <a:ext cx="5118100" cy="2044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8400" y="2730500"/>
            <a:ext cx="5118100" cy="17907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2458700" y="4607983"/>
            <a:ext cx="1820545" cy="0"/>
          </a:xfrm>
          <a:custGeom>
            <a:avLst/>
            <a:gdLst/>
            <a:ahLst/>
            <a:cxnLst/>
            <a:rect l="l" t="t" r="r" b="b"/>
            <a:pathLst>
              <a:path w="1820544">
                <a:moveTo>
                  <a:pt x="0" y="0"/>
                </a:moveTo>
                <a:lnTo>
                  <a:pt x="1820333" y="0"/>
                </a:lnTo>
              </a:path>
            </a:pathLst>
          </a:custGeom>
          <a:ln w="29633">
            <a:solidFill>
              <a:srgbClr val="2354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1849100" y="4402666"/>
            <a:ext cx="3039745" cy="67945"/>
            <a:chOff x="11849100" y="4402666"/>
            <a:chExt cx="3039745" cy="67945"/>
          </a:xfrm>
        </p:grpSpPr>
        <p:sp>
          <p:nvSpPr>
            <p:cNvPr id="6" name="object 6"/>
            <p:cNvSpPr/>
            <p:nvPr/>
          </p:nvSpPr>
          <p:spPr>
            <a:xfrm>
              <a:off x="11849100" y="4455583"/>
              <a:ext cx="3039745" cy="0"/>
            </a:xfrm>
            <a:custGeom>
              <a:avLst/>
              <a:gdLst/>
              <a:ahLst/>
              <a:cxnLst/>
              <a:rect l="l" t="t" r="r" b="b"/>
              <a:pathLst>
                <a:path w="3039744">
                  <a:moveTo>
                    <a:pt x="0" y="0"/>
                  </a:moveTo>
                  <a:lnTo>
                    <a:pt x="3039533" y="0"/>
                  </a:lnTo>
                </a:path>
              </a:pathLst>
            </a:custGeom>
            <a:ln w="29633">
              <a:solidFill>
                <a:srgbClr val="2354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49100" y="4417483"/>
              <a:ext cx="3039745" cy="0"/>
            </a:xfrm>
            <a:custGeom>
              <a:avLst/>
              <a:gdLst/>
              <a:ahLst/>
              <a:cxnLst/>
              <a:rect l="l" t="t" r="r" b="b"/>
              <a:pathLst>
                <a:path w="3039744">
                  <a:moveTo>
                    <a:pt x="0" y="0"/>
                  </a:moveTo>
                  <a:lnTo>
                    <a:pt x="3039533" y="0"/>
                  </a:lnTo>
                </a:path>
              </a:pathLst>
            </a:custGeom>
            <a:ln w="29633">
              <a:solidFill>
                <a:srgbClr val="2354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154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105" dirty="0"/>
              <a:t>From</a:t>
            </a:r>
            <a:r>
              <a:rPr spc="-560" dirty="0"/>
              <a:t> </a:t>
            </a:r>
            <a:r>
              <a:rPr spc="-75" dirty="0"/>
              <a:t>Data</a:t>
            </a:r>
            <a:r>
              <a:rPr spc="-420" dirty="0"/>
              <a:t> </a:t>
            </a:r>
            <a:r>
              <a:rPr spc="325" dirty="0"/>
              <a:t>to</a:t>
            </a:r>
            <a:r>
              <a:rPr spc="-830" dirty="0"/>
              <a:t> </a:t>
            </a:r>
            <a:r>
              <a:rPr spc="-10" dirty="0"/>
              <a:t>Decision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23654" y="4913488"/>
            <a:ext cx="4195445" cy="15576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6034">
              <a:lnSpc>
                <a:spcPts val="3910"/>
              </a:lnSpc>
              <a:spcBef>
                <a:spcPts val="110"/>
              </a:spcBef>
              <a:tabLst>
                <a:tab pos="1936750" algn="l"/>
              </a:tabLst>
            </a:pPr>
            <a:r>
              <a:rPr sz="3600" spc="-10" dirty="0">
                <a:latin typeface="Arial MT"/>
                <a:cs typeface="Arial MT"/>
              </a:rPr>
              <a:t>Cleaner</a:t>
            </a:r>
            <a:r>
              <a:rPr sz="3600" dirty="0">
                <a:latin typeface="Arial MT"/>
                <a:cs typeface="Arial MT"/>
              </a:rPr>
              <a:t>	</a:t>
            </a:r>
            <a:r>
              <a:rPr sz="3600" spc="-10" dirty="0">
                <a:latin typeface="Arial MT"/>
                <a:cs typeface="Arial MT"/>
              </a:rPr>
              <a:t>Images</a:t>
            </a:r>
            <a:endParaRPr sz="3600" dirty="0">
              <a:latin typeface="Arial MT"/>
              <a:cs typeface="Arial MT"/>
            </a:endParaRPr>
          </a:p>
          <a:p>
            <a:pPr marL="20320">
              <a:lnSpc>
                <a:spcPts val="3985"/>
              </a:lnSpc>
              <a:tabLst>
                <a:tab pos="608965" algn="l"/>
                <a:tab pos="2298065" algn="l"/>
              </a:tabLst>
            </a:pPr>
            <a:r>
              <a:rPr lang="en-IN" sz="3950" spc="75" dirty="0">
                <a:latin typeface="Arial MT"/>
                <a:cs typeface="Arial MT"/>
              </a:rPr>
              <a:t>Bet</a:t>
            </a:r>
            <a:r>
              <a:rPr sz="3950" spc="75" dirty="0">
                <a:latin typeface="Arial MT"/>
                <a:cs typeface="Arial MT"/>
              </a:rPr>
              <a:t>ter</a:t>
            </a:r>
            <a:r>
              <a:rPr lang="en-IN" sz="3950" spc="75" dirty="0">
                <a:latin typeface="Arial MT"/>
                <a:cs typeface="Arial MT"/>
              </a:rPr>
              <a:t> </a:t>
            </a:r>
            <a:r>
              <a:rPr sz="3950" spc="-95" dirty="0">
                <a:latin typeface="Arial MT"/>
                <a:cs typeface="Arial MT"/>
              </a:rPr>
              <a:t>Obstacle</a:t>
            </a:r>
            <a:endParaRPr sz="3950" dirty="0">
              <a:latin typeface="Arial MT"/>
              <a:cs typeface="Arial MT"/>
            </a:endParaRPr>
          </a:p>
          <a:p>
            <a:pPr marL="12700">
              <a:lnSpc>
                <a:spcPts val="4155"/>
              </a:lnSpc>
            </a:pPr>
            <a:r>
              <a:rPr sz="3750" spc="120" dirty="0">
                <a:latin typeface="Arial MT"/>
                <a:cs typeface="Arial MT"/>
              </a:rPr>
              <a:t>Detection.</a:t>
            </a:r>
            <a:endParaRPr sz="375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34976" y="4884561"/>
            <a:ext cx="3124200" cy="618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172335" algn="l"/>
              </a:tabLst>
            </a:pPr>
            <a:r>
              <a:rPr sz="3850" spc="-10" dirty="0">
                <a:latin typeface="Arial MT"/>
                <a:cs typeface="Arial MT"/>
              </a:rPr>
              <a:t>Restored</a:t>
            </a:r>
            <a:r>
              <a:rPr sz="3850" dirty="0">
                <a:latin typeface="Arial MT"/>
                <a:cs typeface="Arial MT"/>
              </a:rPr>
              <a:t>	</a:t>
            </a:r>
            <a:r>
              <a:rPr sz="3850" spc="-170" dirty="0">
                <a:latin typeface="Arial MT"/>
                <a:cs typeface="Arial MT"/>
              </a:rPr>
              <a:t>Data</a:t>
            </a:r>
            <a:endParaRPr sz="38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68899" y="5384800"/>
            <a:ext cx="260731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5010" algn="l"/>
              </a:tabLst>
            </a:pPr>
            <a:r>
              <a:rPr sz="3750" spc="-10" dirty="0">
                <a:latin typeface="Arial MT"/>
                <a:cs typeface="Arial MT"/>
              </a:rPr>
              <a:t>Accurate</a:t>
            </a:r>
            <a:endParaRPr sz="375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24991" y="5395595"/>
            <a:ext cx="3067050" cy="607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800" spc="195" dirty="0">
                <a:latin typeface="Arial MT"/>
                <a:cs typeface="Arial MT"/>
              </a:rPr>
              <a:t>Localization.</a:t>
            </a:r>
            <a:endParaRPr sz="3800" dirty="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812354" y="4895850"/>
            <a:ext cx="3382645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50" spc="-185" dirty="0">
                <a:latin typeface="Consolas"/>
                <a:cs typeface="Consolas"/>
              </a:rPr>
              <a:t>Balanced</a:t>
            </a:r>
            <a:r>
              <a:rPr sz="3750" spc="-295" dirty="0">
                <a:latin typeface="Consolas"/>
                <a:cs typeface="Consolas"/>
              </a:rPr>
              <a:t> </a:t>
            </a:r>
            <a:r>
              <a:rPr sz="3750" spc="-130" dirty="0">
                <a:latin typeface="Consolas"/>
                <a:cs typeface="Consolas"/>
              </a:rPr>
              <a:t>Light</a:t>
            </a:r>
            <a:endParaRPr sz="375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775008" y="5384800"/>
            <a:ext cx="4496435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50" spc="-125" dirty="0">
                <a:latin typeface="Consolas"/>
                <a:cs typeface="Consolas"/>
              </a:rPr>
              <a:t> </a:t>
            </a:r>
            <a:r>
              <a:rPr sz="3750" spc="-140" dirty="0">
                <a:latin typeface="Consolas"/>
                <a:cs typeface="Consolas"/>
              </a:rPr>
              <a:t>Reliable</a:t>
            </a:r>
            <a:r>
              <a:rPr sz="3750" spc="-310" dirty="0">
                <a:latin typeface="Consolas"/>
                <a:cs typeface="Consolas"/>
              </a:rPr>
              <a:t> </a:t>
            </a:r>
            <a:r>
              <a:rPr sz="3750" spc="-265" dirty="0">
                <a:latin typeface="Consolas"/>
                <a:cs typeface="Consolas"/>
              </a:rPr>
              <a:t>Outdoor</a:t>
            </a:r>
            <a:endParaRPr sz="3750" dirty="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35804" y="5917847"/>
            <a:ext cx="2647315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160" dirty="0">
                <a:latin typeface="Consolas"/>
                <a:cs typeface="Consolas"/>
              </a:rPr>
              <a:t>twigation.</a:t>
            </a:r>
            <a:endParaRPr sz="340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9403" y="7186788"/>
            <a:ext cx="15579090" cy="210629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 indent="635">
              <a:lnSpc>
                <a:spcPct val="90600"/>
              </a:lnSpc>
              <a:spcBef>
                <a:spcPts val="655"/>
              </a:spcBef>
            </a:pPr>
            <a:r>
              <a:rPr sz="4850" dirty="0">
                <a:latin typeface="Arial MT"/>
                <a:cs typeface="Arial MT"/>
              </a:rPr>
              <a:t>These</a:t>
            </a:r>
            <a:r>
              <a:rPr sz="4850" spc="-190" dirty="0">
                <a:latin typeface="Arial MT"/>
                <a:cs typeface="Arial MT"/>
              </a:rPr>
              <a:t> </a:t>
            </a:r>
            <a:r>
              <a:rPr sz="4850" dirty="0">
                <a:latin typeface="Arial MT"/>
                <a:cs typeface="Arial MT"/>
              </a:rPr>
              <a:t>mathematical</a:t>
            </a:r>
            <a:r>
              <a:rPr sz="4850" spc="370" dirty="0">
                <a:latin typeface="Arial MT"/>
                <a:cs typeface="Arial MT"/>
              </a:rPr>
              <a:t> </a:t>
            </a:r>
            <a:r>
              <a:rPr sz="4850" spc="65" dirty="0">
                <a:latin typeface="Arial MT"/>
                <a:cs typeface="Arial MT"/>
              </a:rPr>
              <a:t>foundations</a:t>
            </a:r>
            <a:r>
              <a:rPr sz="4850" spc="135" dirty="0">
                <a:latin typeface="Arial MT"/>
                <a:cs typeface="Arial MT"/>
              </a:rPr>
              <a:t> </a:t>
            </a:r>
            <a:r>
              <a:rPr sz="4850" dirty="0">
                <a:latin typeface="Arial MT"/>
                <a:cs typeface="Arial MT"/>
              </a:rPr>
              <a:t>are</a:t>
            </a:r>
            <a:r>
              <a:rPr sz="4850" spc="-250" dirty="0">
                <a:latin typeface="Arial MT"/>
                <a:cs typeface="Arial MT"/>
              </a:rPr>
              <a:t> </a:t>
            </a:r>
            <a:r>
              <a:rPr sz="4850" spc="150" dirty="0">
                <a:latin typeface="Arial MT"/>
                <a:cs typeface="Arial MT"/>
              </a:rPr>
              <a:t>not</a:t>
            </a:r>
            <a:r>
              <a:rPr sz="4850" spc="-40" dirty="0">
                <a:latin typeface="Arial MT"/>
                <a:cs typeface="Arial MT"/>
              </a:rPr>
              <a:t> </a:t>
            </a:r>
            <a:r>
              <a:rPr sz="4850" spc="90" dirty="0">
                <a:latin typeface="Arial MT"/>
                <a:cs typeface="Arial MT"/>
              </a:rPr>
              <a:t>just</a:t>
            </a:r>
            <a:r>
              <a:rPr sz="4850" spc="-140" dirty="0">
                <a:latin typeface="Arial MT"/>
                <a:cs typeface="Arial MT"/>
              </a:rPr>
              <a:t> </a:t>
            </a:r>
            <a:r>
              <a:rPr sz="4850" spc="-10" dirty="0">
                <a:latin typeface="Arial MT"/>
                <a:cs typeface="Arial MT"/>
              </a:rPr>
              <a:t>image </a:t>
            </a:r>
            <a:r>
              <a:rPr sz="4850" dirty="0">
                <a:latin typeface="Arial MT"/>
                <a:cs typeface="Arial MT"/>
              </a:rPr>
              <a:t>manipulation;</a:t>
            </a:r>
            <a:r>
              <a:rPr sz="4850" spc="580" dirty="0">
                <a:latin typeface="Arial MT"/>
                <a:cs typeface="Arial MT"/>
              </a:rPr>
              <a:t> </a:t>
            </a:r>
            <a:r>
              <a:rPr sz="4850" spc="110" dirty="0">
                <a:latin typeface="Arial MT"/>
                <a:cs typeface="Arial MT"/>
              </a:rPr>
              <a:t>they</a:t>
            </a:r>
            <a:r>
              <a:rPr sz="4850" spc="-204" dirty="0">
                <a:latin typeface="Arial MT"/>
                <a:cs typeface="Arial MT"/>
              </a:rPr>
              <a:t> </a:t>
            </a:r>
            <a:r>
              <a:rPr sz="4850" dirty="0">
                <a:latin typeface="Arial MT"/>
                <a:cs typeface="Arial MT"/>
              </a:rPr>
              <a:t>are</a:t>
            </a:r>
            <a:r>
              <a:rPr sz="4850" spc="-200" dirty="0">
                <a:latin typeface="Arial MT"/>
                <a:cs typeface="Arial MT"/>
              </a:rPr>
              <a:t> </a:t>
            </a:r>
            <a:r>
              <a:rPr sz="4850" spc="130" dirty="0">
                <a:latin typeface="Arial MT"/>
                <a:cs typeface="Arial MT"/>
              </a:rPr>
              <a:t>the</a:t>
            </a:r>
            <a:r>
              <a:rPr sz="4850" spc="-270" dirty="0">
                <a:latin typeface="Arial MT"/>
                <a:cs typeface="Arial MT"/>
              </a:rPr>
              <a:t> </a:t>
            </a:r>
            <a:r>
              <a:rPr sz="4850" spc="60" dirty="0">
                <a:latin typeface="Arial MT"/>
                <a:cs typeface="Arial MT"/>
              </a:rPr>
              <a:t>prerequisites</a:t>
            </a:r>
            <a:r>
              <a:rPr sz="4850" spc="175" dirty="0">
                <a:latin typeface="Arial MT"/>
                <a:cs typeface="Arial MT"/>
              </a:rPr>
              <a:t> </a:t>
            </a:r>
            <a:r>
              <a:rPr sz="4850" spc="90" dirty="0">
                <a:latin typeface="Arial MT"/>
                <a:cs typeface="Arial MT"/>
              </a:rPr>
              <a:t>for</a:t>
            </a:r>
            <a:r>
              <a:rPr sz="4850" spc="-40" dirty="0">
                <a:latin typeface="Arial MT"/>
                <a:cs typeface="Arial MT"/>
              </a:rPr>
              <a:t> </a:t>
            </a:r>
            <a:r>
              <a:rPr sz="4850" spc="-10" dirty="0">
                <a:latin typeface="Arial MT"/>
                <a:cs typeface="Arial MT"/>
              </a:rPr>
              <a:t>autonomous </a:t>
            </a:r>
            <a:r>
              <a:rPr sz="4850" spc="95" dirty="0">
                <a:latin typeface="Arial MT"/>
                <a:cs typeface="Arial MT"/>
              </a:rPr>
              <a:t>interaction</a:t>
            </a:r>
            <a:r>
              <a:rPr sz="4850" spc="30" dirty="0">
                <a:latin typeface="Arial MT"/>
                <a:cs typeface="Arial MT"/>
              </a:rPr>
              <a:t> </a:t>
            </a:r>
            <a:r>
              <a:rPr sz="4850" spc="210" dirty="0">
                <a:latin typeface="Arial MT"/>
                <a:cs typeface="Arial MT"/>
              </a:rPr>
              <a:t>with</a:t>
            </a:r>
            <a:r>
              <a:rPr sz="4850" spc="-315" dirty="0">
                <a:latin typeface="Arial MT"/>
                <a:cs typeface="Arial MT"/>
              </a:rPr>
              <a:t> </a:t>
            </a:r>
            <a:r>
              <a:rPr sz="4850" spc="130" dirty="0">
                <a:latin typeface="Arial MT"/>
                <a:cs typeface="Arial MT"/>
              </a:rPr>
              <a:t>the</a:t>
            </a:r>
            <a:r>
              <a:rPr sz="4850" spc="-330" dirty="0">
                <a:latin typeface="Arial MT"/>
                <a:cs typeface="Arial MT"/>
              </a:rPr>
              <a:t> </a:t>
            </a:r>
            <a:r>
              <a:rPr sz="4850" spc="80" dirty="0">
                <a:latin typeface="Arial MT"/>
                <a:cs typeface="Arial MT"/>
              </a:rPr>
              <a:t>physical</a:t>
            </a:r>
            <a:r>
              <a:rPr sz="4850" spc="-85" dirty="0">
                <a:latin typeface="Arial MT"/>
                <a:cs typeface="Arial MT"/>
              </a:rPr>
              <a:t> </a:t>
            </a:r>
            <a:r>
              <a:rPr sz="4850" spc="90" dirty="0">
                <a:latin typeface="Arial MT"/>
                <a:cs typeface="Arial MT"/>
              </a:rPr>
              <a:t>world.</a:t>
            </a:r>
            <a:endParaRPr sz="4850">
              <a:latin typeface="Arial MT"/>
              <a:cs typeface="Arial MT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F637DAA-810C-CE87-226C-1137AB9E8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35804" y="2724007"/>
            <a:ext cx="3038899" cy="19295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681</Words>
  <Application>Microsoft Office PowerPoint</Application>
  <PresentationFormat>Custom</PresentationFormat>
  <Paragraphs>120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 MT</vt:lpstr>
      <vt:lpstr>Calibri</vt:lpstr>
      <vt:lpstr>Consolas</vt:lpstr>
      <vt:lpstr>Courier New</vt:lpstr>
      <vt:lpstr>Times New Roman</vt:lpstr>
      <vt:lpstr>Office Theme</vt:lpstr>
      <vt:lpstr>Machine Vision: From Raw Pixels to</vt:lpstr>
      <vt:lpstr>Robots Do Not Understand Pictures. They Process Arrays of Numbers.</vt:lpstr>
      <vt:lpstr>Convolution is the Atomic Unit of Image Processing</vt:lpstr>
      <vt:lpstr>The Mechanics of the Sliding Window</vt:lpstr>
      <vt:lpstr>PowerPoint Presentation</vt:lpstr>
      <vt:lpstr>The Toolkit: Low-Pass vs. High-Pass Filtering</vt:lpstr>
      <vt:lpstr>Image Enhancement: Optimizing for Interpretation</vt:lpstr>
      <vt:lpstr>Image Restoration: Recovering the Original Truth</vt:lpstr>
      <vt:lpstr>The Critical Distinction: Enhancement vs. Restoration</vt:lpstr>
      <vt:lpstr>Histogram Processing: Decoding Light Distribution</vt:lpstr>
      <vt:lpstr>Automating Clarity with Histogram Equalization</vt:lpstr>
      <vt:lpstr>The Pipeline of Perception</vt:lpstr>
      <vt:lpstr>From Data to Decision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Anjali T</cp:lastModifiedBy>
  <cp:revision>18</cp:revision>
  <dcterms:created xsi:type="dcterms:W3CDTF">2026-01-30T08:54:54Z</dcterms:created>
  <dcterms:modified xsi:type="dcterms:W3CDTF">2026-02-05T03:35:19Z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2026-01-30T00:00:00Z</vt:filetime>
  </property>
  <property fmtid="{D5CDD505-2E9C-101B-9397-08002B2CF9AE}" pid="3" name="LastSaved">
    <vt:filetime>2026-01-30T00:00:00Z</vt:filetime>
  </property>
</Properties>
</file>