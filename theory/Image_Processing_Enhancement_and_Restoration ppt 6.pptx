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743" autoAdjust="0"/>
  </p:normalViewPr>
  <p:slideViewPr>
    <p:cSldViewPr>
      <p:cViewPr varScale="1">
        <p:scale>
          <a:sx n="43" d="100"/>
          <a:sy n="43" d="100"/>
        </p:scale>
        <p:origin x="1044" y="4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898063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A2B281-B57A-479B-9B32-DAD033F9A2E9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88025" y="1219200"/>
            <a:ext cx="5899150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747838" y="4694238"/>
            <a:ext cx="1397952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898063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734E71-DE09-40EB-8A25-C51598F875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847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734E71-DE09-40EB-8A25-C51598F8758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73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18181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545"/>
              </a:lnSpc>
            </a:pPr>
            <a:r>
              <a:rPr dirty="0"/>
              <a:t>G</a:t>
            </a:r>
            <a:r>
              <a:rPr spc="100" dirty="0"/>
              <a:t>  </a:t>
            </a:r>
            <a:r>
              <a:rPr spc="-25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18181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545"/>
              </a:lnSpc>
            </a:pPr>
            <a:r>
              <a:rPr dirty="0"/>
              <a:t>G</a:t>
            </a:r>
            <a:r>
              <a:rPr spc="100" dirty="0"/>
              <a:t>  </a:t>
            </a:r>
            <a:r>
              <a:rPr spc="-25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18181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61683" y="2007658"/>
            <a:ext cx="6332855" cy="5314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C15D3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363294" y="2051755"/>
            <a:ext cx="5522594" cy="5533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5D759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545"/>
              </a:lnSpc>
            </a:pPr>
            <a:r>
              <a:rPr dirty="0"/>
              <a:t>G</a:t>
            </a:r>
            <a:r>
              <a:rPr spc="100" dirty="0"/>
              <a:t>  </a:t>
            </a:r>
            <a:r>
              <a:rPr spc="-25" dirty="0"/>
              <a:t>NotebookLM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18181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545"/>
              </a:lnSpc>
            </a:pPr>
            <a:r>
              <a:rPr dirty="0"/>
              <a:t>G</a:t>
            </a:r>
            <a:r>
              <a:rPr spc="100" dirty="0"/>
              <a:t>  </a:t>
            </a:r>
            <a:r>
              <a:rPr spc="-25" dirty="0"/>
              <a:t>NotebookLM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545"/>
              </a:lnSpc>
            </a:pPr>
            <a:r>
              <a:rPr dirty="0"/>
              <a:t>G</a:t>
            </a:r>
            <a:r>
              <a:rPr spc="100" dirty="0"/>
              <a:t>  </a:t>
            </a:r>
            <a:r>
              <a:rPr spc="-25" dirty="0"/>
              <a:t>NotebookLM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0718" y="340430"/>
            <a:ext cx="16013762" cy="1542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18181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1200" y="3132667"/>
            <a:ext cx="7357745" cy="5907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107677" y="9462029"/>
            <a:ext cx="1237615" cy="2197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545"/>
              </a:lnSpc>
            </a:pPr>
            <a:r>
              <a:rPr dirty="0"/>
              <a:t>G</a:t>
            </a:r>
            <a:r>
              <a:rPr spc="100" dirty="0"/>
              <a:t>  </a:t>
            </a:r>
            <a:r>
              <a:rPr spc="-25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13" Type="http://schemas.openxmlformats.org/officeDocument/2006/relationships/image" Target="../media/image16.png"/><Relationship Id="rId3" Type="http://schemas.openxmlformats.org/officeDocument/2006/relationships/image" Target="../media/image6.jpg"/><Relationship Id="rId7" Type="http://schemas.openxmlformats.org/officeDocument/2006/relationships/image" Target="../media/image10.jpg"/><Relationship Id="rId12" Type="http://schemas.openxmlformats.org/officeDocument/2006/relationships/image" Target="../media/image15.png"/><Relationship Id="rId17" Type="http://schemas.openxmlformats.org/officeDocument/2006/relationships/image" Target="../media/image20.jpg"/><Relationship Id="rId2" Type="http://schemas.openxmlformats.org/officeDocument/2006/relationships/image" Target="../media/image5.jp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11" Type="http://schemas.openxmlformats.org/officeDocument/2006/relationships/image" Target="../media/image14.jp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jp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7" Type="http://schemas.openxmlformats.org/officeDocument/2006/relationships/image" Target="../media/image29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jpg"/><Relationship Id="rId7" Type="http://schemas.openxmlformats.org/officeDocument/2006/relationships/image" Target="../media/image38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g"/><Relationship Id="rId11" Type="http://schemas.openxmlformats.org/officeDocument/2006/relationships/image" Target="../media/image42.png"/><Relationship Id="rId5" Type="http://schemas.openxmlformats.org/officeDocument/2006/relationships/image" Target="../media/image36.jpg"/><Relationship Id="rId10" Type="http://schemas.openxmlformats.org/officeDocument/2006/relationships/image" Target="../media/image41.png"/><Relationship Id="rId4" Type="http://schemas.openxmlformats.org/officeDocument/2006/relationships/image" Target="../media/image35.jpg"/><Relationship Id="rId9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.png"/><Relationship Id="rId5" Type="http://schemas.openxmlformats.org/officeDocument/2006/relationships/image" Target="../media/image46.jpg"/><Relationship Id="rId4" Type="http://schemas.openxmlformats.org/officeDocument/2006/relationships/image" Target="../media/image4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2.png"/><Relationship Id="rId5" Type="http://schemas.openxmlformats.org/officeDocument/2006/relationships/image" Target="../media/image51.jpg"/><Relationship Id="rId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9.jpg"/><Relationship Id="rId4" Type="http://schemas.openxmlformats.org/officeDocument/2006/relationships/image" Target="../media/image58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jpg"/><Relationship Id="rId3" Type="http://schemas.openxmlformats.org/officeDocument/2006/relationships/image" Target="../media/image61.jpg"/><Relationship Id="rId7" Type="http://schemas.openxmlformats.org/officeDocument/2006/relationships/image" Target="../media/image65.jp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9000" y="3423002"/>
            <a:ext cx="15621000" cy="925574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 marR="5080" indent="149860" algn="just">
              <a:lnSpc>
                <a:spcPct val="84500"/>
              </a:lnSpc>
              <a:spcBef>
                <a:spcPts val="1090"/>
              </a:spcBef>
            </a:pPr>
            <a:r>
              <a:rPr lang="en-IN" sz="6000" spc="110" dirty="0">
                <a:solidFill>
                  <a:srgbClr val="282828"/>
                </a:solidFill>
                <a:latin typeface="+mj-lt"/>
                <a:cs typeface="Arial MT"/>
              </a:rPr>
              <a:t>Image </a:t>
            </a:r>
            <a:r>
              <a:rPr sz="6000" spc="-130" dirty="0">
                <a:solidFill>
                  <a:srgbClr val="242424"/>
                </a:solidFill>
                <a:latin typeface="+mj-lt"/>
                <a:cs typeface="Arial MT"/>
              </a:rPr>
              <a:t>Enhancement</a:t>
            </a:r>
            <a:r>
              <a:rPr lang="en-IN" sz="6000" spc="-130" dirty="0">
                <a:solidFill>
                  <a:srgbClr val="242424"/>
                </a:solidFill>
                <a:latin typeface="+mj-lt"/>
                <a:cs typeface="Arial MT"/>
              </a:rPr>
              <a:t> </a:t>
            </a:r>
            <a:r>
              <a:rPr sz="6000" spc="-35" dirty="0">
                <a:solidFill>
                  <a:srgbClr val="2A2A2A"/>
                </a:solidFill>
                <a:latin typeface="+mj-lt"/>
              </a:rPr>
              <a:t>&amp;</a:t>
            </a:r>
            <a:r>
              <a:rPr lang="en-IN" sz="6000" spc="-35" dirty="0">
                <a:solidFill>
                  <a:srgbClr val="2A2A2A"/>
                </a:solidFill>
                <a:latin typeface="+mj-lt"/>
              </a:rPr>
              <a:t>  Image</a:t>
            </a:r>
            <a:r>
              <a:rPr sz="6000" spc="-225" dirty="0">
                <a:solidFill>
                  <a:srgbClr val="2A2A2A"/>
                </a:solidFill>
                <a:latin typeface="+mj-lt"/>
              </a:rPr>
              <a:t> </a:t>
            </a:r>
            <a:r>
              <a:rPr sz="6000" spc="290" dirty="0">
                <a:solidFill>
                  <a:srgbClr val="282828"/>
                </a:solidFill>
                <a:latin typeface="+mj-lt"/>
              </a:rPr>
              <a:t>Restoration</a:t>
            </a:r>
            <a:r>
              <a:rPr lang="en-IN" sz="6000" spc="290" dirty="0">
                <a:solidFill>
                  <a:srgbClr val="282828"/>
                </a:solidFill>
                <a:latin typeface="+mj-lt"/>
              </a:rPr>
              <a:t>n</a:t>
            </a:r>
            <a:endParaRPr sz="6000" dirty="0">
              <a:latin typeface="+mj-l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8500" y="7442200"/>
            <a:ext cx="10414000" cy="571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039600" y="7442200"/>
            <a:ext cx="4737100" cy="571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1200" y="2336800"/>
            <a:ext cx="16052800" cy="44831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257" rIns="0" bIns="0" rtlCol="0">
            <a:spAutoFit/>
          </a:bodyPr>
          <a:lstStyle/>
          <a:p>
            <a:pPr marL="2743835">
              <a:lnSpc>
                <a:spcPct val="100000"/>
              </a:lnSpc>
              <a:spcBef>
                <a:spcPts val="114"/>
              </a:spcBef>
            </a:pPr>
            <a:r>
              <a:rPr sz="5400" dirty="0">
                <a:solidFill>
                  <a:srgbClr val="242424"/>
                </a:solidFill>
              </a:rPr>
              <a:t>The</a:t>
            </a:r>
            <a:r>
              <a:rPr sz="5400" spc="-150" dirty="0">
                <a:solidFill>
                  <a:srgbClr val="242424"/>
                </a:solidFill>
              </a:rPr>
              <a:t> </a:t>
            </a:r>
            <a:r>
              <a:rPr sz="5400" spc="-30" dirty="0">
                <a:solidFill>
                  <a:srgbClr val="262626"/>
                </a:solidFill>
              </a:rPr>
              <a:t>Three</a:t>
            </a:r>
            <a:r>
              <a:rPr sz="5400" spc="-165" dirty="0">
                <a:solidFill>
                  <a:srgbClr val="262626"/>
                </a:solidFill>
              </a:rPr>
              <a:t> </a:t>
            </a:r>
            <a:r>
              <a:rPr sz="5400" spc="145" dirty="0">
                <a:solidFill>
                  <a:srgbClr val="232323"/>
                </a:solidFill>
              </a:rPr>
              <a:t>Pillars</a:t>
            </a:r>
            <a:r>
              <a:rPr sz="5400" spc="-105" dirty="0">
                <a:solidFill>
                  <a:srgbClr val="232323"/>
                </a:solidFill>
              </a:rPr>
              <a:t> </a:t>
            </a:r>
            <a:r>
              <a:rPr sz="5400" spc="-114" dirty="0">
                <a:solidFill>
                  <a:srgbClr val="2D2D2D"/>
                </a:solidFill>
              </a:rPr>
              <a:t>of</a:t>
            </a:r>
            <a:r>
              <a:rPr sz="5400" spc="-225" dirty="0">
                <a:solidFill>
                  <a:srgbClr val="2D2D2D"/>
                </a:solidFill>
              </a:rPr>
              <a:t> </a:t>
            </a:r>
            <a:r>
              <a:rPr sz="5400" spc="130" dirty="0">
                <a:solidFill>
                  <a:srgbClr val="242424"/>
                </a:solidFill>
              </a:rPr>
              <a:t>Image</a:t>
            </a:r>
            <a:r>
              <a:rPr sz="5400" spc="-145" dirty="0">
                <a:solidFill>
                  <a:srgbClr val="242424"/>
                </a:solidFill>
              </a:rPr>
              <a:t> </a:t>
            </a:r>
            <a:r>
              <a:rPr sz="5400" spc="-10" dirty="0">
                <a:solidFill>
                  <a:srgbClr val="242424"/>
                </a:solidFill>
              </a:rPr>
              <a:t>Processing</a:t>
            </a:r>
            <a:endParaRPr sz="5400"/>
          </a:p>
        </p:txBody>
      </p:sp>
      <p:sp>
        <p:nvSpPr>
          <p:cNvPr id="6" name="object 6"/>
          <p:cNvSpPr txBox="1"/>
          <p:nvPr/>
        </p:nvSpPr>
        <p:spPr>
          <a:xfrm>
            <a:off x="1006928" y="3093155"/>
            <a:ext cx="4087495" cy="919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820"/>
              </a:lnSpc>
              <a:spcBef>
                <a:spcPts val="95"/>
              </a:spcBef>
            </a:pPr>
            <a:r>
              <a:rPr sz="3200" dirty="0">
                <a:solidFill>
                  <a:srgbClr val="212121"/>
                </a:solidFill>
                <a:latin typeface="Calibri"/>
                <a:cs typeface="Calibri"/>
              </a:rPr>
              <a:t>1.</a:t>
            </a:r>
            <a:r>
              <a:rPr sz="3200" spc="-6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3200" spc="-85" dirty="0">
                <a:solidFill>
                  <a:srgbClr val="0F0F0F"/>
                </a:solidFill>
                <a:latin typeface="Calibri"/>
                <a:cs typeface="Calibri"/>
              </a:rPr>
              <a:t>Histogram</a:t>
            </a:r>
            <a:r>
              <a:rPr sz="3200" spc="-6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3200" spc="-40" dirty="0">
                <a:solidFill>
                  <a:srgbClr val="111111"/>
                </a:solidFill>
                <a:latin typeface="Calibri"/>
                <a:cs typeface="Calibri"/>
              </a:rPr>
              <a:t>Equalization</a:t>
            </a:r>
            <a:endParaRPr sz="3200">
              <a:latin typeface="Calibri"/>
              <a:cs typeface="Calibri"/>
            </a:endParaRPr>
          </a:p>
          <a:p>
            <a:pPr marL="30480">
              <a:lnSpc>
                <a:spcPts val="3220"/>
              </a:lnSpc>
            </a:pPr>
            <a:r>
              <a:rPr sz="2700" spc="-120" dirty="0">
                <a:latin typeface="Calibri"/>
                <a:cs typeface="Calibri"/>
              </a:rPr>
              <a:t>Non-</a:t>
            </a:r>
            <a:r>
              <a:rPr sz="2700" spc="-55" dirty="0">
                <a:latin typeface="Calibri"/>
                <a:cs typeface="Calibri"/>
              </a:rPr>
              <a:t>Linear</a:t>
            </a:r>
            <a:r>
              <a:rPr sz="2700" spc="-35" dirty="0">
                <a:latin typeface="Calibri"/>
                <a:cs typeface="Calibri"/>
              </a:rPr>
              <a:t> Enhancement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89412" y="3093155"/>
            <a:ext cx="3482340" cy="919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">
              <a:lnSpc>
                <a:spcPts val="3820"/>
              </a:lnSpc>
              <a:spcBef>
                <a:spcPts val="95"/>
              </a:spcBef>
            </a:pPr>
            <a:r>
              <a:rPr sz="3200" dirty="0">
                <a:solidFill>
                  <a:srgbClr val="212121"/>
                </a:solidFill>
                <a:latin typeface="Calibri"/>
                <a:cs typeface="Calibri"/>
              </a:rPr>
              <a:t>2.</a:t>
            </a:r>
            <a:r>
              <a:rPr sz="3200" spc="-19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3200" spc="-50" dirty="0">
                <a:solidFill>
                  <a:srgbClr val="151515"/>
                </a:solidFill>
                <a:latin typeface="Calibri"/>
                <a:cs typeface="Calibri"/>
              </a:rPr>
              <a:t>Contrast</a:t>
            </a:r>
            <a:r>
              <a:rPr sz="3200" spc="-70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3200" spc="-50" dirty="0">
                <a:solidFill>
                  <a:srgbClr val="131313"/>
                </a:solidFill>
                <a:latin typeface="Calibri"/>
                <a:cs typeface="Calibri"/>
              </a:rPr>
              <a:t>Stretching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ts val="3220"/>
              </a:lnSpc>
            </a:pPr>
            <a:r>
              <a:rPr sz="2700" spc="-75" dirty="0">
                <a:latin typeface="Calibri"/>
                <a:cs typeface="Calibri"/>
              </a:rPr>
              <a:t>Linear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Enhancement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68310" y="8036630"/>
            <a:ext cx="2052955" cy="7727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indent="314325">
              <a:lnSpc>
                <a:spcPts val="2800"/>
              </a:lnSpc>
              <a:spcBef>
                <a:spcPts val="430"/>
              </a:spcBef>
            </a:pPr>
            <a:r>
              <a:rPr sz="2550" spc="-10" dirty="0">
                <a:latin typeface="Calibri"/>
                <a:cs typeface="Calibri"/>
              </a:rPr>
              <a:t>Subjective </a:t>
            </a:r>
            <a:r>
              <a:rPr sz="2550" spc="45" dirty="0">
                <a:latin typeface="Calibri"/>
                <a:cs typeface="Calibri"/>
              </a:rPr>
              <a:t>(Visual</a:t>
            </a:r>
            <a:r>
              <a:rPr sz="2550" spc="-100" dirty="0">
                <a:latin typeface="Calibri"/>
                <a:cs typeface="Calibri"/>
              </a:rPr>
              <a:t> </a:t>
            </a:r>
            <a:r>
              <a:rPr sz="2550" spc="-10" dirty="0">
                <a:latin typeface="Calibri"/>
                <a:cs typeface="Calibri"/>
              </a:rPr>
              <a:t>Appeal)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89269" y="3128433"/>
            <a:ext cx="3305175" cy="88074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00" dirty="0">
                <a:solidFill>
                  <a:srgbClr val="212121"/>
                </a:solidFill>
                <a:latin typeface="Calibri"/>
                <a:cs typeface="Calibri"/>
              </a:rPr>
              <a:t>3.</a:t>
            </a:r>
            <a:r>
              <a:rPr sz="2900" spc="1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900" spc="155" dirty="0">
                <a:solidFill>
                  <a:srgbClr val="181818"/>
                </a:solidFill>
                <a:latin typeface="Calibri"/>
                <a:cs typeface="Calibri"/>
              </a:rPr>
              <a:t>Image</a:t>
            </a:r>
            <a:r>
              <a:rPr sz="2900" spc="-3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111111"/>
                </a:solidFill>
                <a:latin typeface="Calibri"/>
                <a:cs typeface="Calibri"/>
              </a:rPr>
              <a:t>Restoration</a:t>
            </a:r>
            <a:endParaRPr sz="2900">
              <a:latin typeface="Calibri"/>
              <a:cs typeface="Calibri"/>
            </a:endParaRPr>
          </a:p>
          <a:p>
            <a:pPr marL="15240">
              <a:lnSpc>
                <a:spcPct val="100000"/>
              </a:lnSpc>
              <a:spcBef>
                <a:spcPts val="170"/>
              </a:spcBef>
            </a:pPr>
            <a:r>
              <a:rPr sz="2550" spc="-30" dirty="0">
                <a:latin typeface="Calibri"/>
                <a:cs typeface="Calibri"/>
              </a:rPr>
              <a:t>Objective</a:t>
            </a:r>
            <a:r>
              <a:rPr sz="2550" spc="-50" dirty="0">
                <a:latin typeface="Calibri"/>
                <a:cs typeface="Calibri"/>
              </a:rPr>
              <a:t> </a:t>
            </a:r>
            <a:r>
              <a:rPr sz="2550" spc="-10" dirty="0">
                <a:latin typeface="Calibri"/>
                <a:cs typeface="Calibri"/>
              </a:rPr>
              <a:t>Recovery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704203" y="8036630"/>
            <a:ext cx="3369945" cy="7727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indent="1046480">
              <a:lnSpc>
                <a:spcPts val="2800"/>
              </a:lnSpc>
              <a:spcBef>
                <a:spcPts val="430"/>
              </a:spcBef>
            </a:pPr>
            <a:r>
              <a:rPr sz="2550" spc="-10" dirty="0">
                <a:latin typeface="Calibri"/>
                <a:cs typeface="Calibri"/>
              </a:rPr>
              <a:t>Objective </a:t>
            </a:r>
            <a:r>
              <a:rPr sz="2550" dirty="0">
                <a:latin typeface="Calibri"/>
                <a:cs typeface="Calibri"/>
              </a:rPr>
              <a:t>(Mathematical</a:t>
            </a:r>
            <a:r>
              <a:rPr sz="2550" spc="-110" dirty="0">
                <a:latin typeface="Calibri"/>
                <a:cs typeface="Calibri"/>
              </a:rPr>
              <a:t> </a:t>
            </a:r>
            <a:r>
              <a:rPr sz="2550" spc="-10" dirty="0">
                <a:latin typeface="Calibri"/>
                <a:cs typeface="Calibri"/>
              </a:rPr>
              <a:t>Recovery)</a:t>
            </a:r>
            <a:endParaRPr sz="2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5000" y="749300"/>
            <a:ext cx="5016500" cy="7810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1800" y="336897"/>
            <a:ext cx="9253220" cy="1927225"/>
          </a:xfrm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sz="5950" dirty="0">
                <a:solidFill>
                  <a:srgbClr val="282828"/>
                </a:solidFill>
              </a:rPr>
              <a:t>Pillar</a:t>
            </a:r>
            <a:r>
              <a:rPr sz="5950" spc="-340" dirty="0">
                <a:solidFill>
                  <a:srgbClr val="282828"/>
                </a:solidFill>
              </a:rPr>
              <a:t> </a:t>
            </a:r>
            <a:r>
              <a:rPr sz="5950" spc="225" dirty="0">
                <a:solidFill>
                  <a:srgbClr val="2D2D2D"/>
                </a:solidFill>
              </a:rPr>
              <a:t>1:</a:t>
            </a:r>
            <a:r>
              <a:rPr sz="5950" spc="-525" dirty="0">
                <a:solidFill>
                  <a:srgbClr val="2D2D2D"/>
                </a:solidFill>
              </a:rPr>
              <a:t> </a:t>
            </a:r>
            <a:r>
              <a:rPr sz="5950" spc="-145" dirty="0">
                <a:solidFill>
                  <a:srgbClr val="2A2A2A"/>
                </a:solidFill>
              </a:rPr>
              <a:t>Histogram</a:t>
            </a:r>
            <a:r>
              <a:rPr sz="5950" spc="5" dirty="0">
                <a:solidFill>
                  <a:srgbClr val="2A2A2A"/>
                </a:solidFill>
              </a:rPr>
              <a:t> </a:t>
            </a:r>
            <a:r>
              <a:rPr sz="5950" spc="-80" dirty="0">
                <a:solidFill>
                  <a:srgbClr val="262626"/>
                </a:solidFill>
              </a:rPr>
              <a:t>Equalization</a:t>
            </a:r>
            <a:endParaRPr sz="5950"/>
          </a:p>
          <a:p>
            <a:pPr marL="33655">
              <a:lnSpc>
                <a:spcPct val="100000"/>
              </a:lnSpc>
              <a:spcBef>
                <a:spcPts val="1110"/>
              </a:spcBef>
            </a:pPr>
            <a:r>
              <a:rPr sz="4350" spc="-70" dirty="0">
                <a:solidFill>
                  <a:srgbClr val="1A1A1A"/>
                </a:solidFill>
              </a:rPr>
              <a:t>The</a:t>
            </a:r>
            <a:r>
              <a:rPr sz="4350" spc="-180" dirty="0">
                <a:solidFill>
                  <a:srgbClr val="1A1A1A"/>
                </a:solidFill>
              </a:rPr>
              <a:t> </a:t>
            </a:r>
            <a:r>
              <a:rPr sz="4350" spc="-110" dirty="0">
                <a:solidFill>
                  <a:srgbClr val="161616"/>
                </a:solidFill>
              </a:rPr>
              <a:t>Concept:</a:t>
            </a:r>
            <a:r>
              <a:rPr sz="4350" spc="-135" dirty="0">
                <a:solidFill>
                  <a:srgbClr val="161616"/>
                </a:solidFill>
              </a:rPr>
              <a:t> </a:t>
            </a:r>
            <a:r>
              <a:rPr sz="4350" spc="-65" dirty="0">
                <a:solidFill>
                  <a:srgbClr val="161616"/>
                </a:solidFill>
              </a:rPr>
              <a:t>Reshaping</a:t>
            </a:r>
            <a:r>
              <a:rPr sz="4350" spc="-40" dirty="0">
                <a:solidFill>
                  <a:srgbClr val="161616"/>
                </a:solidFill>
              </a:rPr>
              <a:t> </a:t>
            </a:r>
            <a:r>
              <a:rPr sz="4350" spc="-150" dirty="0"/>
              <a:t>the</a:t>
            </a:r>
            <a:r>
              <a:rPr sz="4350" spc="-100" dirty="0"/>
              <a:t> </a:t>
            </a:r>
            <a:r>
              <a:rPr sz="4350" spc="-20" dirty="0">
                <a:solidFill>
                  <a:srgbClr val="1A1A1A"/>
                </a:solidFill>
              </a:rPr>
              <a:t>Data</a:t>
            </a:r>
            <a:endParaRPr sz="4350"/>
          </a:p>
        </p:txBody>
      </p:sp>
      <p:sp>
        <p:nvSpPr>
          <p:cNvPr id="4" name="object 4"/>
          <p:cNvSpPr txBox="1"/>
          <p:nvPr/>
        </p:nvSpPr>
        <p:spPr>
          <a:xfrm>
            <a:off x="1024414" y="2778477"/>
            <a:ext cx="7430770" cy="582739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20675" marR="207645" indent="-307975">
              <a:lnSpc>
                <a:spcPts val="3550"/>
              </a:lnSpc>
              <a:spcBef>
                <a:spcPts val="730"/>
              </a:spcBef>
              <a:buChar char="•"/>
              <a:tabLst>
                <a:tab pos="330835" algn="l"/>
              </a:tabLst>
            </a:pPr>
            <a:r>
              <a:rPr sz="3450" spc="-40" dirty="0">
                <a:latin typeface="Calibri"/>
                <a:cs typeface="Calibri"/>
              </a:rPr>
              <a:t>Definition:</a:t>
            </a:r>
            <a:r>
              <a:rPr sz="3450" spc="-150" dirty="0">
                <a:latin typeface="Calibri"/>
                <a:cs typeface="Calibri"/>
              </a:rPr>
              <a:t> </a:t>
            </a:r>
            <a:r>
              <a:rPr sz="3450" spc="-140" dirty="0">
                <a:latin typeface="Calibri"/>
                <a:cs typeface="Calibri"/>
              </a:rPr>
              <a:t>A</a:t>
            </a:r>
            <a:r>
              <a:rPr sz="3450" spc="-145" dirty="0">
                <a:latin typeface="Calibri"/>
                <a:cs typeface="Calibri"/>
              </a:rPr>
              <a:t> </a:t>
            </a:r>
            <a:r>
              <a:rPr sz="3450" spc="-114" dirty="0">
                <a:latin typeface="Calibri"/>
                <a:cs typeface="Calibri"/>
              </a:rPr>
              <a:t>contrast</a:t>
            </a:r>
            <a:r>
              <a:rPr sz="3450" spc="-25" dirty="0">
                <a:latin typeface="Calibri"/>
                <a:cs typeface="Calibri"/>
              </a:rPr>
              <a:t> </a:t>
            </a:r>
            <a:r>
              <a:rPr sz="3450" spc="-75" dirty="0">
                <a:latin typeface="Calibri"/>
                <a:cs typeface="Calibri"/>
              </a:rPr>
              <a:t>enhancement 	</a:t>
            </a:r>
            <a:r>
              <a:rPr sz="3450" spc="-140" dirty="0">
                <a:latin typeface="Calibri"/>
                <a:cs typeface="Calibri"/>
              </a:rPr>
              <a:t>technique</a:t>
            </a:r>
            <a:r>
              <a:rPr sz="3450" spc="-55" dirty="0">
                <a:latin typeface="Calibri"/>
                <a:cs typeface="Calibri"/>
              </a:rPr>
              <a:t> </a:t>
            </a:r>
            <a:r>
              <a:rPr sz="3450" spc="-155" dirty="0">
                <a:latin typeface="Calibri"/>
                <a:cs typeface="Calibri"/>
              </a:rPr>
              <a:t>that</a:t>
            </a:r>
            <a:r>
              <a:rPr sz="3450" spc="-110" dirty="0">
                <a:latin typeface="Calibri"/>
                <a:cs typeface="Calibri"/>
              </a:rPr>
              <a:t> redistributes</a:t>
            </a:r>
            <a:r>
              <a:rPr sz="3450" spc="35" dirty="0">
                <a:latin typeface="Calibri"/>
                <a:cs typeface="Calibri"/>
              </a:rPr>
              <a:t> </a:t>
            </a:r>
            <a:r>
              <a:rPr sz="3450" spc="-145" dirty="0">
                <a:latin typeface="Calibri"/>
                <a:cs typeface="Calibri"/>
              </a:rPr>
              <a:t>gray</a:t>
            </a:r>
            <a:r>
              <a:rPr sz="3450" spc="-85" dirty="0">
                <a:latin typeface="Calibri"/>
                <a:cs typeface="Calibri"/>
              </a:rPr>
              <a:t> </a:t>
            </a:r>
            <a:r>
              <a:rPr sz="3450" spc="-65" dirty="0">
                <a:latin typeface="Calibri"/>
                <a:cs typeface="Calibri"/>
              </a:rPr>
              <a:t>levels</a:t>
            </a:r>
            <a:r>
              <a:rPr sz="3450" spc="-45" dirty="0">
                <a:latin typeface="Calibri"/>
                <a:cs typeface="Calibri"/>
              </a:rPr>
              <a:t> </a:t>
            </a:r>
            <a:r>
              <a:rPr sz="3450" spc="-25" dirty="0">
                <a:latin typeface="Calibri"/>
                <a:cs typeface="Calibri"/>
              </a:rPr>
              <a:t>to 	</a:t>
            </a:r>
            <a:r>
              <a:rPr sz="3450" spc="-85" dirty="0">
                <a:latin typeface="Calibri"/>
                <a:cs typeface="Calibri"/>
              </a:rPr>
              <a:t>increase</a:t>
            </a:r>
            <a:r>
              <a:rPr sz="3450" spc="-45" dirty="0">
                <a:latin typeface="Calibri"/>
                <a:cs typeface="Calibri"/>
              </a:rPr>
              <a:t> </a:t>
            </a:r>
            <a:r>
              <a:rPr sz="3450" spc="-105" dirty="0">
                <a:latin typeface="Calibri"/>
                <a:cs typeface="Calibri"/>
              </a:rPr>
              <a:t>global</a:t>
            </a:r>
            <a:r>
              <a:rPr sz="3450" spc="-90" dirty="0">
                <a:latin typeface="Calibri"/>
                <a:cs typeface="Calibri"/>
              </a:rPr>
              <a:t> </a:t>
            </a:r>
            <a:r>
              <a:rPr sz="3450" spc="-10" dirty="0">
                <a:latin typeface="Calibri"/>
                <a:cs typeface="Calibri"/>
              </a:rPr>
              <a:t>contrast.</a:t>
            </a:r>
            <a:endParaRPr sz="3450">
              <a:latin typeface="Calibri"/>
              <a:cs typeface="Calibri"/>
            </a:endParaRPr>
          </a:p>
          <a:p>
            <a:pPr marL="338455" marR="147955" indent="-326390">
              <a:lnSpc>
                <a:spcPts val="3600"/>
              </a:lnSpc>
              <a:spcBef>
                <a:spcPts val="1910"/>
              </a:spcBef>
              <a:buChar char="•"/>
              <a:tabLst>
                <a:tab pos="338455" algn="l"/>
                <a:tab pos="342265" algn="l"/>
              </a:tabLst>
            </a:pPr>
            <a:r>
              <a:rPr sz="3550" dirty="0">
                <a:latin typeface="Calibri"/>
                <a:cs typeface="Calibri"/>
              </a:rPr>
              <a:t>	</a:t>
            </a:r>
            <a:r>
              <a:rPr sz="3550" spc="-155" dirty="0">
                <a:latin typeface="Calibri"/>
                <a:cs typeface="Calibri"/>
              </a:rPr>
              <a:t>The</a:t>
            </a:r>
            <a:r>
              <a:rPr sz="3550" spc="-145" dirty="0">
                <a:latin typeface="Calibri"/>
                <a:cs typeface="Calibri"/>
              </a:rPr>
              <a:t> </a:t>
            </a:r>
            <a:r>
              <a:rPr sz="3550" spc="-105" dirty="0">
                <a:latin typeface="Calibri"/>
                <a:cs typeface="Calibri"/>
              </a:rPr>
              <a:t>Problem:</a:t>
            </a:r>
            <a:r>
              <a:rPr sz="3550" spc="-95" dirty="0">
                <a:latin typeface="Calibri"/>
                <a:cs typeface="Calibri"/>
              </a:rPr>
              <a:t> </a:t>
            </a:r>
            <a:r>
              <a:rPr sz="3550" spc="-350" dirty="0">
                <a:latin typeface="Calibri"/>
                <a:cs typeface="Calibri"/>
              </a:rPr>
              <a:t>When</a:t>
            </a:r>
            <a:r>
              <a:rPr sz="3550" dirty="0">
                <a:latin typeface="Calibri"/>
                <a:cs typeface="Calibri"/>
              </a:rPr>
              <a:t> </a:t>
            </a:r>
            <a:r>
              <a:rPr sz="3550" spc="-105" dirty="0">
                <a:latin typeface="Calibri"/>
                <a:cs typeface="Calibri"/>
              </a:rPr>
              <a:t>pixel</a:t>
            </a:r>
            <a:r>
              <a:rPr sz="3550" spc="-240" dirty="0">
                <a:latin typeface="Calibri"/>
                <a:cs typeface="Calibri"/>
              </a:rPr>
              <a:t> </a:t>
            </a:r>
            <a:r>
              <a:rPr sz="3550" spc="-140" dirty="0">
                <a:latin typeface="Calibri"/>
                <a:cs typeface="Calibri"/>
              </a:rPr>
              <a:t>intensities</a:t>
            </a:r>
            <a:r>
              <a:rPr sz="3550" spc="65" dirty="0">
                <a:latin typeface="Calibri"/>
                <a:cs typeface="Calibri"/>
              </a:rPr>
              <a:t> </a:t>
            </a:r>
            <a:r>
              <a:rPr sz="3550" spc="-25" dirty="0">
                <a:latin typeface="Calibri"/>
                <a:cs typeface="Calibri"/>
              </a:rPr>
              <a:t>are </a:t>
            </a:r>
            <a:r>
              <a:rPr sz="3550" spc="-155" dirty="0">
                <a:latin typeface="Calibri"/>
                <a:cs typeface="Calibri"/>
              </a:rPr>
              <a:t>clustered</a:t>
            </a:r>
            <a:r>
              <a:rPr sz="3550" spc="75" dirty="0">
                <a:latin typeface="Calibri"/>
                <a:cs typeface="Calibri"/>
              </a:rPr>
              <a:t> </a:t>
            </a:r>
            <a:r>
              <a:rPr sz="3550" spc="-170" dirty="0">
                <a:latin typeface="Calibri"/>
                <a:cs typeface="Calibri"/>
              </a:rPr>
              <a:t>in</a:t>
            </a:r>
            <a:r>
              <a:rPr sz="3550" spc="-114" dirty="0">
                <a:latin typeface="Calibri"/>
                <a:cs typeface="Calibri"/>
              </a:rPr>
              <a:t> </a:t>
            </a:r>
            <a:r>
              <a:rPr sz="3550" spc="114" dirty="0">
                <a:latin typeface="Calibri"/>
                <a:cs typeface="Calibri"/>
              </a:rPr>
              <a:t>a</a:t>
            </a:r>
            <a:r>
              <a:rPr sz="3550" spc="-445" dirty="0">
                <a:latin typeface="Calibri"/>
                <a:cs typeface="Calibri"/>
              </a:rPr>
              <a:t> </a:t>
            </a:r>
            <a:r>
              <a:rPr sz="3550" spc="-270" dirty="0">
                <a:latin typeface="Calibri"/>
                <a:cs typeface="Calibri"/>
              </a:rPr>
              <a:t>narrow</a:t>
            </a:r>
            <a:r>
              <a:rPr sz="3550" spc="45" dirty="0">
                <a:latin typeface="Calibri"/>
                <a:cs typeface="Calibri"/>
              </a:rPr>
              <a:t> </a:t>
            </a:r>
            <a:r>
              <a:rPr sz="3550" spc="-204" dirty="0">
                <a:latin typeface="Calibri"/>
                <a:cs typeface="Calibri"/>
              </a:rPr>
              <a:t>range</a:t>
            </a:r>
            <a:r>
              <a:rPr sz="3550" spc="10" dirty="0">
                <a:latin typeface="Calibri"/>
                <a:cs typeface="Calibri"/>
              </a:rPr>
              <a:t> </a:t>
            </a:r>
            <a:r>
              <a:rPr sz="3550" spc="-145" dirty="0">
                <a:latin typeface="Calibri"/>
                <a:cs typeface="Calibri"/>
              </a:rPr>
              <a:t>(e.g.,</a:t>
            </a:r>
            <a:r>
              <a:rPr sz="3550" spc="-25" dirty="0">
                <a:latin typeface="Calibri"/>
                <a:cs typeface="Calibri"/>
              </a:rPr>
              <a:t> </a:t>
            </a:r>
            <a:r>
              <a:rPr sz="3550" spc="-45" dirty="0">
                <a:latin typeface="Calibri"/>
                <a:cs typeface="Calibri"/>
              </a:rPr>
              <a:t>all</a:t>
            </a:r>
            <a:r>
              <a:rPr sz="3550" spc="-265" dirty="0">
                <a:latin typeface="Calibri"/>
                <a:cs typeface="Calibri"/>
              </a:rPr>
              <a:t> </a:t>
            </a:r>
            <a:r>
              <a:rPr sz="3550" spc="-70" dirty="0">
                <a:latin typeface="Calibri"/>
                <a:cs typeface="Calibri"/>
              </a:rPr>
              <a:t>dark), </a:t>
            </a:r>
            <a:r>
              <a:rPr sz="3550" spc="-145" dirty="0">
                <a:latin typeface="Calibri"/>
                <a:cs typeface="Calibri"/>
              </a:rPr>
              <a:t>details</a:t>
            </a:r>
            <a:r>
              <a:rPr sz="3550" spc="60" dirty="0">
                <a:latin typeface="Calibri"/>
                <a:cs typeface="Calibri"/>
              </a:rPr>
              <a:t> </a:t>
            </a:r>
            <a:r>
              <a:rPr sz="3550" spc="-185" dirty="0">
                <a:latin typeface="Calibri"/>
                <a:cs typeface="Calibri"/>
              </a:rPr>
              <a:t>are</a:t>
            </a:r>
            <a:r>
              <a:rPr sz="3550" spc="-114" dirty="0">
                <a:latin typeface="Calibri"/>
                <a:cs typeface="Calibri"/>
              </a:rPr>
              <a:t> </a:t>
            </a:r>
            <a:r>
              <a:rPr sz="3550" spc="-170" dirty="0">
                <a:latin typeface="Calibri"/>
                <a:cs typeface="Calibri"/>
              </a:rPr>
              <a:t>mathematically</a:t>
            </a:r>
            <a:r>
              <a:rPr sz="3550" spc="-145" dirty="0">
                <a:latin typeface="Calibri"/>
                <a:cs typeface="Calibri"/>
              </a:rPr>
              <a:t> </a:t>
            </a:r>
            <a:r>
              <a:rPr sz="3550" spc="-10" dirty="0">
                <a:latin typeface="Calibri"/>
                <a:cs typeface="Calibri"/>
              </a:rPr>
              <a:t>hidden.</a:t>
            </a:r>
            <a:endParaRPr sz="3550">
              <a:latin typeface="Calibri"/>
              <a:cs typeface="Calibri"/>
            </a:endParaRPr>
          </a:p>
          <a:p>
            <a:pPr marL="338455" marR="5080" indent="-326390">
              <a:lnSpc>
                <a:spcPts val="3600"/>
              </a:lnSpc>
              <a:spcBef>
                <a:spcPts val="1900"/>
              </a:spcBef>
              <a:buChar char="•"/>
              <a:tabLst>
                <a:tab pos="338455" algn="l"/>
                <a:tab pos="342265" algn="l"/>
              </a:tabLst>
            </a:pPr>
            <a:r>
              <a:rPr sz="3550" dirty="0">
                <a:latin typeface="Calibri"/>
                <a:cs typeface="Calibri"/>
              </a:rPr>
              <a:t>	</a:t>
            </a:r>
            <a:r>
              <a:rPr sz="3550" spc="-155" dirty="0">
                <a:latin typeface="Calibri"/>
                <a:cs typeface="Calibri"/>
              </a:rPr>
              <a:t>The</a:t>
            </a:r>
            <a:r>
              <a:rPr sz="3550" spc="-85" dirty="0">
                <a:latin typeface="Calibri"/>
                <a:cs typeface="Calibri"/>
              </a:rPr>
              <a:t> Solution:</a:t>
            </a:r>
            <a:r>
              <a:rPr sz="3550" spc="-65" dirty="0">
                <a:latin typeface="Calibri"/>
                <a:cs typeface="Calibri"/>
              </a:rPr>
              <a:t> </a:t>
            </a:r>
            <a:r>
              <a:rPr sz="3550" spc="-225" dirty="0">
                <a:latin typeface="Calibri"/>
                <a:cs typeface="Calibri"/>
              </a:rPr>
              <a:t>The</a:t>
            </a:r>
            <a:r>
              <a:rPr sz="3550" spc="-95" dirty="0">
                <a:latin typeface="Calibri"/>
                <a:cs typeface="Calibri"/>
              </a:rPr>
              <a:t> </a:t>
            </a:r>
            <a:r>
              <a:rPr sz="3550" spc="-185" dirty="0">
                <a:latin typeface="Calibri"/>
                <a:cs typeface="Calibri"/>
              </a:rPr>
              <a:t>algorithm</a:t>
            </a:r>
            <a:r>
              <a:rPr sz="3550" spc="165" dirty="0">
                <a:latin typeface="Calibri"/>
                <a:cs typeface="Calibri"/>
              </a:rPr>
              <a:t> </a:t>
            </a:r>
            <a:r>
              <a:rPr sz="3550" spc="-165" dirty="0">
                <a:latin typeface="Calibri"/>
                <a:cs typeface="Calibri"/>
              </a:rPr>
              <a:t>spreads</a:t>
            </a:r>
            <a:r>
              <a:rPr sz="3550" spc="-35" dirty="0">
                <a:latin typeface="Calibri"/>
                <a:cs typeface="Calibri"/>
              </a:rPr>
              <a:t> </a:t>
            </a:r>
            <a:r>
              <a:rPr sz="3550" spc="-50" dirty="0">
                <a:latin typeface="Calibri"/>
                <a:cs typeface="Calibri"/>
              </a:rPr>
              <a:t>these </a:t>
            </a:r>
            <a:r>
              <a:rPr sz="3550" spc="-210" dirty="0">
                <a:latin typeface="Calibri"/>
                <a:cs typeface="Calibri"/>
              </a:rPr>
              <a:t>frequent</a:t>
            </a:r>
            <a:r>
              <a:rPr sz="3550" spc="10" dirty="0">
                <a:latin typeface="Calibri"/>
                <a:cs typeface="Calibri"/>
              </a:rPr>
              <a:t> </a:t>
            </a:r>
            <a:r>
              <a:rPr sz="3550" spc="-170" dirty="0">
                <a:latin typeface="Calibri"/>
                <a:cs typeface="Calibri"/>
              </a:rPr>
              <a:t>values</a:t>
            </a:r>
            <a:r>
              <a:rPr sz="3550" spc="-30" dirty="0">
                <a:latin typeface="Calibri"/>
                <a:cs typeface="Calibri"/>
              </a:rPr>
              <a:t> </a:t>
            </a:r>
            <a:r>
              <a:rPr sz="3550" spc="-215" dirty="0">
                <a:latin typeface="Calibri"/>
                <a:cs typeface="Calibri"/>
              </a:rPr>
              <a:t>out,</a:t>
            </a:r>
            <a:r>
              <a:rPr sz="3550" spc="-45" dirty="0">
                <a:latin typeface="Calibri"/>
                <a:cs typeface="Calibri"/>
              </a:rPr>
              <a:t> </a:t>
            </a:r>
            <a:r>
              <a:rPr sz="3550" spc="-125" dirty="0">
                <a:latin typeface="Calibri"/>
                <a:cs typeface="Calibri"/>
              </a:rPr>
              <a:t>utilizing</a:t>
            </a:r>
            <a:r>
              <a:rPr sz="3550" spc="50" dirty="0">
                <a:latin typeface="Calibri"/>
                <a:cs typeface="Calibri"/>
              </a:rPr>
              <a:t> </a:t>
            </a:r>
            <a:r>
              <a:rPr sz="3550" spc="-220" dirty="0">
                <a:latin typeface="Calibri"/>
                <a:cs typeface="Calibri"/>
              </a:rPr>
              <a:t>the</a:t>
            </a:r>
            <a:r>
              <a:rPr sz="3550" spc="-145" dirty="0">
                <a:latin typeface="Calibri"/>
                <a:cs typeface="Calibri"/>
              </a:rPr>
              <a:t> </a:t>
            </a:r>
            <a:r>
              <a:rPr sz="3550" spc="-20" dirty="0">
                <a:latin typeface="Calibri"/>
                <a:cs typeface="Calibri"/>
              </a:rPr>
              <a:t>full </a:t>
            </a:r>
            <a:r>
              <a:rPr sz="3550" spc="-145" dirty="0">
                <a:latin typeface="Calibri"/>
                <a:cs typeface="Calibri"/>
              </a:rPr>
              <a:t>display</a:t>
            </a:r>
            <a:r>
              <a:rPr sz="3550" spc="-50" dirty="0">
                <a:latin typeface="Calibri"/>
                <a:cs typeface="Calibri"/>
              </a:rPr>
              <a:t> </a:t>
            </a:r>
            <a:r>
              <a:rPr sz="3550" spc="-10" dirty="0">
                <a:latin typeface="Calibri"/>
                <a:cs typeface="Calibri"/>
              </a:rPr>
              <a:t>range.</a:t>
            </a:r>
            <a:endParaRPr sz="3550">
              <a:latin typeface="Calibri"/>
              <a:cs typeface="Calibri"/>
            </a:endParaRPr>
          </a:p>
          <a:p>
            <a:pPr marL="320040" marR="322580" indent="-307975">
              <a:lnSpc>
                <a:spcPts val="3550"/>
              </a:lnSpc>
              <a:spcBef>
                <a:spcPts val="1889"/>
              </a:spcBef>
              <a:buChar char="•"/>
              <a:tabLst>
                <a:tab pos="321945" algn="l"/>
              </a:tabLst>
            </a:pPr>
            <a:r>
              <a:rPr sz="3550" spc="-40" dirty="0">
                <a:latin typeface="Calibri"/>
                <a:cs typeface="Calibri"/>
              </a:rPr>
              <a:t>Key</a:t>
            </a:r>
            <a:r>
              <a:rPr sz="3550" spc="-160" dirty="0">
                <a:latin typeface="Calibri"/>
                <a:cs typeface="Calibri"/>
              </a:rPr>
              <a:t> </a:t>
            </a:r>
            <a:r>
              <a:rPr sz="3550" spc="-120" dirty="0">
                <a:latin typeface="Calibri"/>
                <a:cs typeface="Calibri"/>
              </a:rPr>
              <a:t>Use</a:t>
            </a:r>
            <a:r>
              <a:rPr sz="3550" spc="-125" dirty="0">
                <a:latin typeface="Calibri"/>
                <a:cs typeface="Calibri"/>
              </a:rPr>
              <a:t> </a:t>
            </a:r>
            <a:r>
              <a:rPr sz="3550" spc="-25" dirty="0">
                <a:latin typeface="Calibri"/>
                <a:cs typeface="Calibri"/>
              </a:rPr>
              <a:t>Cases:</a:t>
            </a:r>
            <a:r>
              <a:rPr sz="3550" spc="-175" dirty="0">
                <a:latin typeface="Calibri"/>
                <a:cs typeface="Calibri"/>
              </a:rPr>
              <a:t> </a:t>
            </a:r>
            <a:r>
              <a:rPr sz="3550" spc="-210" dirty="0">
                <a:latin typeface="Calibri"/>
                <a:cs typeface="Calibri"/>
              </a:rPr>
              <a:t>Medical</a:t>
            </a:r>
            <a:r>
              <a:rPr sz="3550" spc="-90" dirty="0">
                <a:latin typeface="Calibri"/>
                <a:cs typeface="Calibri"/>
              </a:rPr>
              <a:t> </a:t>
            </a:r>
            <a:r>
              <a:rPr sz="3550" spc="-130" dirty="0">
                <a:latin typeface="Calibri"/>
                <a:cs typeface="Calibri"/>
              </a:rPr>
              <a:t>X-</a:t>
            </a:r>
            <a:r>
              <a:rPr sz="3550" spc="-90" dirty="0">
                <a:latin typeface="Calibri"/>
                <a:cs typeface="Calibri"/>
              </a:rPr>
              <a:t>Rays,</a:t>
            </a:r>
            <a:r>
              <a:rPr sz="3550" spc="45" dirty="0">
                <a:latin typeface="Calibri"/>
                <a:cs typeface="Calibri"/>
              </a:rPr>
              <a:t> </a:t>
            </a:r>
            <a:r>
              <a:rPr sz="3550" spc="-80" dirty="0">
                <a:latin typeface="Calibri"/>
                <a:cs typeface="Calibri"/>
              </a:rPr>
              <a:t>Satellite 	</a:t>
            </a:r>
            <a:r>
              <a:rPr sz="3550" spc="-150" dirty="0">
                <a:latin typeface="Calibri"/>
                <a:cs typeface="Calibri"/>
              </a:rPr>
              <a:t>Imagery,</a:t>
            </a:r>
            <a:r>
              <a:rPr sz="3550" spc="-25" dirty="0">
                <a:latin typeface="Calibri"/>
                <a:cs typeface="Calibri"/>
              </a:rPr>
              <a:t> </a:t>
            </a:r>
            <a:r>
              <a:rPr sz="3550" spc="-204" dirty="0">
                <a:latin typeface="Calibri"/>
                <a:cs typeface="Calibri"/>
              </a:rPr>
              <a:t>Low-</a:t>
            </a:r>
            <a:r>
              <a:rPr sz="3550" spc="-120" dirty="0">
                <a:latin typeface="Calibri"/>
                <a:cs typeface="Calibri"/>
              </a:rPr>
              <a:t>light</a:t>
            </a:r>
            <a:r>
              <a:rPr sz="3550" spc="-50" dirty="0">
                <a:latin typeface="Calibri"/>
                <a:cs typeface="Calibri"/>
              </a:rPr>
              <a:t> </a:t>
            </a:r>
            <a:r>
              <a:rPr sz="3550" spc="-114" dirty="0">
                <a:latin typeface="Calibri"/>
                <a:cs typeface="Calibri"/>
              </a:rPr>
              <a:t>Photography.</a:t>
            </a:r>
            <a:endParaRPr sz="35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24366" y="4230863"/>
            <a:ext cx="4046854" cy="480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50" spc="-95" dirty="0">
                <a:latin typeface="Calibri"/>
                <a:cs typeface="Calibri"/>
              </a:rPr>
              <a:t>Original</a:t>
            </a:r>
            <a:r>
              <a:rPr sz="2950" spc="-55" dirty="0">
                <a:latin typeface="Calibri"/>
                <a:cs typeface="Calibri"/>
              </a:rPr>
              <a:t> </a:t>
            </a:r>
            <a:r>
              <a:rPr sz="2950" spc="-50" dirty="0">
                <a:latin typeface="Calibri"/>
                <a:cs typeface="Calibri"/>
              </a:rPr>
              <a:t>Data</a:t>
            </a:r>
            <a:r>
              <a:rPr sz="2950" spc="-155" dirty="0">
                <a:latin typeface="Calibri"/>
                <a:cs typeface="Calibri"/>
              </a:rPr>
              <a:t> </a:t>
            </a:r>
            <a:r>
              <a:rPr sz="2950" spc="-95" dirty="0">
                <a:latin typeface="Calibri"/>
                <a:cs typeface="Calibri"/>
              </a:rPr>
              <a:t>(Low</a:t>
            </a:r>
            <a:r>
              <a:rPr sz="2950" spc="-30" dirty="0">
                <a:latin typeface="Calibri"/>
                <a:cs typeface="Calibri"/>
              </a:rPr>
              <a:t> </a:t>
            </a:r>
            <a:r>
              <a:rPr sz="2950" spc="-75" dirty="0">
                <a:latin typeface="Calibri"/>
                <a:cs typeface="Calibri"/>
              </a:rPr>
              <a:t>Contrast)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30708" y="8597194"/>
            <a:ext cx="4417060" cy="4914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50" spc="-100" dirty="0">
                <a:latin typeface="Calibri"/>
                <a:cs typeface="Calibri"/>
              </a:rPr>
              <a:t>Equalized</a:t>
            </a:r>
            <a:r>
              <a:rPr sz="3050" spc="40" dirty="0">
                <a:latin typeface="Calibri"/>
                <a:cs typeface="Calibri"/>
              </a:rPr>
              <a:t> </a:t>
            </a:r>
            <a:r>
              <a:rPr sz="3050" spc="-125" dirty="0">
                <a:latin typeface="Calibri"/>
                <a:cs typeface="Calibri"/>
              </a:rPr>
              <a:t>Data</a:t>
            </a:r>
            <a:r>
              <a:rPr sz="3050" spc="-200" dirty="0">
                <a:latin typeface="Calibri"/>
                <a:cs typeface="Calibri"/>
              </a:rPr>
              <a:t> </a:t>
            </a:r>
            <a:r>
              <a:rPr sz="3050" spc="-114" dirty="0">
                <a:latin typeface="Calibri"/>
                <a:cs typeface="Calibri"/>
              </a:rPr>
              <a:t>(High</a:t>
            </a:r>
            <a:r>
              <a:rPr sz="3050" spc="-85" dirty="0">
                <a:latin typeface="Calibri"/>
                <a:cs typeface="Calibri"/>
              </a:rPr>
              <a:t> </a:t>
            </a:r>
            <a:r>
              <a:rPr sz="3050" spc="-114" dirty="0">
                <a:latin typeface="Calibri"/>
                <a:cs typeface="Calibri"/>
              </a:rPr>
              <a:t>Contrast)</a:t>
            </a:r>
            <a:endParaRPr sz="3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300" y="8204200"/>
            <a:ext cx="762000" cy="7874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067300" y="8242300"/>
            <a:ext cx="2336800" cy="736600"/>
            <a:chOff x="5067300" y="8242300"/>
            <a:chExt cx="2336800" cy="7366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67300" y="8445500"/>
              <a:ext cx="1549400" cy="2159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54800" y="8242300"/>
              <a:ext cx="749300" cy="736600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10833100" y="8267700"/>
            <a:ext cx="2336800" cy="723900"/>
            <a:chOff x="10833100" y="8267700"/>
            <a:chExt cx="2336800" cy="72390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33100" y="8445500"/>
              <a:ext cx="1549400" cy="2159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420600" y="8267700"/>
              <a:ext cx="749300" cy="723900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51300" y="5410200"/>
            <a:ext cx="876300" cy="9398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394200" y="2997200"/>
            <a:ext cx="3479800" cy="22352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280400" y="4445000"/>
            <a:ext cx="393700" cy="6350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763000" y="4368800"/>
            <a:ext cx="292100" cy="8255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804400" y="6223000"/>
            <a:ext cx="1143000" cy="87630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321800" y="4241800"/>
            <a:ext cx="1117600" cy="120650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591800" y="4584700"/>
            <a:ext cx="469900" cy="66040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214100" y="4368800"/>
            <a:ext cx="292100" cy="82550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607800" y="4597400"/>
            <a:ext cx="596900" cy="74930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2319000" y="4356100"/>
            <a:ext cx="292100" cy="83820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430000" y="2997200"/>
            <a:ext cx="1117600" cy="1193800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886794" y="652638"/>
            <a:ext cx="12375515" cy="14916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4290">
              <a:lnSpc>
                <a:spcPct val="100000"/>
              </a:lnSpc>
              <a:spcBef>
                <a:spcPts val="110"/>
              </a:spcBef>
            </a:pPr>
            <a:r>
              <a:rPr spc="240" dirty="0">
                <a:solidFill>
                  <a:srgbClr val="242424"/>
                </a:solidFill>
              </a:rPr>
              <a:t>The</a:t>
            </a:r>
            <a:r>
              <a:rPr spc="-305" dirty="0">
                <a:solidFill>
                  <a:srgbClr val="242424"/>
                </a:solidFill>
              </a:rPr>
              <a:t> </a:t>
            </a:r>
            <a:r>
              <a:rPr spc="60" dirty="0">
                <a:solidFill>
                  <a:srgbClr val="262626"/>
                </a:solidFill>
              </a:rPr>
              <a:t>Math</a:t>
            </a:r>
            <a:r>
              <a:rPr spc="-100" dirty="0">
                <a:solidFill>
                  <a:srgbClr val="262626"/>
                </a:solidFill>
              </a:rPr>
              <a:t> </a:t>
            </a:r>
            <a:r>
              <a:rPr spc="70" dirty="0">
                <a:solidFill>
                  <a:srgbClr val="232323"/>
                </a:solidFill>
              </a:rPr>
              <a:t>of</a:t>
            </a:r>
            <a:r>
              <a:rPr spc="-155" dirty="0">
                <a:solidFill>
                  <a:srgbClr val="232323"/>
                </a:solidFill>
              </a:rPr>
              <a:t> </a:t>
            </a:r>
            <a:r>
              <a:rPr spc="135" dirty="0">
                <a:solidFill>
                  <a:srgbClr val="1F1F1F"/>
                </a:solidFill>
              </a:rPr>
              <a:t>Equalization</a:t>
            </a: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00" dirty="0">
                <a:solidFill>
                  <a:srgbClr val="111111"/>
                </a:solidFill>
                <a:latin typeface="Arial MT"/>
                <a:cs typeface="Arial MT"/>
              </a:rPr>
              <a:t>Inside</a:t>
            </a:r>
            <a:r>
              <a:rPr sz="3400" spc="-8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sz="3400" spc="-14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3400" spc="-10" dirty="0">
                <a:solidFill>
                  <a:srgbClr val="0A0A0A"/>
                </a:solidFill>
                <a:latin typeface="Arial MT"/>
                <a:cs typeface="Arial MT"/>
              </a:rPr>
              <a:t>Black</a:t>
            </a:r>
            <a:r>
              <a:rPr sz="3400" spc="-5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3400" spc="-20" dirty="0">
                <a:solidFill>
                  <a:srgbClr val="0A0A0A"/>
                </a:solidFill>
                <a:latin typeface="Arial MT"/>
                <a:cs typeface="Arial MT"/>
              </a:rPr>
              <a:t>Box:</a:t>
            </a:r>
            <a:r>
              <a:rPr sz="3400" spc="-12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sz="3400" spc="-1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00000"/>
                </a:solidFill>
                <a:latin typeface="Arial MT"/>
                <a:cs typeface="Arial MT"/>
              </a:rPr>
              <a:t>Cumulative</a:t>
            </a:r>
            <a:r>
              <a:rPr sz="34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C0C0C"/>
                </a:solidFill>
                <a:latin typeface="Arial MT"/>
                <a:cs typeface="Arial MT"/>
              </a:rPr>
              <a:t>Distribution</a:t>
            </a:r>
            <a:r>
              <a:rPr sz="3400" spc="-5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C0C0C"/>
                </a:solidFill>
                <a:latin typeface="Arial MT"/>
                <a:cs typeface="Arial MT"/>
              </a:rPr>
              <a:t>Function</a:t>
            </a:r>
            <a:r>
              <a:rPr sz="3400" spc="10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3400" spc="-140" dirty="0">
                <a:solidFill>
                  <a:srgbClr val="0C0C0C"/>
                </a:solidFill>
                <a:latin typeface="Arial MT"/>
                <a:cs typeface="Arial MT"/>
              </a:rPr>
              <a:t>(CDF)</a:t>
            </a:r>
            <a:endParaRPr sz="3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44685" y="2664530"/>
            <a:ext cx="3016250" cy="745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855"/>
              </a:lnSpc>
              <a:spcBef>
                <a:spcPts val="120"/>
              </a:spcBef>
            </a:pPr>
            <a:r>
              <a:rPr sz="2550" dirty="0">
                <a:latin typeface="Calibri"/>
                <a:cs typeface="Calibri"/>
              </a:rPr>
              <a:t>Scaling</a:t>
            </a:r>
            <a:r>
              <a:rPr sz="2550" spc="-50" dirty="0">
                <a:latin typeface="Calibri"/>
                <a:cs typeface="Calibri"/>
              </a:rPr>
              <a:t> </a:t>
            </a:r>
            <a:r>
              <a:rPr sz="2550" spc="-35" dirty="0">
                <a:latin typeface="Calibri"/>
                <a:cs typeface="Calibri"/>
              </a:rPr>
              <a:t>Factor</a:t>
            </a:r>
            <a:r>
              <a:rPr sz="2550" spc="-55" dirty="0">
                <a:latin typeface="Calibri"/>
                <a:cs typeface="Calibri"/>
              </a:rPr>
              <a:t> </a:t>
            </a:r>
            <a:r>
              <a:rPr sz="2550" spc="-40" dirty="0">
                <a:latin typeface="Calibri"/>
                <a:cs typeface="Calibri"/>
              </a:rPr>
              <a:t>(typically</a:t>
            </a:r>
            <a:endParaRPr sz="2550">
              <a:latin typeface="Calibri"/>
              <a:cs typeface="Calibri"/>
            </a:endParaRPr>
          </a:p>
          <a:p>
            <a:pPr marL="18415">
              <a:lnSpc>
                <a:spcPts val="2795"/>
              </a:lnSpc>
            </a:pPr>
            <a:r>
              <a:rPr sz="2500" dirty="0">
                <a:latin typeface="Calibri"/>
                <a:cs typeface="Calibri"/>
              </a:rPr>
              <a:t>255</a:t>
            </a:r>
            <a:r>
              <a:rPr sz="2500" spc="-15" dirty="0">
                <a:latin typeface="Calibri"/>
                <a:cs typeface="Calibri"/>
              </a:rPr>
              <a:t> </a:t>
            </a:r>
            <a:r>
              <a:rPr sz="2500" spc="-35" dirty="0">
                <a:latin typeface="Calibri"/>
                <a:cs typeface="Calibri"/>
              </a:rPr>
              <a:t>for</a:t>
            </a:r>
            <a:r>
              <a:rPr sz="2500" spc="2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8-</a:t>
            </a:r>
            <a:r>
              <a:rPr sz="2500" dirty="0">
                <a:latin typeface="Calibri"/>
                <a:cs typeface="Calibri"/>
              </a:rPr>
              <a:t>bit</a:t>
            </a:r>
            <a:r>
              <a:rPr sz="2500" spc="-12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images).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20378" y="5893858"/>
            <a:ext cx="2197735" cy="704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11430" algn="r">
              <a:lnSpc>
                <a:spcPts val="2680"/>
              </a:lnSpc>
              <a:spcBef>
                <a:spcPts val="90"/>
              </a:spcBef>
            </a:pPr>
            <a:r>
              <a:rPr sz="2300" spc="-45" dirty="0">
                <a:latin typeface="Arial MT"/>
                <a:cs typeface="Arial MT"/>
              </a:rPr>
              <a:t>The</a:t>
            </a:r>
            <a:r>
              <a:rPr sz="2300" spc="-114" dirty="0">
                <a:latin typeface="Arial MT"/>
                <a:cs typeface="Arial MT"/>
              </a:rPr>
              <a:t> </a:t>
            </a:r>
            <a:r>
              <a:rPr sz="2300" spc="-20" dirty="0">
                <a:latin typeface="Arial MT"/>
                <a:cs typeface="Arial MT"/>
              </a:rPr>
              <a:t>new</a:t>
            </a:r>
            <a:r>
              <a:rPr sz="2300" spc="-125" dirty="0">
                <a:latin typeface="Arial MT"/>
                <a:cs typeface="Arial MT"/>
              </a:rPr>
              <a:t> </a:t>
            </a:r>
            <a:r>
              <a:rPr sz="2300" spc="-35" dirty="0">
                <a:latin typeface="Arial MT"/>
                <a:cs typeface="Arial MT"/>
              </a:rPr>
              <a:t>mapped</a:t>
            </a:r>
            <a:endParaRPr sz="2300">
              <a:latin typeface="Arial MT"/>
              <a:cs typeface="Arial MT"/>
            </a:endParaRPr>
          </a:p>
          <a:p>
            <a:pPr marR="5080" algn="r">
              <a:lnSpc>
                <a:spcPts val="2680"/>
              </a:lnSpc>
            </a:pPr>
            <a:r>
              <a:rPr sz="2300" spc="-20" dirty="0">
                <a:latin typeface="Arial MT"/>
                <a:cs typeface="Arial MT"/>
              </a:rPr>
              <a:t>pixel</a:t>
            </a:r>
            <a:r>
              <a:rPr sz="2300" spc="-10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value.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0316" y="8163983"/>
            <a:ext cx="4178300" cy="863600"/>
          </a:xfrm>
          <a:prstGeom prst="rect">
            <a:avLst/>
          </a:prstGeom>
          <a:ln w="12700">
            <a:solidFill>
              <a:srgbClr val="7C645B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923290">
              <a:lnSpc>
                <a:spcPct val="100000"/>
              </a:lnSpc>
              <a:spcBef>
                <a:spcPts val="615"/>
              </a:spcBef>
            </a:pPr>
            <a:r>
              <a:rPr sz="1950" spc="-125" dirty="0">
                <a:latin typeface="Arial MT"/>
                <a:cs typeface="Arial MT"/>
              </a:rPr>
              <a:t>1.</a:t>
            </a:r>
            <a:r>
              <a:rPr sz="1950" spc="25" dirty="0"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080808"/>
                </a:solidFill>
                <a:latin typeface="Arial MT"/>
                <a:cs typeface="Arial MT"/>
              </a:rPr>
              <a:t>Compute</a:t>
            </a:r>
            <a:r>
              <a:rPr sz="1950" spc="150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Histogram</a:t>
            </a:r>
            <a:endParaRPr sz="1950">
              <a:latin typeface="Arial MT"/>
              <a:cs typeface="Arial MT"/>
            </a:endParaRPr>
          </a:p>
          <a:p>
            <a:pPr marL="1176020" marR="896619" indent="-9525">
              <a:lnSpc>
                <a:spcPts val="1200"/>
              </a:lnSpc>
              <a:spcBef>
                <a:spcPts val="250"/>
              </a:spcBef>
            </a:pPr>
            <a:r>
              <a:rPr sz="1150" spc="-80" dirty="0">
                <a:solidFill>
                  <a:srgbClr val="3F3F3F"/>
                </a:solidFill>
                <a:latin typeface="Arial MT"/>
                <a:cs typeface="Arial MT"/>
              </a:rPr>
              <a:t>His</a:t>
            </a:r>
            <a:r>
              <a:rPr sz="1150" spc="55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50" spc="-65" dirty="0">
                <a:solidFill>
                  <a:srgbClr val="3F3F3F"/>
                </a:solidFill>
                <a:latin typeface="Arial MT"/>
                <a:cs typeface="Arial MT"/>
              </a:rPr>
              <a:t>ogi</a:t>
            </a:r>
            <a:r>
              <a:rPr sz="1150" spc="-19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50" spc="-55" dirty="0">
                <a:solidFill>
                  <a:srgbClr val="444444"/>
                </a:solidFill>
                <a:latin typeface="Arial MT"/>
                <a:cs typeface="Arial MT"/>
              </a:rPr>
              <a:t>a</a:t>
            </a:r>
            <a:r>
              <a:rPr sz="1150" spc="-55" dirty="0">
                <a:solidFill>
                  <a:srgbClr val="646464"/>
                </a:solidFill>
                <a:latin typeface="Arial MT"/>
                <a:cs typeface="Arial MT"/>
              </a:rPr>
              <a:t>in</a:t>
            </a:r>
            <a:r>
              <a:rPr sz="1150" spc="-145" dirty="0">
                <a:solidFill>
                  <a:srgbClr val="646464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B2B2B"/>
                </a:solidFill>
                <a:latin typeface="Arial MT"/>
                <a:cs typeface="Arial MT"/>
              </a:rPr>
              <a:t>noleu</a:t>
            </a:r>
            <a:r>
              <a:rPr sz="1150" spc="-135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1150" spc="-65" dirty="0">
                <a:solidFill>
                  <a:srgbClr val="3B3B3B"/>
                </a:solidFill>
                <a:latin typeface="Arial MT"/>
                <a:cs typeface="Arial MT"/>
              </a:rPr>
              <a:t>ins </a:t>
            </a:r>
            <a:r>
              <a:rPr sz="1150" spc="-110" dirty="0">
                <a:solidFill>
                  <a:srgbClr val="282828"/>
                </a:solidFill>
                <a:latin typeface="Arial MT"/>
                <a:cs typeface="Arial MT"/>
              </a:rPr>
              <a:t>an</a:t>
            </a:r>
            <a:r>
              <a:rPr sz="1150" spc="-9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150" spc="-60" dirty="0">
                <a:solidFill>
                  <a:srgbClr val="2F2F2F"/>
                </a:solidFill>
                <a:latin typeface="Arial MT"/>
                <a:cs typeface="Arial MT"/>
              </a:rPr>
              <a:t>atilonate</a:t>
            </a:r>
            <a:r>
              <a:rPr sz="1150" spc="9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150" spc="-65" dirty="0">
                <a:solidFill>
                  <a:srgbClr val="3B3B3B"/>
                </a:solidFill>
                <a:latin typeface="Arial MT"/>
                <a:cs typeface="Arial MT"/>
              </a:rPr>
              <a:t>ano </a:t>
            </a:r>
            <a:r>
              <a:rPr sz="1150" spc="-55" dirty="0">
                <a:solidFill>
                  <a:srgbClr val="3B3B3B"/>
                </a:solidFill>
                <a:latin typeface="Arial MT"/>
                <a:cs typeface="Arial MT"/>
              </a:rPr>
              <a:t>tomulnte</a:t>
            </a:r>
            <a:r>
              <a:rPr sz="1150" spc="35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1150" spc="-105" dirty="0">
                <a:solidFill>
                  <a:srgbClr val="3B3B3B"/>
                </a:solidFill>
                <a:latin typeface="Arial MT"/>
                <a:cs typeface="Arial MT"/>
              </a:rPr>
              <a:t>in</a:t>
            </a:r>
            <a:r>
              <a:rPr sz="1150" spc="5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1150" spc="-45" dirty="0">
                <a:solidFill>
                  <a:srgbClr val="3F3F3F"/>
                </a:solidFill>
                <a:latin typeface="Arial MT"/>
                <a:cs typeface="Arial MT"/>
              </a:rPr>
              <a:t>8-</a:t>
            </a:r>
            <a:r>
              <a:rPr sz="1150" spc="-30" dirty="0">
                <a:solidFill>
                  <a:srgbClr val="3F3F3F"/>
                </a:solidFill>
                <a:latin typeface="Arial MT"/>
                <a:cs typeface="Arial MT"/>
              </a:rPr>
              <a:t>oit</a:t>
            </a:r>
            <a:r>
              <a:rPr sz="1150" spc="-6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333333"/>
                </a:solidFill>
                <a:latin typeface="Arial MT"/>
                <a:cs typeface="Arial MT"/>
              </a:rPr>
              <a:t>images.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442580" y="5369630"/>
            <a:ext cx="891540" cy="798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50" i="1" spc="120" dirty="0">
                <a:solidFill>
                  <a:srgbClr val="181818"/>
                </a:solidFill>
                <a:latin typeface="Cambria"/>
                <a:cs typeface="Cambria"/>
              </a:rPr>
              <a:t>j</a:t>
            </a:r>
            <a:r>
              <a:rPr sz="5050" i="1" spc="-455" dirty="0">
                <a:solidFill>
                  <a:srgbClr val="181818"/>
                </a:solidFill>
                <a:latin typeface="Cambria"/>
                <a:cs typeface="Cambria"/>
              </a:rPr>
              <a:t> </a:t>
            </a:r>
            <a:r>
              <a:rPr sz="5050" i="1" spc="-2530" dirty="0">
                <a:solidFill>
                  <a:srgbClr val="0F0F0F"/>
                </a:solidFill>
                <a:latin typeface="Cambria"/>
                <a:cs typeface="Cambria"/>
              </a:rPr>
              <a:t>—</a:t>
            </a:r>
            <a:r>
              <a:rPr sz="5050" i="1" spc="-815" dirty="0">
                <a:solidFill>
                  <a:srgbClr val="0F0F0F"/>
                </a:solidFill>
                <a:latin typeface="Cambria"/>
                <a:cs typeface="Cambria"/>
              </a:rPr>
              <a:t>-</a:t>
            </a:r>
            <a:r>
              <a:rPr sz="5050" i="1" spc="-1390" dirty="0">
                <a:solidFill>
                  <a:srgbClr val="0F0F0F"/>
                </a:solidFill>
                <a:latin typeface="Cambria"/>
                <a:cs typeface="Cambria"/>
              </a:rPr>
              <a:t>0</a:t>
            </a:r>
            <a:endParaRPr sz="505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18816" y="8163983"/>
            <a:ext cx="4165600" cy="850900"/>
          </a:xfrm>
          <a:prstGeom prst="rect">
            <a:avLst/>
          </a:prstGeom>
          <a:ln w="12700">
            <a:solidFill>
              <a:srgbClr val="7C645B"/>
            </a:solidFill>
          </a:ln>
        </p:spPr>
        <p:txBody>
          <a:bodyPr vert="horz" wrap="square" lIns="0" tIns="65405" rIns="0" bIns="0" rtlCol="0">
            <a:spAutoFit/>
          </a:bodyPr>
          <a:lstStyle/>
          <a:p>
            <a:pPr marR="1356360" algn="r">
              <a:lnSpc>
                <a:spcPts val="2405"/>
              </a:lnSpc>
              <a:spcBef>
                <a:spcPts val="515"/>
              </a:spcBef>
            </a:pPr>
            <a:r>
              <a:rPr sz="2050" spc="-70" dirty="0">
                <a:latin typeface="Arial MT"/>
                <a:cs typeface="Arial MT"/>
              </a:rPr>
              <a:t>2.</a:t>
            </a:r>
            <a:r>
              <a:rPr sz="2050" spc="-110" dirty="0">
                <a:latin typeface="Arial MT"/>
                <a:cs typeface="Arial MT"/>
              </a:rPr>
              <a:t> </a:t>
            </a:r>
            <a:r>
              <a:rPr sz="2050" spc="-10" dirty="0">
                <a:latin typeface="Arial MT"/>
                <a:cs typeface="Arial MT"/>
              </a:rPr>
              <a:t>Calculate</a:t>
            </a:r>
            <a:r>
              <a:rPr sz="2050" spc="-105" dirty="0">
                <a:latin typeface="Arial MT"/>
                <a:cs typeface="Arial MT"/>
              </a:rPr>
              <a:t> </a:t>
            </a:r>
            <a:r>
              <a:rPr sz="2050" spc="-25" dirty="0">
                <a:solidFill>
                  <a:srgbClr val="0C0C0C"/>
                </a:solidFill>
                <a:latin typeface="Arial MT"/>
                <a:cs typeface="Arial MT"/>
              </a:rPr>
              <a:t>CDF</a:t>
            </a:r>
            <a:endParaRPr sz="2050">
              <a:latin typeface="Arial MT"/>
              <a:cs typeface="Arial MT"/>
            </a:endParaRPr>
          </a:p>
          <a:p>
            <a:pPr marR="1358900" algn="r">
              <a:lnSpc>
                <a:spcPts val="2585"/>
              </a:lnSpc>
            </a:pPr>
            <a:r>
              <a:rPr sz="2200" spc="-170" dirty="0">
                <a:latin typeface="Arial MT"/>
                <a:cs typeface="Arial MT"/>
              </a:rPr>
              <a:t>(Running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Sum)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667159" y="2673350"/>
            <a:ext cx="3914140" cy="738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75"/>
              </a:lnSpc>
              <a:spcBef>
                <a:spcPts val="100"/>
              </a:spcBef>
            </a:pPr>
            <a:r>
              <a:rPr sz="2500" spc="-195" dirty="0">
                <a:latin typeface="Arial MT"/>
                <a:cs typeface="Arial MT"/>
              </a:rPr>
              <a:t>The</a:t>
            </a:r>
            <a:r>
              <a:rPr sz="2500" spc="-50" dirty="0">
                <a:latin typeface="Arial MT"/>
                <a:cs typeface="Arial MT"/>
              </a:rPr>
              <a:t> </a:t>
            </a:r>
            <a:r>
              <a:rPr sz="2500" spc="-150" dirty="0">
                <a:latin typeface="Arial MT"/>
                <a:cs typeface="Arial MT"/>
              </a:rPr>
              <a:t>normalized</a:t>
            </a:r>
            <a:r>
              <a:rPr sz="2500" spc="50" dirty="0">
                <a:latin typeface="Arial MT"/>
                <a:cs typeface="Arial MT"/>
              </a:rPr>
              <a:t> </a:t>
            </a:r>
            <a:r>
              <a:rPr sz="2500" spc="-45" dirty="0">
                <a:latin typeface="Arial MT"/>
                <a:cs typeface="Arial MT"/>
              </a:rPr>
              <a:t>histogram</a:t>
            </a:r>
            <a:endParaRPr sz="2500">
              <a:latin typeface="Arial MT"/>
              <a:cs typeface="Arial MT"/>
            </a:endParaRPr>
          </a:p>
          <a:p>
            <a:pPr marL="12700">
              <a:lnSpc>
                <a:spcPts val="2835"/>
              </a:lnSpc>
            </a:pPr>
            <a:r>
              <a:rPr sz="2550" spc="-114" dirty="0">
                <a:latin typeface="Arial MT"/>
                <a:cs typeface="Arial MT"/>
              </a:rPr>
              <a:t>(probability</a:t>
            </a:r>
            <a:r>
              <a:rPr sz="2550" spc="-15" dirty="0">
                <a:latin typeface="Arial MT"/>
                <a:cs typeface="Arial MT"/>
              </a:rPr>
              <a:t> </a:t>
            </a:r>
            <a:r>
              <a:rPr sz="2550" spc="-90" dirty="0">
                <a:latin typeface="Arial MT"/>
                <a:cs typeface="Arial MT"/>
              </a:rPr>
              <a:t>of</a:t>
            </a:r>
            <a:r>
              <a:rPr sz="2550" spc="-55" dirty="0">
                <a:latin typeface="Arial MT"/>
                <a:cs typeface="Arial MT"/>
              </a:rPr>
              <a:t> </a:t>
            </a:r>
            <a:r>
              <a:rPr sz="2550" spc="-235" dirty="0">
                <a:latin typeface="Arial MT"/>
                <a:cs typeface="Arial MT"/>
              </a:rPr>
              <a:t>each</a:t>
            </a:r>
            <a:r>
              <a:rPr sz="2550" spc="60" dirty="0">
                <a:latin typeface="Arial MT"/>
                <a:cs typeface="Arial MT"/>
              </a:rPr>
              <a:t> </a:t>
            </a:r>
            <a:r>
              <a:rPr sz="2550" spc="-204" dirty="0">
                <a:latin typeface="Arial MT"/>
                <a:cs typeface="Arial MT"/>
              </a:rPr>
              <a:t>gray</a:t>
            </a:r>
            <a:r>
              <a:rPr sz="2550" spc="10" dirty="0">
                <a:latin typeface="Arial MT"/>
                <a:cs typeface="Arial MT"/>
              </a:rPr>
              <a:t> </a:t>
            </a:r>
            <a:r>
              <a:rPr sz="2550" spc="-105" dirty="0">
                <a:latin typeface="Arial MT"/>
                <a:cs typeface="Arial MT"/>
              </a:rPr>
              <a:t>level).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063030" y="6471708"/>
            <a:ext cx="5541645" cy="103505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 indent="4445">
              <a:lnSpc>
                <a:spcPts val="2600"/>
              </a:lnSpc>
              <a:spcBef>
                <a:spcPts val="310"/>
              </a:spcBef>
            </a:pPr>
            <a:r>
              <a:rPr sz="2300" spc="-80" dirty="0">
                <a:latin typeface="Arial MT"/>
                <a:cs typeface="Arial MT"/>
              </a:rPr>
              <a:t>The </a:t>
            </a:r>
            <a:r>
              <a:rPr sz="2300" spc="-55" dirty="0">
                <a:latin typeface="Arial MT"/>
                <a:cs typeface="Arial MT"/>
              </a:rPr>
              <a:t>Cumulative</a:t>
            </a:r>
            <a:r>
              <a:rPr sz="2300" spc="-105" dirty="0">
                <a:latin typeface="Arial MT"/>
                <a:cs typeface="Arial MT"/>
              </a:rPr>
              <a:t> </a:t>
            </a:r>
            <a:r>
              <a:rPr sz="2300" spc="-20" dirty="0">
                <a:latin typeface="Arial MT"/>
                <a:cs typeface="Arial MT"/>
              </a:rPr>
              <a:t>Distribution</a:t>
            </a:r>
            <a:r>
              <a:rPr sz="2300" spc="-45" dirty="0">
                <a:latin typeface="Arial MT"/>
                <a:cs typeface="Arial MT"/>
              </a:rPr>
              <a:t> </a:t>
            </a:r>
            <a:r>
              <a:rPr sz="2300" spc="-30" dirty="0">
                <a:latin typeface="Arial MT"/>
                <a:cs typeface="Arial MT"/>
              </a:rPr>
              <a:t>Function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spc="-55" dirty="0">
                <a:latin typeface="Arial MT"/>
                <a:cs typeface="Arial MT"/>
              </a:rPr>
              <a:t>(CDF). </a:t>
            </a:r>
            <a:r>
              <a:rPr sz="2300" spc="-25" dirty="0">
                <a:latin typeface="Arial MT"/>
                <a:cs typeface="Arial MT"/>
              </a:rPr>
              <a:t>This</a:t>
            </a:r>
            <a:r>
              <a:rPr sz="2300" spc="-13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step</a:t>
            </a:r>
            <a:r>
              <a:rPr sz="2300" spc="-110" dirty="0">
                <a:latin typeface="Arial MT"/>
                <a:cs typeface="Arial MT"/>
              </a:rPr>
              <a:t> </a:t>
            </a:r>
            <a:r>
              <a:rPr sz="2300" spc="-100" dirty="0">
                <a:latin typeface="Arial MT"/>
                <a:cs typeface="Arial MT"/>
              </a:rPr>
              <a:t>sums</a:t>
            </a:r>
            <a:r>
              <a:rPr sz="2300" spc="-60" dirty="0">
                <a:latin typeface="Arial MT"/>
                <a:cs typeface="Arial MT"/>
              </a:rPr>
              <a:t> </a:t>
            </a:r>
            <a:r>
              <a:rPr sz="2300" spc="-25" dirty="0">
                <a:latin typeface="Arial MT"/>
                <a:cs typeface="Arial MT"/>
              </a:rPr>
              <a:t>previous</a:t>
            </a:r>
            <a:r>
              <a:rPr sz="2300" spc="-110" dirty="0">
                <a:latin typeface="Arial MT"/>
                <a:cs typeface="Arial MT"/>
              </a:rPr>
              <a:t> </a:t>
            </a:r>
            <a:r>
              <a:rPr sz="2300" spc="-20" dirty="0">
                <a:latin typeface="Arial MT"/>
                <a:cs typeface="Arial MT"/>
              </a:rPr>
              <a:t>probabilities</a:t>
            </a:r>
            <a:r>
              <a:rPr sz="2300" spc="75" dirty="0">
                <a:latin typeface="Arial MT"/>
                <a:cs typeface="Arial MT"/>
              </a:rPr>
              <a:t> </a:t>
            </a:r>
            <a:r>
              <a:rPr sz="2300" spc="-25" dirty="0">
                <a:latin typeface="Arial MT"/>
                <a:cs typeface="Arial MT"/>
              </a:rPr>
              <a:t>to </a:t>
            </a:r>
            <a:r>
              <a:rPr sz="2300" spc="-30" dirty="0">
                <a:latin typeface="Arial MT"/>
                <a:cs typeface="Arial MT"/>
              </a:rPr>
              <a:t>create</a:t>
            </a:r>
            <a:r>
              <a:rPr sz="2300" spc="-1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a</a:t>
            </a:r>
            <a:r>
              <a:rPr sz="2300" spc="-65" dirty="0">
                <a:latin typeface="Arial MT"/>
                <a:cs typeface="Arial MT"/>
              </a:rPr>
              <a:t> </a:t>
            </a:r>
            <a:r>
              <a:rPr sz="2300" spc="-55" dirty="0">
                <a:latin typeface="Arial MT"/>
                <a:cs typeface="Arial MT"/>
              </a:rPr>
              <a:t>ramping</a:t>
            </a:r>
            <a:r>
              <a:rPr sz="2300" spc="-105" dirty="0">
                <a:latin typeface="Arial MT"/>
                <a:cs typeface="Arial MT"/>
              </a:rPr>
              <a:t> </a:t>
            </a:r>
            <a:r>
              <a:rPr sz="2300" spc="-30" dirty="0">
                <a:latin typeface="Arial MT"/>
                <a:cs typeface="Arial MT"/>
              </a:rPr>
              <a:t>mapping</a:t>
            </a:r>
            <a:r>
              <a:rPr sz="2300" spc="-6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function.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384616" y="8163983"/>
            <a:ext cx="4178300" cy="863600"/>
          </a:xfrm>
          <a:prstGeom prst="rect">
            <a:avLst/>
          </a:prstGeom>
          <a:ln w="12700">
            <a:solidFill>
              <a:srgbClr val="7C645B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936625">
              <a:lnSpc>
                <a:spcPct val="100000"/>
              </a:lnSpc>
              <a:spcBef>
                <a:spcPts val="415"/>
              </a:spcBef>
            </a:pPr>
            <a:r>
              <a:rPr sz="2150" dirty="0">
                <a:solidFill>
                  <a:srgbClr val="080808"/>
                </a:solidFill>
                <a:latin typeface="Calibri"/>
                <a:cs typeface="Calibri"/>
              </a:rPr>
              <a:t>3.</a:t>
            </a:r>
            <a:r>
              <a:rPr sz="2150" spc="-135" dirty="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Map</a:t>
            </a:r>
            <a:r>
              <a:rPr sz="2150" spc="-1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Input</a:t>
            </a:r>
            <a:r>
              <a:rPr sz="2150" spc="-65" dirty="0">
                <a:latin typeface="Calibri"/>
                <a:cs typeface="Calibri"/>
              </a:rPr>
              <a:t> </a:t>
            </a:r>
            <a:r>
              <a:rPr sz="2150" spc="50" dirty="0">
                <a:solidFill>
                  <a:srgbClr val="0A0A0A"/>
                </a:solidFill>
                <a:latin typeface="Calibri"/>
                <a:cs typeface="Calibri"/>
              </a:rPr>
              <a:t>r</a:t>
            </a:r>
            <a:r>
              <a:rPr sz="2150" spc="-5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2150" spc="-20" dirty="0">
                <a:solidFill>
                  <a:srgbClr val="0F0F0F"/>
                </a:solidFill>
                <a:latin typeface="Calibri"/>
                <a:cs typeface="Calibri"/>
              </a:rPr>
              <a:t>to</a:t>
            </a:r>
            <a:r>
              <a:rPr sz="2150" spc="-9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0A0A0A"/>
                </a:solidFill>
                <a:latin typeface="Calibri"/>
                <a:cs typeface="Calibri"/>
              </a:rPr>
              <a:t>Output</a:t>
            </a:r>
            <a:r>
              <a:rPr sz="2150" spc="65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2150" spc="-50" dirty="0">
                <a:latin typeface="Calibri"/>
                <a:cs typeface="Calibri"/>
              </a:rPr>
              <a:t>s</a:t>
            </a:r>
            <a:endParaRPr sz="2150">
              <a:latin typeface="Calibri"/>
              <a:cs typeface="Calibri"/>
            </a:endParaRPr>
          </a:p>
          <a:p>
            <a:pPr marL="1203325">
              <a:lnSpc>
                <a:spcPct val="100000"/>
              </a:lnSpc>
              <a:spcBef>
                <a:spcPts val="70"/>
              </a:spcBef>
              <a:tabLst>
                <a:tab pos="1524635" algn="l"/>
              </a:tabLst>
            </a:pPr>
            <a:r>
              <a:rPr sz="1100" spc="-105" dirty="0">
                <a:solidFill>
                  <a:srgbClr val="484848"/>
                </a:solidFill>
                <a:latin typeface="Arial MT"/>
                <a:cs typeface="Arial MT"/>
              </a:rPr>
              <a:t>In</a:t>
            </a:r>
            <a:r>
              <a:rPr sz="1100" spc="-130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2D2D2D"/>
                </a:solidFill>
                <a:latin typeface="Arial MT"/>
                <a:cs typeface="Arial MT"/>
              </a:rPr>
              <a:t>#</a:t>
            </a:r>
            <a:r>
              <a:rPr sz="1100" dirty="0">
                <a:solidFill>
                  <a:srgbClr val="2D2D2D"/>
                </a:solidFill>
                <a:latin typeface="Arial MT"/>
                <a:cs typeface="Arial MT"/>
              </a:rPr>
              <a:t>	</a:t>
            </a:r>
            <a:r>
              <a:rPr sz="1100" spc="-55" dirty="0">
                <a:solidFill>
                  <a:srgbClr val="3A3A3A"/>
                </a:solidFill>
                <a:latin typeface="Arial MT"/>
                <a:cs typeface="Arial MT"/>
              </a:rPr>
              <a:t>process</a:t>
            </a:r>
            <a:r>
              <a:rPr sz="1100" spc="5" dirty="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sz="1100" spc="-145" dirty="0">
                <a:solidFill>
                  <a:srgbClr val="3F3F3F"/>
                </a:solidFill>
                <a:latin typeface="Arial MT"/>
                <a:cs typeface="Arial MT"/>
              </a:rPr>
              <a:t>ma</a:t>
            </a:r>
            <a:r>
              <a:rPr sz="1100" spc="-10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00" spc="-95" dirty="0">
                <a:solidFill>
                  <a:srgbClr val="383838"/>
                </a:solidFill>
                <a:latin typeface="Arial MT"/>
                <a:cs typeface="Arial MT"/>
              </a:rPr>
              <a:t>Aping</a:t>
            </a:r>
            <a:r>
              <a:rPr sz="1100" spc="-65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363636"/>
                </a:solidFill>
                <a:latin typeface="Arial MT"/>
                <a:cs typeface="Arial MT"/>
              </a:rPr>
              <a:t>diagram.</a:t>
            </a:r>
            <a:r>
              <a:rPr sz="1100" spc="3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1100" spc="-90" dirty="0">
                <a:solidFill>
                  <a:srgbClr val="444444"/>
                </a:solidFill>
                <a:latin typeface="Arial MT"/>
                <a:cs typeface="Arial MT"/>
              </a:rPr>
              <a:t>s,</a:t>
            </a:r>
            <a:r>
              <a:rPr sz="1100" spc="-10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3D3D3D"/>
                </a:solidFill>
                <a:latin typeface="Arial MT"/>
                <a:cs typeface="Arial MT"/>
              </a:rPr>
              <a:t>and</a:t>
            </a:r>
            <a:endParaRPr sz="1100">
              <a:latin typeface="Arial MT"/>
              <a:cs typeface="Arial MT"/>
            </a:endParaRPr>
          </a:p>
          <a:p>
            <a:pPr marL="1198245">
              <a:lnSpc>
                <a:spcPct val="100000"/>
              </a:lnSpc>
              <a:spcBef>
                <a:spcPts val="80"/>
              </a:spcBef>
            </a:pPr>
            <a:r>
              <a:rPr sz="900" dirty="0">
                <a:solidFill>
                  <a:srgbClr val="3D3D3D"/>
                </a:solidFill>
                <a:latin typeface="Arial MT"/>
                <a:cs typeface="Arial MT"/>
              </a:rPr>
              <a:t>Output</a:t>
            </a:r>
            <a:r>
              <a:rPr sz="900" spc="60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383838"/>
                </a:solidFill>
                <a:latin typeface="Arial MT"/>
                <a:cs typeface="Arial MT"/>
              </a:rPr>
              <a:t>Of</a:t>
            </a:r>
            <a:r>
              <a:rPr sz="900" spc="315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900" spc="50" dirty="0">
                <a:solidFill>
                  <a:srgbClr val="2F2F2F"/>
                </a:solidFill>
                <a:latin typeface="Arial MT"/>
                <a:cs typeface="Arial MT"/>
              </a:rPr>
              <a:t>input</a:t>
            </a:r>
            <a:r>
              <a:rPr sz="900" spc="3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3B3B3B"/>
                </a:solidFill>
                <a:latin typeface="Arial MT"/>
                <a:cs typeface="Arial MT"/>
              </a:rPr>
              <a:t>r</a:t>
            </a:r>
            <a:r>
              <a:rPr sz="900" spc="45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900" spc="70" dirty="0">
                <a:solidFill>
                  <a:srgbClr val="424242"/>
                </a:solidFill>
                <a:latin typeface="Arial MT"/>
                <a:cs typeface="Arial MT"/>
              </a:rPr>
              <a:t>a</a:t>
            </a:r>
            <a:r>
              <a:rPr sz="900" spc="285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343434"/>
                </a:solidFill>
                <a:latin typeface="Arial MT"/>
                <a:cs typeface="Arial MT"/>
              </a:rPr>
              <a:t>OUtput</a:t>
            </a:r>
            <a:r>
              <a:rPr sz="900" spc="19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4D4D4D"/>
                </a:solidFill>
                <a:latin typeface="Arial MT"/>
                <a:cs typeface="Arial MT"/>
              </a:rPr>
              <a:t>s.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658600" y="5659966"/>
            <a:ext cx="4470400" cy="2620645"/>
            <a:chOff x="11658600" y="5659966"/>
            <a:chExt cx="4470400" cy="26206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58600" y="5664199"/>
              <a:ext cx="4470400" cy="2603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660716" y="5659966"/>
              <a:ext cx="0" cy="2620645"/>
            </a:xfrm>
            <a:custGeom>
              <a:avLst/>
              <a:gdLst/>
              <a:ahLst/>
              <a:cxnLst/>
              <a:rect l="l" t="t" r="r" b="b"/>
              <a:pathLst>
                <a:path h="2620645">
                  <a:moveTo>
                    <a:pt x="0" y="26204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484F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1150600" y="2154767"/>
            <a:ext cx="5681345" cy="7052945"/>
            <a:chOff x="11150600" y="2154767"/>
            <a:chExt cx="5681345" cy="7052945"/>
          </a:xfrm>
        </p:grpSpPr>
        <p:sp>
          <p:nvSpPr>
            <p:cNvPr id="6" name="object 6"/>
            <p:cNvSpPr/>
            <p:nvPr/>
          </p:nvSpPr>
          <p:spPr>
            <a:xfrm>
              <a:off x="16816916" y="2154767"/>
              <a:ext cx="0" cy="7052945"/>
            </a:xfrm>
            <a:custGeom>
              <a:avLst/>
              <a:gdLst/>
              <a:ahLst/>
              <a:cxnLst/>
              <a:rect l="l" t="t" r="r" b="b"/>
              <a:pathLst>
                <a:path h="7052945">
                  <a:moveTo>
                    <a:pt x="0" y="705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484F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150600" y="9205383"/>
              <a:ext cx="5681345" cy="0"/>
            </a:xfrm>
            <a:custGeom>
              <a:avLst/>
              <a:gdLst/>
              <a:ahLst/>
              <a:cxnLst/>
              <a:rect l="l" t="t" r="r" b="b"/>
              <a:pathLst>
                <a:path w="5681344">
                  <a:moveTo>
                    <a:pt x="0" y="0"/>
                  </a:moveTo>
                  <a:lnTo>
                    <a:pt x="5681133" y="0"/>
                  </a:lnTo>
                </a:path>
              </a:pathLst>
            </a:custGeom>
            <a:ln w="4233">
              <a:solidFill>
                <a:srgbClr val="484F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658600" y="8265583"/>
              <a:ext cx="4512945" cy="0"/>
            </a:xfrm>
            <a:custGeom>
              <a:avLst/>
              <a:gdLst/>
              <a:ahLst/>
              <a:cxnLst/>
              <a:rect l="l" t="t" r="r" b="b"/>
              <a:pathLst>
                <a:path w="4512944">
                  <a:moveTo>
                    <a:pt x="0" y="0"/>
                  </a:moveTo>
                  <a:lnTo>
                    <a:pt x="4512733" y="0"/>
                  </a:lnTo>
                </a:path>
              </a:pathLst>
            </a:custGeom>
            <a:ln w="4233">
              <a:solidFill>
                <a:srgbClr val="484F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233295" y="6442646"/>
            <a:ext cx="331470" cy="11366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480"/>
              </a:lnSpc>
            </a:pPr>
            <a:r>
              <a:rPr sz="2150" spc="-160" dirty="0">
                <a:latin typeface="Arial MT"/>
                <a:cs typeface="Arial MT"/>
              </a:rPr>
              <a:t>Frequency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840438" y="434974"/>
            <a:ext cx="9377045" cy="1889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9660"/>
              </a:lnSpc>
              <a:spcBef>
                <a:spcPts val="125"/>
              </a:spcBef>
            </a:pPr>
            <a:r>
              <a:rPr sz="8100" spc="-305" dirty="0">
                <a:solidFill>
                  <a:srgbClr val="2A2A2A"/>
                </a:solidFill>
              </a:rPr>
              <a:t>Methods</a:t>
            </a:r>
            <a:r>
              <a:rPr sz="8100" spc="15" dirty="0">
                <a:solidFill>
                  <a:srgbClr val="2A2A2A"/>
                </a:solidFill>
              </a:rPr>
              <a:t> </a:t>
            </a:r>
            <a:r>
              <a:rPr sz="8100" spc="-885" dirty="0">
                <a:solidFill>
                  <a:srgbClr val="2D2D2D"/>
                </a:solidFill>
              </a:rPr>
              <a:t>&amp;</a:t>
            </a:r>
            <a:r>
              <a:rPr sz="8100" spc="-735" dirty="0">
                <a:solidFill>
                  <a:srgbClr val="2D2D2D"/>
                </a:solidFill>
              </a:rPr>
              <a:t> </a:t>
            </a:r>
            <a:r>
              <a:rPr sz="8100" spc="-70" dirty="0">
                <a:solidFill>
                  <a:srgbClr val="282828"/>
                </a:solidFill>
              </a:rPr>
              <a:t>Limitations</a:t>
            </a:r>
            <a:endParaRPr sz="8100"/>
          </a:p>
          <a:p>
            <a:pPr marL="45085">
              <a:lnSpc>
                <a:spcPts val="4980"/>
              </a:lnSpc>
            </a:pPr>
            <a:r>
              <a:rPr sz="4200" spc="-265" dirty="0">
                <a:solidFill>
                  <a:srgbClr val="000000"/>
                </a:solidFill>
              </a:rPr>
              <a:t>Why</a:t>
            </a:r>
            <a:r>
              <a:rPr sz="4200" spc="25" dirty="0">
                <a:solidFill>
                  <a:srgbClr val="000000"/>
                </a:solidFill>
              </a:rPr>
              <a:t> </a:t>
            </a:r>
            <a:r>
              <a:rPr sz="4200" spc="-85" dirty="0">
                <a:solidFill>
                  <a:srgbClr val="000000"/>
                </a:solidFill>
              </a:rPr>
              <a:t>Global</a:t>
            </a:r>
            <a:r>
              <a:rPr sz="4200" spc="-150" dirty="0">
                <a:solidFill>
                  <a:srgbClr val="000000"/>
                </a:solidFill>
              </a:rPr>
              <a:t> </a:t>
            </a:r>
            <a:r>
              <a:rPr sz="4200" spc="-80" dirty="0">
                <a:solidFill>
                  <a:srgbClr val="000000"/>
                </a:solidFill>
              </a:rPr>
              <a:t>Equalization</a:t>
            </a:r>
            <a:r>
              <a:rPr sz="4200" spc="-130" dirty="0">
                <a:solidFill>
                  <a:srgbClr val="000000"/>
                </a:solidFill>
              </a:rPr>
              <a:t> </a:t>
            </a:r>
            <a:r>
              <a:rPr sz="4200" spc="-35" dirty="0">
                <a:solidFill>
                  <a:srgbClr val="000000"/>
                </a:solidFill>
              </a:rPr>
              <a:t>isn't</a:t>
            </a:r>
            <a:r>
              <a:rPr sz="4200" spc="-160" dirty="0">
                <a:solidFill>
                  <a:srgbClr val="000000"/>
                </a:solidFill>
              </a:rPr>
              <a:t> </a:t>
            </a:r>
            <a:r>
              <a:rPr sz="4200" spc="-60" dirty="0">
                <a:solidFill>
                  <a:srgbClr val="000000"/>
                </a:solidFill>
              </a:rPr>
              <a:t>always</a:t>
            </a:r>
            <a:r>
              <a:rPr sz="4200" spc="-80" dirty="0">
                <a:solidFill>
                  <a:srgbClr val="000000"/>
                </a:solidFill>
              </a:rPr>
              <a:t> </a:t>
            </a:r>
            <a:r>
              <a:rPr sz="4200" spc="-70" dirty="0">
                <a:solidFill>
                  <a:srgbClr val="000000"/>
                </a:solidFill>
              </a:rPr>
              <a:t>enough.</a:t>
            </a:r>
            <a:endParaRPr sz="4200"/>
          </a:p>
        </p:txBody>
      </p:sp>
      <p:sp>
        <p:nvSpPr>
          <p:cNvPr id="11" name="object 11"/>
          <p:cNvSpPr txBox="1"/>
          <p:nvPr/>
        </p:nvSpPr>
        <p:spPr>
          <a:xfrm>
            <a:off x="897628" y="2818141"/>
            <a:ext cx="8086090" cy="294640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4350" dirty="0">
                <a:solidFill>
                  <a:srgbClr val="BF5B2A"/>
                </a:solidFill>
                <a:latin typeface="Calibri"/>
                <a:cs typeface="Calibri"/>
              </a:rPr>
              <a:t>The</a:t>
            </a:r>
            <a:r>
              <a:rPr sz="4350" spc="-35" dirty="0">
                <a:solidFill>
                  <a:srgbClr val="BF5B2A"/>
                </a:solidFill>
                <a:latin typeface="Calibri"/>
                <a:cs typeface="Calibri"/>
              </a:rPr>
              <a:t> </a:t>
            </a:r>
            <a:r>
              <a:rPr sz="4350" spc="-10" dirty="0">
                <a:solidFill>
                  <a:srgbClr val="BA5221"/>
                </a:solidFill>
                <a:latin typeface="Calibri"/>
                <a:cs typeface="Calibri"/>
              </a:rPr>
              <a:t>Limitation</a:t>
            </a:r>
            <a:endParaRPr sz="4350">
              <a:latin typeface="Calibri"/>
              <a:cs typeface="Calibri"/>
            </a:endParaRPr>
          </a:p>
          <a:p>
            <a:pPr marL="554355" marR="5080" indent="-353695">
              <a:lnSpc>
                <a:spcPts val="3900"/>
              </a:lnSpc>
              <a:spcBef>
                <a:spcPts val="1310"/>
              </a:spcBef>
              <a:buChar char="•"/>
              <a:tabLst>
                <a:tab pos="554355" algn="l"/>
                <a:tab pos="3833495" algn="l"/>
              </a:tabLst>
            </a:pPr>
            <a:r>
              <a:rPr sz="3650" spc="-90" dirty="0">
                <a:latin typeface="Calibri"/>
                <a:cs typeface="Calibri"/>
              </a:rPr>
              <a:t>Global</a:t>
            </a:r>
            <a:r>
              <a:rPr sz="3650" spc="-190" dirty="0">
                <a:latin typeface="Calibri"/>
                <a:cs typeface="Calibri"/>
              </a:rPr>
              <a:t> </a:t>
            </a:r>
            <a:r>
              <a:rPr sz="3650" spc="-114" dirty="0">
                <a:latin typeface="Calibri"/>
                <a:cs typeface="Calibri"/>
              </a:rPr>
              <a:t>equalization</a:t>
            </a:r>
            <a:r>
              <a:rPr sz="3650" spc="25" dirty="0">
                <a:latin typeface="Calibri"/>
                <a:cs typeface="Calibri"/>
              </a:rPr>
              <a:t> </a:t>
            </a:r>
            <a:r>
              <a:rPr sz="3650" spc="-110" dirty="0">
                <a:latin typeface="Calibri"/>
                <a:cs typeface="Calibri"/>
              </a:rPr>
              <a:t>treats</a:t>
            </a:r>
            <a:r>
              <a:rPr sz="3650" spc="-30" dirty="0">
                <a:latin typeface="Calibri"/>
                <a:cs typeface="Calibri"/>
              </a:rPr>
              <a:t> </a:t>
            </a:r>
            <a:r>
              <a:rPr sz="3650" spc="-120" dirty="0">
                <a:latin typeface="Calibri"/>
                <a:cs typeface="Calibri"/>
              </a:rPr>
              <a:t>the</a:t>
            </a:r>
            <a:r>
              <a:rPr sz="3650" spc="-85" dirty="0">
                <a:latin typeface="Calibri"/>
                <a:cs typeface="Calibri"/>
              </a:rPr>
              <a:t> </a:t>
            </a:r>
            <a:r>
              <a:rPr sz="3650" spc="-135" dirty="0">
                <a:latin typeface="Calibri"/>
                <a:cs typeface="Calibri"/>
              </a:rPr>
              <a:t>entire</a:t>
            </a:r>
            <a:r>
              <a:rPr sz="3650" spc="-55" dirty="0">
                <a:latin typeface="Calibri"/>
                <a:cs typeface="Calibri"/>
              </a:rPr>
              <a:t> </a:t>
            </a:r>
            <a:r>
              <a:rPr sz="3650" spc="-40" dirty="0">
                <a:latin typeface="Calibri"/>
                <a:cs typeface="Calibri"/>
              </a:rPr>
              <a:t>image </a:t>
            </a:r>
            <a:r>
              <a:rPr sz="3650" dirty="0">
                <a:latin typeface="Calibri"/>
                <a:cs typeface="Calibri"/>
              </a:rPr>
              <a:t>as</a:t>
            </a:r>
            <a:r>
              <a:rPr sz="3650" spc="-125" dirty="0">
                <a:latin typeface="Calibri"/>
                <a:cs typeface="Calibri"/>
              </a:rPr>
              <a:t> </a:t>
            </a:r>
            <a:r>
              <a:rPr sz="3650" spc="-170" dirty="0">
                <a:latin typeface="Calibri"/>
                <a:cs typeface="Calibri"/>
              </a:rPr>
              <a:t>one</a:t>
            </a:r>
            <a:r>
              <a:rPr sz="3650" spc="-35" dirty="0">
                <a:latin typeface="Calibri"/>
                <a:cs typeface="Calibri"/>
              </a:rPr>
              <a:t> </a:t>
            </a:r>
            <a:r>
              <a:rPr sz="3650" spc="-120" dirty="0">
                <a:latin typeface="Calibri"/>
                <a:cs typeface="Calibri"/>
              </a:rPr>
              <a:t>dataset.</a:t>
            </a:r>
            <a:r>
              <a:rPr sz="3650" spc="-50" dirty="0">
                <a:latin typeface="Calibri"/>
                <a:cs typeface="Calibri"/>
              </a:rPr>
              <a:t> </a:t>
            </a:r>
            <a:r>
              <a:rPr sz="3650" spc="-25" dirty="0">
                <a:latin typeface="Calibri"/>
                <a:cs typeface="Calibri"/>
              </a:rPr>
              <a:t>In</a:t>
            </a:r>
            <a:r>
              <a:rPr sz="3650" dirty="0">
                <a:latin typeface="Calibri"/>
                <a:cs typeface="Calibri"/>
              </a:rPr>
              <a:t>	</a:t>
            </a:r>
            <a:r>
              <a:rPr sz="3650" spc="-160" dirty="0">
                <a:latin typeface="Calibri"/>
                <a:cs typeface="Calibri"/>
              </a:rPr>
              <a:t>smooth</a:t>
            </a:r>
            <a:r>
              <a:rPr sz="3650" spc="-45" dirty="0">
                <a:latin typeface="Calibri"/>
                <a:cs typeface="Calibri"/>
              </a:rPr>
              <a:t> </a:t>
            </a:r>
            <a:r>
              <a:rPr sz="3650" spc="-70" dirty="0">
                <a:latin typeface="Calibri"/>
                <a:cs typeface="Calibri"/>
              </a:rPr>
              <a:t>areas,</a:t>
            </a:r>
            <a:r>
              <a:rPr sz="3650" spc="-140" dirty="0">
                <a:latin typeface="Calibri"/>
                <a:cs typeface="Calibri"/>
              </a:rPr>
              <a:t> </a:t>
            </a:r>
            <a:r>
              <a:rPr sz="3650" spc="-65" dirty="0">
                <a:latin typeface="Calibri"/>
                <a:cs typeface="Calibri"/>
              </a:rPr>
              <a:t>this</a:t>
            </a:r>
            <a:r>
              <a:rPr sz="3650" spc="-85" dirty="0">
                <a:latin typeface="Calibri"/>
                <a:cs typeface="Calibri"/>
              </a:rPr>
              <a:t> </a:t>
            </a:r>
            <a:r>
              <a:rPr sz="3650" spc="-25" dirty="0">
                <a:latin typeface="Calibri"/>
                <a:cs typeface="Calibri"/>
              </a:rPr>
              <a:t>can </a:t>
            </a:r>
            <a:r>
              <a:rPr sz="3650" spc="-70" dirty="0">
                <a:latin typeface="Calibri"/>
                <a:cs typeface="Calibri"/>
              </a:rPr>
              <a:t>aggressively</a:t>
            </a:r>
            <a:r>
              <a:rPr sz="3650" spc="-105" dirty="0">
                <a:latin typeface="Calibri"/>
                <a:cs typeface="Calibri"/>
              </a:rPr>
              <a:t> </a:t>
            </a:r>
            <a:r>
              <a:rPr sz="3650" spc="-95" dirty="0">
                <a:latin typeface="Calibri"/>
                <a:cs typeface="Calibri"/>
              </a:rPr>
              <a:t>amplify</a:t>
            </a:r>
            <a:r>
              <a:rPr sz="3650" spc="-114" dirty="0">
                <a:latin typeface="Calibri"/>
                <a:cs typeface="Calibri"/>
              </a:rPr>
              <a:t> background</a:t>
            </a:r>
            <a:r>
              <a:rPr sz="3650" spc="-40" dirty="0">
                <a:latin typeface="Calibri"/>
                <a:cs typeface="Calibri"/>
              </a:rPr>
              <a:t> </a:t>
            </a:r>
            <a:r>
              <a:rPr sz="3650" spc="-10" dirty="0">
                <a:latin typeface="Calibri"/>
                <a:cs typeface="Calibri"/>
              </a:rPr>
              <a:t>noise, </a:t>
            </a:r>
            <a:r>
              <a:rPr sz="3650" spc="-105" dirty="0">
                <a:latin typeface="Calibri"/>
                <a:cs typeface="Calibri"/>
              </a:rPr>
              <a:t>creating </a:t>
            </a:r>
            <a:r>
              <a:rPr sz="3650" dirty="0">
                <a:latin typeface="Calibri"/>
                <a:cs typeface="Calibri"/>
              </a:rPr>
              <a:t>a</a:t>
            </a:r>
            <a:r>
              <a:rPr sz="3650" spc="-150" dirty="0">
                <a:latin typeface="Calibri"/>
                <a:cs typeface="Calibri"/>
              </a:rPr>
              <a:t> </a:t>
            </a:r>
            <a:r>
              <a:rPr sz="3650" spc="-110" dirty="0">
                <a:latin typeface="Calibri"/>
                <a:cs typeface="Calibri"/>
              </a:rPr>
              <a:t>grainy</a:t>
            </a:r>
            <a:r>
              <a:rPr sz="3650" spc="-5" dirty="0">
                <a:latin typeface="Calibri"/>
                <a:cs typeface="Calibri"/>
              </a:rPr>
              <a:t> </a:t>
            </a:r>
            <a:r>
              <a:rPr sz="3650" spc="-20" dirty="0">
                <a:latin typeface="Calibri"/>
                <a:cs typeface="Calibri"/>
              </a:rPr>
              <a:t>texture.</a:t>
            </a:r>
            <a:endParaRPr sz="36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7628" y="6258643"/>
            <a:ext cx="8331200" cy="2463165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4350" dirty="0">
                <a:solidFill>
                  <a:srgbClr val="C15B2D"/>
                </a:solidFill>
                <a:latin typeface="Calibri"/>
                <a:cs typeface="Calibri"/>
              </a:rPr>
              <a:t>The</a:t>
            </a:r>
            <a:r>
              <a:rPr sz="4350" spc="30" dirty="0">
                <a:solidFill>
                  <a:srgbClr val="C15B2D"/>
                </a:solidFill>
                <a:latin typeface="Calibri"/>
                <a:cs typeface="Calibri"/>
              </a:rPr>
              <a:t> </a:t>
            </a:r>
            <a:r>
              <a:rPr sz="4350" dirty="0">
                <a:solidFill>
                  <a:srgbClr val="BA572A"/>
                </a:solidFill>
                <a:latin typeface="Calibri"/>
                <a:cs typeface="Calibri"/>
              </a:rPr>
              <a:t>Solution:</a:t>
            </a:r>
            <a:r>
              <a:rPr sz="4350" spc="215" dirty="0">
                <a:solidFill>
                  <a:srgbClr val="BA572A"/>
                </a:solidFill>
                <a:latin typeface="Calibri"/>
                <a:cs typeface="Calibri"/>
              </a:rPr>
              <a:t> </a:t>
            </a:r>
            <a:r>
              <a:rPr sz="4350" spc="135" dirty="0">
                <a:solidFill>
                  <a:srgbClr val="B54F21"/>
                </a:solidFill>
                <a:latin typeface="Calibri"/>
                <a:cs typeface="Calibri"/>
              </a:rPr>
              <a:t>CLAHE</a:t>
            </a:r>
            <a:endParaRPr sz="4350">
              <a:latin typeface="Calibri"/>
              <a:cs typeface="Calibri"/>
            </a:endParaRPr>
          </a:p>
          <a:p>
            <a:pPr marL="567055" indent="-527050">
              <a:lnSpc>
                <a:spcPts val="4140"/>
              </a:lnSpc>
              <a:spcBef>
                <a:spcPts val="830"/>
              </a:spcBef>
              <a:buAutoNum type="arabicPeriod"/>
              <a:tabLst>
                <a:tab pos="567055" algn="l"/>
              </a:tabLst>
            </a:pPr>
            <a:r>
              <a:rPr sz="3650" spc="-130" dirty="0">
                <a:latin typeface="Calibri"/>
                <a:cs typeface="Calibri"/>
              </a:rPr>
              <a:t>Adaptive:</a:t>
            </a:r>
            <a:r>
              <a:rPr sz="3650" spc="-30" dirty="0">
                <a:latin typeface="Calibri"/>
                <a:cs typeface="Calibri"/>
              </a:rPr>
              <a:t> </a:t>
            </a:r>
            <a:r>
              <a:rPr sz="3650" spc="-60" dirty="0">
                <a:latin typeface="Calibri"/>
                <a:cs typeface="Calibri"/>
              </a:rPr>
              <a:t>Breaks</a:t>
            </a:r>
            <a:r>
              <a:rPr sz="3650" spc="-95" dirty="0">
                <a:latin typeface="Calibri"/>
                <a:cs typeface="Calibri"/>
              </a:rPr>
              <a:t> </a:t>
            </a:r>
            <a:r>
              <a:rPr sz="3650" spc="-114" dirty="0">
                <a:latin typeface="Calibri"/>
                <a:cs typeface="Calibri"/>
              </a:rPr>
              <a:t>image</a:t>
            </a:r>
            <a:r>
              <a:rPr sz="3650" spc="-45" dirty="0">
                <a:latin typeface="Calibri"/>
                <a:cs typeface="Calibri"/>
              </a:rPr>
              <a:t> </a:t>
            </a:r>
            <a:r>
              <a:rPr sz="3650" spc="-170" dirty="0">
                <a:latin typeface="Calibri"/>
                <a:cs typeface="Calibri"/>
              </a:rPr>
              <a:t>into</a:t>
            </a:r>
            <a:r>
              <a:rPr sz="3650" spc="-40" dirty="0">
                <a:latin typeface="Calibri"/>
                <a:cs typeface="Calibri"/>
              </a:rPr>
              <a:t> </a:t>
            </a:r>
            <a:r>
              <a:rPr sz="3650" spc="-25" dirty="0">
                <a:latin typeface="Calibri"/>
                <a:cs typeface="Calibri"/>
              </a:rPr>
              <a:t>small</a:t>
            </a:r>
            <a:r>
              <a:rPr sz="3650" spc="-180" dirty="0">
                <a:latin typeface="Calibri"/>
                <a:cs typeface="Calibri"/>
              </a:rPr>
              <a:t> </a:t>
            </a:r>
            <a:r>
              <a:rPr sz="3650" spc="-10" dirty="0">
                <a:latin typeface="Calibri"/>
                <a:cs typeface="Calibri"/>
              </a:rPr>
              <a:t>tiles.</a:t>
            </a:r>
            <a:endParaRPr sz="3650">
              <a:latin typeface="Calibri"/>
              <a:cs typeface="Calibri"/>
            </a:endParaRPr>
          </a:p>
          <a:p>
            <a:pPr marL="552450" indent="-498475">
              <a:lnSpc>
                <a:spcPts val="3925"/>
              </a:lnSpc>
              <a:buAutoNum type="arabicPeriod"/>
              <a:tabLst>
                <a:tab pos="552450" algn="l"/>
              </a:tabLst>
            </a:pPr>
            <a:r>
              <a:rPr sz="3650" spc="-110" dirty="0">
                <a:latin typeface="Calibri"/>
                <a:cs typeface="Calibri"/>
              </a:rPr>
              <a:t>Contrast</a:t>
            </a:r>
            <a:r>
              <a:rPr sz="3650" spc="-105" dirty="0">
                <a:latin typeface="Calibri"/>
                <a:cs typeface="Calibri"/>
              </a:rPr>
              <a:t> </a:t>
            </a:r>
            <a:r>
              <a:rPr sz="3650" spc="-100" dirty="0">
                <a:latin typeface="Calibri"/>
                <a:cs typeface="Calibri"/>
              </a:rPr>
              <a:t>Limited:</a:t>
            </a:r>
            <a:r>
              <a:rPr sz="3650" spc="-110" dirty="0">
                <a:latin typeface="Calibri"/>
                <a:cs typeface="Calibri"/>
              </a:rPr>
              <a:t> </a:t>
            </a:r>
            <a:r>
              <a:rPr sz="3650" dirty="0">
                <a:latin typeface="Calibri"/>
                <a:cs typeface="Calibri"/>
              </a:rPr>
              <a:t>Clips</a:t>
            </a:r>
            <a:r>
              <a:rPr sz="3650" spc="-185" dirty="0">
                <a:latin typeface="Calibri"/>
                <a:cs typeface="Calibri"/>
              </a:rPr>
              <a:t> </a:t>
            </a:r>
            <a:r>
              <a:rPr sz="3650" spc="-170" dirty="0">
                <a:latin typeface="Calibri"/>
                <a:cs typeface="Calibri"/>
              </a:rPr>
              <a:t>the</a:t>
            </a:r>
            <a:r>
              <a:rPr sz="3650" spc="-40" dirty="0">
                <a:latin typeface="Calibri"/>
                <a:cs typeface="Calibri"/>
              </a:rPr>
              <a:t> </a:t>
            </a:r>
            <a:r>
              <a:rPr sz="3650" spc="-120" dirty="0">
                <a:latin typeface="Calibri"/>
                <a:cs typeface="Calibri"/>
              </a:rPr>
              <a:t>histogram</a:t>
            </a:r>
            <a:r>
              <a:rPr sz="3650" spc="40" dirty="0">
                <a:latin typeface="Calibri"/>
                <a:cs typeface="Calibri"/>
              </a:rPr>
              <a:t> </a:t>
            </a:r>
            <a:r>
              <a:rPr sz="3650" spc="-60" dirty="0">
                <a:latin typeface="Calibri"/>
                <a:cs typeface="Calibri"/>
              </a:rPr>
              <a:t>height</a:t>
            </a:r>
            <a:endParaRPr sz="3650">
              <a:latin typeface="Calibri"/>
              <a:cs typeface="Calibri"/>
            </a:endParaRPr>
          </a:p>
          <a:p>
            <a:pPr marL="554990">
              <a:lnSpc>
                <a:spcPts val="4105"/>
              </a:lnSpc>
            </a:pPr>
            <a:r>
              <a:rPr sz="3600" spc="-150" dirty="0">
                <a:latin typeface="Calibri"/>
                <a:cs typeface="Calibri"/>
              </a:rPr>
              <a:t>to</a:t>
            </a:r>
            <a:r>
              <a:rPr sz="3600" spc="-60" dirty="0">
                <a:latin typeface="Calibri"/>
                <a:cs typeface="Calibri"/>
              </a:rPr>
              <a:t> </a:t>
            </a:r>
            <a:r>
              <a:rPr sz="3600" spc="-105" dirty="0">
                <a:latin typeface="Calibri"/>
                <a:cs typeface="Calibri"/>
              </a:rPr>
              <a:t>prevent</a:t>
            </a:r>
            <a:r>
              <a:rPr sz="3600" spc="-90" dirty="0">
                <a:latin typeface="Calibri"/>
                <a:cs typeface="Calibri"/>
              </a:rPr>
              <a:t> </a:t>
            </a:r>
            <a:r>
              <a:rPr sz="3600" spc="-70" dirty="0">
                <a:latin typeface="Calibri"/>
                <a:cs typeface="Calibri"/>
              </a:rPr>
              <a:t>noise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amplification.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860616" y="1928283"/>
            <a:ext cx="5689600" cy="7073900"/>
          </a:xfrm>
          <a:prstGeom prst="rect">
            <a:avLst/>
          </a:prstGeom>
          <a:ln w="29633">
            <a:solidFill>
              <a:srgbClr val="AF572B"/>
            </a:solidFill>
          </a:ln>
        </p:spPr>
        <p:txBody>
          <a:bodyPr vert="horz" wrap="square" lIns="0" tIns="357505" rIns="0" bIns="0" rtlCol="0">
            <a:spAutoFit/>
          </a:bodyPr>
          <a:lstStyle/>
          <a:p>
            <a:pPr marL="598170">
              <a:lnSpc>
                <a:spcPct val="100000"/>
              </a:lnSpc>
              <a:spcBef>
                <a:spcPts val="2815"/>
              </a:spcBef>
            </a:pPr>
            <a:r>
              <a:rPr sz="4450" dirty="0">
                <a:solidFill>
                  <a:srgbClr val="B65426"/>
                </a:solidFill>
                <a:latin typeface="Calibri"/>
                <a:cs typeface="Calibri"/>
              </a:rPr>
              <a:t>Pro-</a:t>
            </a:r>
            <a:r>
              <a:rPr sz="4450" spc="-25" dirty="0">
                <a:solidFill>
                  <a:srgbClr val="B65426"/>
                </a:solidFill>
                <a:latin typeface="Calibri"/>
                <a:cs typeface="Calibri"/>
              </a:rPr>
              <a:t>Tip</a:t>
            </a:r>
            <a:endParaRPr sz="4450">
              <a:latin typeface="Calibri"/>
              <a:cs typeface="Calibri"/>
            </a:endParaRPr>
          </a:p>
          <a:p>
            <a:pPr marL="603885" marR="555625" indent="10795">
              <a:lnSpc>
                <a:spcPct val="84500"/>
              </a:lnSpc>
              <a:spcBef>
                <a:spcPts val="760"/>
              </a:spcBef>
            </a:pPr>
            <a:r>
              <a:rPr sz="2950" dirty="0">
                <a:latin typeface="Calibri"/>
                <a:cs typeface="Calibri"/>
              </a:rPr>
              <a:t>CLAHE</a:t>
            </a:r>
            <a:r>
              <a:rPr sz="2950" spc="-150" dirty="0">
                <a:latin typeface="Calibri"/>
                <a:cs typeface="Calibri"/>
              </a:rPr>
              <a:t> </a:t>
            </a:r>
            <a:r>
              <a:rPr sz="2950" dirty="0">
                <a:latin typeface="Calibri"/>
                <a:cs typeface="Calibri"/>
              </a:rPr>
              <a:t>is</a:t>
            </a:r>
            <a:r>
              <a:rPr sz="2950" spc="-165" dirty="0">
                <a:latin typeface="Calibri"/>
                <a:cs typeface="Calibri"/>
              </a:rPr>
              <a:t> </a:t>
            </a:r>
            <a:r>
              <a:rPr sz="2950" spc="-60" dirty="0">
                <a:latin typeface="Calibri"/>
                <a:cs typeface="Calibri"/>
              </a:rPr>
              <a:t>the</a:t>
            </a:r>
            <a:r>
              <a:rPr sz="2950" spc="-85" dirty="0">
                <a:latin typeface="Calibri"/>
                <a:cs typeface="Calibri"/>
              </a:rPr>
              <a:t> </a:t>
            </a:r>
            <a:r>
              <a:rPr sz="2950" spc="-50" dirty="0">
                <a:latin typeface="Calibri"/>
                <a:cs typeface="Calibri"/>
              </a:rPr>
              <a:t>Gold</a:t>
            </a:r>
            <a:r>
              <a:rPr sz="2950" spc="10" dirty="0">
                <a:latin typeface="Calibri"/>
                <a:cs typeface="Calibri"/>
              </a:rPr>
              <a:t> </a:t>
            </a:r>
            <a:r>
              <a:rPr sz="2950" spc="-55" dirty="0">
                <a:latin typeface="Calibri"/>
                <a:cs typeface="Calibri"/>
              </a:rPr>
              <a:t>Standard</a:t>
            </a:r>
            <a:r>
              <a:rPr sz="2950" spc="10" dirty="0">
                <a:latin typeface="Calibri"/>
                <a:cs typeface="Calibri"/>
              </a:rPr>
              <a:t> </a:t>
            </a:r>
            <a:r>
              <a:rPr sz="2950" spc="-75" dirty="0">
                <a:latin typeface="Calibri"/>
                <a:cs typeface="Calibri"/>
              </a:rPr>
              <a:t>for </a:t>
            </a:r>
            <a:r>
              <a:rPr sz="3050" spc="-95" dirty="0">
                <a:latin typeface="Calibri"/>
                <a:cs typeface="Calibri"/>
              </a:rPr>
              <a:t>medical</a:t>
            </a:r>
            <a:r>
              <a:rPr sz="3050" spc="-105" dirty="0">
                <a:latin typeface="Calibri"/>
                <a:cs typeface="Calibri"/>
              </a:rPr>
              <a:t> </a:t>
            </a:r>
            <a:r>
              <a:rPr sz="3050" spc="-130" dirty="0">
                <a:latin typeface="Calibri"/>
                <a:cs typeface="Calibri"/>
              </a:rPr>
              <a:t>imaging.</a:t>
            </a:r>
            <a:r>
              <a:rPr sz="3050" spc="-50" dirty="0">
                <a:latin typeface="Calibri"/>
                <a:cs typeface="Calibri"/>
              </a:rPr>
              <a:t> </a:t>
            </a:r>
            <a:r>
              <a:rPr sz="3050" dirty="0">
                <a:latin typeface="Calibri"/>
                <a:cs typeface="Calibri"/>
              </a:rPr>
              <a:t>It</a:t>
            </a:r>
            <a:r>
              <a:rPr sz="3050" spc="280" dirty="0">
                <a:latin typeface="Calibri"/>
                <a:cs typeface="Calibri"/>
              </a:rPr>
              <a:t> </a:t>
            </a:r>
            <a:r>
              <a:rPr sz="3050" spc="-30" dirty="0">
                <a:latin typeface="Calibri"/>
                <a:cs typeface="Calibri"/>
              </a:rPr>
              <a:t>improves </a:t>
            </a:r>
            <a:r>
              <a:rPr sz="3050" spc="-60" dirty="0">
                <a:latin typeface="Calibri"/>
                <a:cs typeface="Calibri"/>
              </a:rPr>
              <a:t>local</a:t>
            </a:r>
            <a:r>
              <a:rPr sz="3050" spc="-229" dirty="0">
                <a:latin typeface="Calibri"/>
                <a:cs typeface="Calibri"/>
              </a:rPr>
              <a:t> </a:t>
            </a:r>
            <a:r>
              <a:rPr sz="3050" spc="-100" dirty="0">
                <a:latin typeface="Calibri"/>
                <a:cs typeface="Calibri"/>
              </a:rPr>
              <a:t>contrast</a:t>
            </a:r>
            <a:r>
              <a:rPr sz="3050" spc="-55" dirty="0">
                <a:latin typeface="Calibri"/>
                <a:cs typeface="Calibri"/>
              </a:rPr>
              <a:t> </a:t>
            </a:r>
            <a:r>
              <a:rPr sz="3050" spc="-75" dirty="0">
                <a:latin typeface="Calibri"/>
                <a:cs typeface="Calibri"/>
              </a:rPr>
              <a:t>(seeing</a:t>
            </a:r>
            <a:r>
              <a:rPr sz="3050" spc="20" dirty="0">
                <a:latin typeface="Calibri"/>
                <a:cs typeface="Calibri"/>
              </a:rPr>
              <a:t> </a:t>
            </a:r>
            <a:r>
              <a:rPr sz="3050" spc="-180" dirty="0">
                <a:latin typeface="Calibri"/>
                <a:cs typeface="Calibri"/>
              </a:rPr>
              <a:t>the</a:t>
            </a:r>
            <a:r>
              <a:rPr sz="3050" spc="5" dirty="0">
                <a:latin typeface="Calibri"/>
                <a:cs typeface="Calibri"/>
              </a:rPr>
              <a:t> </a:t>
            </a:r>
            <a:r>
              <a:rPr sz="3050" spc="-35" dirty="0">
                <a:latin typeface="Calibri"/>
                <a:cs typeface="Calibri"/>
              </a:rPr>
              <a:t>bone </a:t>
            </a:r>
            <a:r>
              <a:rPr sz="2950" spc="-70" dirty="0">
                <a:latin typeface="Calibri"/>
                <a:cs typeface="Calibri"/>
              </a:rPr>
              <a:t>fracture)</a:t>
            </a:r>
            <a:r>
              <a:rPr sz="2950" spc="20" dirty="0">
                <a:latin typeface="Calibri"/>
                <a:cs typeface="Calibri"/>
              </a:rPr>
              <a:t> </a:t>
            </a:r>
            <a:r>
              <a:rPr sz="2950" spc="-120" dirty="0">
                <a:latin typeface="Calibri"/>
                <a:cs typeface="Calibri"/>
              </a:rPr>
              <a:t>without</a:t>
            </a:r>
            <a:r>
              <a:rPr sz="2950" spc="-45" dirty="0">
                <a:latin typeface="Calibri"/>
                <a:cs typeface="Calibri"/>
              </a:rPr>
              <a:t> </a:t>
            </a:r>
            <a:r>
              <a:rPr sz="2950" spc="-65" dirty="0">
                <a:latin typeface="Calibri"/>
                <a:cs typeface="Calibri"/>
              </a:rPr>
              <a:t>blowing</a:t>
            </a:r>
            <a:r>
              <a:rPr sz="2950" spc="-85" dirty="0">
                <a:latin typeface="Calibri"/>
                <a:cs typeface="Calibri"/>
              </a:rPr>
              <a:t> </a:t>
            </a:r>
            <a:r>
              <a:rPr sz="2950" spc="-25" dirty="0">
                <a:latin typeface="Calibri"/>
                <a:cs typeface="Calibri"/>
              </a:rPr>
              <a:t>out </a:t>
            </a:r>
            <a:r>
              <a:rPr sz="3050" spc="-165" dirty="0">
                <a:latin typeface="Calibri"/>
                <a:cs typeface="Calibri"/>
              </a:rPr>
              <a:t>the</a:t>
            </a:r>
            <a:r>
              <a:rPr sz="3050" spc="-60" dirty="0">
                <a:latin typeface="Calibri"/>
                <a:cs typeface="Calibri"/>
              </a:rPr>
              <a:t> </a:t>
            </a:r>
            <a:r>
              <a:rPr sz="3050" spc="-90" dirty="0">
                <a:latin typeface="Calibri"/>
                <a:cs typeface="Calibri"/>
              </a:rPr>
              <a:t>noise</a:t>
            </a:r>
            <a:r>
              <a:rPr sz="3050" spc="-60" dirty="0">
                <a:latin typeface="Calibri"/>
                <a:cs typeface="Calibri"/>
              </a:rPr>
              <a:t> </a:t>
            </a:r>
            <a:r>
              <a:rPr sz="3050" spc="-150" dirty="0">
                <a:latin typeface="Calibri"/>
                <a:cs typeface="Calibri"/>
              </a:rPr>
              <a:t>in</a:t>
            </a:r>
            <a:r>
              <a:rPr sz="3050" spc="-70" dirty="0">
                <a:latin typeface="Calibri"/>
                <a:cs typeface="Calibri"/>
              </a:rPr>
              <a:t> </a:t>
            </a:r>
            <a:r>
              <a:rPr sz="3050" spc="-125" dirty="0">
                <a:latin typeface="Calibri"/>
                <a:cs typeface="Calibri"/>
              </a:rPr>
              <a:t>the</a:t>
            </a:r>
            <a:r>
              <a:rPr sz="3050" spc="10" dirty="0">
                <a:latin typeface="Calibri"/>
                <a:cs typeface="Calibri"/>
              </a:rPr>
              <a:t> </a:t>
            </a:r>
            <a:r>
              <a:rPr sz="3050" spc="-114" dirty="0">
                <a:latin typeface="Calibri"/>
                <a:cs typeface="Calibri"/>
              </a:rPr>
              <a:t>soft</a:t>
            </a:r>
            <a:r>
              <a:rPr sz="3050" spc="-40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tissue.</a:t>
            </a:r>
            <a:endParaRPr sz="3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15"/>
              </a:spcBef>
            </a:pPr>
            <a:endParaRPr sz="3050">
              <a:latin typeface="Calibri"/>
              <a:cs typeface="Calibri"/>
            </a:endParaRPr>
          </a:p>
          <a:p>
            <a:pPr marL="3680460">
              <a:lnSpc>
                <a:spcPts val="2405"/>
              </a:lnSpc>
            </a:pPr>
            <a:r>
              <a:rPr sz="2050" dirty="0">
                <a:latin typeface="Calibri"/>
                <a:cs typeface="Calibri"/>
              </a:rPr>
              <a:t>Clipped</a:t>
            </a:r>
            <a:r>
              <a:rPr sz="2050" spc="10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Peak</a:t>
            </a:r>
            <a:endParaRPr sz="2050">
              <a:latin typeface="Calibri"/>
              <a:cs typeface="Calibri"/>
            </a:endParaRPr>
          </a:p>
          <a:p>
            <a:pPr marL="3671570">
              <a:lnSpc>
                <a:spcPts val="2345"/>
              </a:lnSpc>
            </a:pPr>
            <a:r>
              <a:rPr sz="2000" spc="-10" dirty="0">
                <a:latin typeface="Calibri"/>
                <a:cs typeface="Calibri"/>
              </a:rPr>
              <a:t>Redistributed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Calibri"/>
              <a:cs typeface="Calibri"/>
            </a:endParaRPr>
          </a:p>
          <a:p>
            <a:pPr marL="287655" algn="ctr">
              <a:lnSpc>
                <a:spcPct val="100000"/>
              </a:lnSpc>
            </a:pPr>
            <a:r>
              <a:rPr sz="2150" spc="-20" dirty="0">
                <a:latin typeface="Calibri"/>
                <a:cs typeface="Calibri"/>
              </a:rPr>
              <a:t>Pixel</a:t>
            </a:r>
            <a:r>
              <a:rPr sz="2150" spc="-11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Intensity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2000" y="4241800"/>
            <a:ext cx="6616700" cy="3289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24200" y="990600"/>
            <a:ext cx="635000" cy="5969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03300" y="6716183"/>
            <a:ext cx="7738745" cy="0"/>
          </a:xfrm>
          <a:custGeom>
            <a:avLst/>
            <a:gdLst/>
            <a:ahLst/>
            <a:cxnLst/>
            <a:rect l="l" t="t" r="r" b="b"/>
            <a:pathLst>
              <a:path w="7738745">
                <a:moveTo>
                  <a:pt x="0" y="0"/>
                </a:moveTo>
                <a:lnTo>
                  <a:pt x="7738533" y="0"/>
                </a:lnTo>
              </a:path>
            </a:pathLst>
          </a:custGeom>
          <a:ln w="4233">
            <a:solidFill>
              <a:srgbClr val="8364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03300" y="2880783"/>
            <a:ext cx="7738745" cy="0"/>
          </a:xfrm>
          <a:custGeom>
            <a:avLst/>
            <a:gdLst/>
            <a:ahLst/>
            <a:cxnLst/>
            <a:rect l="l" t="t" r="r" b="b"/>
            <a:pathLst>
              <a:path w="7738745">
                <a:moveTo>
                  <a:pt x="0" y="0"/>
                </a:moveTo>
                <a:lnTo>
                  <a:pt x="7738533" y="0"/>
                </a:lnTo>
              </a:path>
            </a:pathLst>
          </a:custGeom>
          <a:ln w="4233">
            <a:solidFill>
              <a:srgbClr val="607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639300" y="2880783"/>
            <a:ext cx="6849745" cy="0"/>
          </a:xfrm>
          <a:custGeom>
            <a:avLst/>
            <a:gdLst/>
            <a:ahLst/>
            <a:cxnLst/>
            <a:rect l="l" t="t" r="r" b="b"/>
            <a:pathLst>
              <a:path w="6849744">
                <a:moveTo>
                  <a:pt x="0" y="0"/>
                </a:moveTo>
                <a:lnTo>
                  <a:pt x="6849533" y="0"/>
                </a:lnTo>
              </a:path>
            </a:pathLst>
          </a:custGeom>
          <a:ln w="4233">
            <a:solidFill>
              <a:srgbClr val="976B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48632" y="688974"/>
            <a:ext cx="10550525" cy="17907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8134"/>
              </a:lnSpc>
              <a:spcBef>
                <a:spcPts val="125"/>
              </a:spcBef>
              <a:tabLst>
                <a:tab pos="3033395" algn="l"/>
              </a:tabLst>
            </a:pPr>
            <a:r>
              <a:rPr sz="6850" spc="-10" dirty="0">
                <a:solidFill>
                  <a:srgbClr val="262626"/>
                </a:solidFill>
                <a:latin typeface="Arial MT"/>
                <a:cs typeface="Arial MT"/>
              </a:rPr>
              <a:t>Pillar</a:t>
            </a:r>
            <a:r>
              <a:rPr sz="6850" dirty="0">
                <a:solidFill>
                  <a:srgbClr val="262626"/>
                </a:solidFill>
                <a:latin typeface="Arial MT"/>
                <a:cs typeface="Arial MT"/>
              </a:rPr>
              <a:t>	</a:t>
            </a:r>
            <a:r>
              <a:rPr sz="6850" dirty="0">
                <a:solidFill>
                  <a:srgbClr val="232323"/>
                </a:solidFill>
                <a:latin typeface="Arial MT"/>
                <a:cs typeface="Arial MT"/>
              </a:rPr>
              <a:t>Contrast</a:t>
            </a:r>
            <a:r>
              <a:rPr sz="6850" spc="-8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6850" spc="-10" dirty="0">
                <a:solidFill>
                  <a:srgbClr val="262626"/>
                </a:solidFill>
                <a:latin typeface="Arial MT"/>
                <a:cs typeface="Arial MT"/>
              </a:rPr>
              <a:t>Stretching</a:t>
            </a:r>
            <a:endParaRPr sz="6850">
              <a:latin typeface="Arial MT"/>
              <a:cs typeface="Arial MT"/>
            </a:endParaRPr>
          </a:p>
          <a:p>
            <a:pPr marL="49530">
              <a:lnSpc>
                <a:spcPts val="5735"/>
              </a:lnSpc>
            </a:pPr>
            <a:r>
              <a:rPr sz="4850" dirty="0">
                <a:solidFill>
                  <a:srgbClr val="5D7290"/>
                </a:solidFill>
              </a:rPr>
              <a:t>The</a:t>
            </a:r>
            <a:r>
              <a:rPr sz="4850" spc="-125" dirty="0">
                <a:solidFill>
                  <a:srgbClr val="5D7290"/>
                </a:solidFill>
              </a:rPr>
              <a:t> </a:t>
            </a:r>
            <a:r>
              <a:rPr sz="4850" dirty="0">
                <a:solidFill>
                  <a:srgbClr val="4F6485"/>
                </a:solidFill>
              </a:rPr>
              <a:t>Linear</a:t>
            </a:r>
            <a:r>
              <a:rPr sz="4850" spc="-35" dirty="0">
                <a:solidFill>
                  <a:srgbClr val="4F6485"/>
                </a:solidFill>
              </a:rPr>
              <a:t> </a:t>
            </a:r>
            <a:r>
              <a:rPr sz="4850" spc="-10" dirty="0">
                <a:solidFill>
                  <a:srgbClr val="4B668A"/>
                </a:solidFill>
              </a:rPr>
              <a:t>Approach</a:t>
            </a:r>
            <a:endParaRPr sz="4850"/>
          </a:p>
        </p:txBody>
      </p:sp>
      <p:sp>
        <p:nvSpPr>
          <p:cNvPr id="8" name="object 8"/>
          <p:cNvSpPr txBox="1"/>
          <p:nvPr/>
        </p:nvSpPr>
        <p:spPr>
          <a:xfrm>
            <a:off x="1064176" y="3231797"/>
            <a:ext cx="7350759" cy="304990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70840" marR="5080" indent="-358775">
              <a:lnSpc>
                <a:spcPts val="3600"/>
              </a:lnSpc>
              <a:spcBef>
                <a:spcPts val="620"/>
              </a:spcBef>
              <a:buClr>
                <a:srgbClr val="232323"/>
              </a:buClr>
              <a:buChar char="•"/>
              <a:tabLst>
                <a:tab pos="375920" algn="l"/>
              </a:tabLst>
            </a:pPr>
            <a:r>
              <a:rPr sz="3400" spc="-90" dirty="0">
                <a:latin typeface="Calibri"/>
                <a:cs typeface="Calibri"/>
              </a:rPr>
              <a:t>Definition:</a:t>
            </a:r>
            <a:r>
              <a:rPr sz="3400" spc="-95" dirty="0">
                <a:latin typeface="Calibri"/>
                <a:cs typeface="Calibri"/>
              </a:rPr>
              <a:t> </a:t>
            </a:r>
            <a:r>
              <a:rPr sz="3400" spc="-204" dirty="0">
                <a:latin typeface="Calibri"/>
                <a:cs typeface="Calibri"/>
              </a:rPr>
              <a:t>A</a:t>
            </a:r>
            <a:r>
              <a:rPr sz="3400" spc="-140" dirty="0">
                <a:latin typeface="Calibri"/>
                <a:cs typeface="Calibri"/>
              </a:rPr>
              <a:t> </a:t>
            </a:r>
            <a:r>
              <a:rPr sz="3400" spc="-110" dirty="0">
                <a:latin typeface="Calibri"/>
                <a:cs typeface="Calibri"/>
              </a:rPr>
              <a:t>linear</a:t>
            </a:r>
            <a:r>
              <a:rPr sz="3400" spc="-55" dirty="0">
                <a:latin typeface="Calibri"/>
                <a:cs typeface="Calibri"/>
              </a:rPr>
              <a:t> </a:t>
            </a:r>
            <a:r>
              <a:rPr sz="3400" spc="-85" dirty="0">
                <a:latin typeface="Calibri"/>
                <a:cs typeface="Calibri"/>
              </a:rPr>
              <a:t>scaling</a:t>
            </a:r>
            <a:r>
              <a:rPr sz="3400" spc="-100" dirty="0">
                <a:latin typeface="Calibri"/>
                <a:cs typeface="Calibri"/>
              </a:rPr>
              <a:t> </a:t>
            </a:r>
            <a:r>
              <a:rPr sz="3400" spc="-185" dirty="0">
                <a:latin typeface="Calibri"/>
                <a:cs typeface="Calibri"/>
              </a:rPr>
              <a:t>method</a:t>
            </a:r>
            <a:r>
              <a:rPr sz="3400" spc="65" dirty="0">
                <a:latin typeface="Calibri"/>
                <a:cs typeface="Calibri"/>
              </a:rPr>
              <a:t> </a:t>
            </a:r>
            <a:r>
              <a:rPr sz="3400" spc="-20" dirty="0">
                <a:latin typeface="Calibri"/>
                <a:cs typeface="Calibri"/>
              </a:rPr>
              <a:t>that 	</a:t>
            </a:r>
            <a:r>
              <a:rPr sz="3400" spc="-120" dirty="0">
                <a:latin typeface="Calibri"/>
                <a:cs typeface="Calibri"/>
              </a:rPr>
              <a:t>forces</a:t>
            </a:r>
            <a:r>
              <a:rPr sz="3400" spc="-75" dirty="0">
                <a:latin typeface="Calibri"/>
                <a:cs typeface="Calibri"/>
              </a:rPr>
              <a:t> </a:t>
            </a:r>
            <a:r>
              <a:rPr sz="3400" spc="-70" dirty="0">
                <a:latin typeface="Calibri"/>
                <a:cs typeface="Calibri"/>
              </a:rPr>
              <a:t>pixel</a:t>
            </a:r>
            <a:r>
              <a:rPr sz="3400" spc="-160" dirty="0">
                <a:latin typeface="Calibri"/>
                <a:cs typeface="Calibri"/>
              </a:rPr>
              <a:t> </a:t>
            </a:r>
            <a:r>
              <a:rPr sz="3400" spc="-114" dirty="0">
                <a:latin typeface="Calibri"/>
                <a:cs typeface="Calibri"/>
              </a:rPr>
              <a:t>values</a:t>
            </a:r>
            <a:r>
              <a:rPr sz="3400" spc="-75" dirty="0">
                <a:latin typeface="Calibri"/>
                <a:cs typeface="Calibri"/>
              </a:rPr>
              <a:t> </a:t>
            </a:r>
            <a:r>
              <a:rPr sz="3400" spc="-215" dirty="0">
                <a:latin typeface="Calibri"/>
                <a:cs typeface="Calibri"/>
              </a:rPr>
              <a:t>to</a:t>
            </a:r>
            <a:r>
              <a:rPr sz="3400" spc="-75" dirty="0">
                <a:latin typeface="Calibri"/>
                <a:cs typeface="Calibri"/>
              </a:rPr>
              <a:t> </a:t>
            </a:r>
            <a:r>
              <a:rPr sz="3400" spc="-85" dirty="0">
                <a:latin typeface="Calibri"/>
                <a:cs typeface="Calibri"/>
              </a:rPr>
              <a:t>span</a:t>
            </a:r>
            <a:r>
              <a:rPr sz="3400" spc="-10" dirty="0">
                <a:latin typeface="Calibri"/>
                <a:cs typeface="Calibri"/>
              </a:rPr>
              <a:t> </a:t>
            </a:r>
            <a:r>
              <a:rPr sz="3400" spc="-204" dirty="0">
                <a:latin typeface="Calibri"/>
                <a:cs typeface="Calibri"/>
              </a:rPr>
              <a:t>the</a:t>
            </a:r>
            <a:r>
              <a:rPr sz="3400" spc="5" dirty="0">
                <a:latin typeface="Calibri"/>
                <a:cs typeface="Calibri"/>
              </a:rPr>
              <a:t> </a:t>
            </a:r>
            <a:r>
              <a:rPr sz="3400" spc="-75" dirty="0">
                <a:latin typeface="Calibri"/>
                <a:cs typeface="Calibri"/>
              </a:rPr>
              <a:t>full</a:t>
            </a:r>
            <a:r>
              <a:rPr sz="3400" spc="-185" dirty="0">
                <a:latin typeface="Calibri"/>
                <a:cs typeface="Calibri"/>
              </a:rPr>
              <a:t> </a:t>
            </a:r>
            <a:r>
              <a:rPr sz="3400" spc="-105" dirty="0">
                <a:latin typeface="Calibri"/>
                <a:cs typeface="Calibri"/>
              </a:rPr>
              <a:t>available 	</a:t>
            </a:r>
            <a:r>
              <a:rPr sz="3450" spc="-190" dirty="0">
                <a:latin typeface="Calibri"/>
                <a:cs typeface="Calibri"/>
              </a:rPr>
              <a:t>range</a:t>
            </a:r>
            <a:r>
              <a:rPr sz="3450" spc="40" dirty="0">
                <a:latin typeface="Calibri"/>
                <a:cs typeface="Calibri"/>
              </a:rPr>
              <a:t> </a:t>
            </a:r>
            <a:r>
              <a:rPr sz="3450" spc="-365" dirty="0">
                <a:latin typeface="Calibri"/>
                <a:cs typeface="Calibri"/>
              </a:rPr>
              <a:t>(0—</a:t>
            </a:r>
            <a:r>
              <a:rPr sz="3450" spc="-275" dirty="0">
                <a:latin typeface="Calibri"/>
                <a:cs typeface="Calibri"/>
              </a:rPr>
              <a:t>255).</a:t>
            </a:r>
            <a:endParaRPr sz="3450">
              <a:latin typeface="Calibri"/>
              <a:cs typeface="Calibri"/>
            </a:endParaRPr>
          </a:p>
          <a:p>
            <a:pPr marL="370840" marR="316230" indent="-358775">
              <a:lnSpc>
                <a:spcPts val="3600"/>
              </a:lnSpc>
              <a:spcBef>
                <a:spcPts val="1700"/>
              </a:spcBef>
              <a:buClr>
                <a:srgbClr val="242424"/>
              </a:buClr>
              <a:buChar char="•"/>
              <a:tabLst>
                <a:tab pos="388620" algn="l"/>
              </a:tabLst>
            </a:pPr>
            <a:r>
              <a:rPr sz="3400" dirty="0">
                <a:latin typeface="Calibri"/>
                <a:cs typeface="Calibri"/>
              </a:rPr>
              <a:t>Key</a:t>
            </a:r>
            <a:r>
              <a:rPr sz="3400" spc="-180" dirty="0">
                <a:latin typeface="Calibri"/>
                <a:cs typeface="Calibri"/>
              </a:rPr>
              <a:t> </a:t>
            </a:r>
            <a:r>
              <a:rPr sz="3400" spc="-105" dirty="0">
                <a:latin typeface="Calibri"/>
                <a:cs typeface="Calibri"/>
              </a:rPr>
              <a:t>Difference:</a:t>
            </a:r>
            <a:r>
              <a:rPr sz="3400" spc="30" dirty="0">
                <a:latin typeface="Calibri"/>
                <a:cs typeface="Calibri"/>
              </a:rPr>
              <a:t> </a:t>
            </a:r>
            <a:r>
              <a:rPr sz="3400" spc="-140" dirty="0">
                <a:latin typeface="Calibri"/>
                <a:cs typeface="Calibri"/>
              </a:rPr>
              <a:t>Unlike</a:t>
            </a:r>
            <a:r>
              <a:rPr sz="3400" spc="-50" dirty="0">
                <a:latin typeface="Calibri"/>
                <a:cs typeface="Calibri"/>
              </a:rPr>
              <a:t> </a:t>
            </a:r>
            <a:r>
              <a:rPr sz="3400" spc="-70" dirty="0">
                <a:latin typeface="Calibri"/>
                <a:cs typeface="Calibri"/>
              </a:rPr>
              <a:t>Equalization, 	</a:t>
            </a:r>
            <a:r>
              <a:rPr sz="3450" spc="-155" dirty="0">
                <a:latin typeface="Calibri"/>
                <a:cs typeface="Calibri"/>
              </a:rPr>
              <a:t>Stretching</a:t>
            </a:r>
            <a:r>
              <a:rPr sz="3450" spc="40" dirty="0">
                <a:latin typeface="Calibri"/>
                <a:cs typeface="Calibri"/>
              </a:rPr>
              <a:t> </a:t>
            </a:r>
            <a:r>
              <a:rPr sz="3450" spc="-180" dirty="0">
                <a:latin typeface="Calibri"/>
                <a:cs typeface="Calibri"/>
              </a:rPr>
              <a:t>does</a:t>
            </a:r>
            <a:r>
              <a:rPr sz="3450" spc="-75" dirty="0">
                <a:latin typeface="Calibri"/>
                <a:cs typeface="Calibri"/>
              </a:rPr>
              <a:t> </a:t>
            </a:r>
            <a:r>
              <a:rPr sz="3450" spc="-254" dirty="0">
                <a:latin typeface="Calibri"/>
                <a:cs typeface="Calibri"/>
              </a:rPr>
              <a:t>NOT</a:t>
            </a:r>
            <a:r>
              <a:rPr sz="3450" spc="-25" dirty="0">
                <a:latin typeface="Calibri"/>
                <a:cs typeface="Calibri"/>
              </a:rPr>
              <a:t> </a:t>
            </a:r>
            <a:r>
              <a:rPr sz="3450" spc="-170" dirty="0">
                <a:latin typeface="Calibri"/>
                <a:cs typeface="Calibri"/>
              </a:rPr>
              <a:t>change</a:t>
            </a:r>
            <a:r>
              <a:rPr sz="3450" spc="-15" dirty="0">
                <a:latin typeface="Calibri"/>
                <a:cs typeface="Calibri"/>
              </a:rPr>
              <a:t> </a:t>
            </a:r>
            <a:r>
              <a:rPr sz="3450" spc="-200" dirty="0">
                <a:latin typeface="Calibri"/>
                <a:cs typeface="Calibri"/>
              </a:rPr>
              <a:t>the</a:t>
            </a:r>
            <a:r>
              <a:rPr sz="3450" spc="30" dirty="0">
                <a:latin typeface="Calibri"/>
                <a:cs typeface="Calibri"/>
              </a:rPr>
              <a:t> </a:t>
            </a:r>
            <a:r>
              <a:rPr sz="3450" spc="-185" dirty="0">
                <a:latin typeface="Calibri"/>
                <a:cs typeface="Calibri"/>
              </a:rPr>
              <a:t>shape</a:t>
            </a:r>
            <a:r>
              <a:rPr sz="3450" spc="20" dirty="0">
                <a:latin typeface="Calibri"/>
                <a:cs typeface="Calibri"/>
              </a:rPr>
              <a:t> </a:t>
            </a:r>
            <a:r>
              <a:rPr sz="3450" spc="-25" dirty="0">
                <a:latin typeface="Calibri"/>
                <a:cs typeface="Calibri"/>
              </a:rPr>
              <a:t>of 	</a:t>
            </a:r>
            <a:r>
              <a:rPr sz="3550" spc="-260" dirty="0">
                <a:latin typeface="Calibri"/>
                <a:cs typeface="Calibri"/>
              </a:rPr>
              <a:t>the</a:t>
            </a:r>
            <a:r>
              <a:rPr sz="3550" spc="-75" dirty="0">
                <a:latin typeface="Calibri"/>
                <a:cs typeface="Calibri"/>
              </a:rPr>
              <a:t> </a:t>
            </a:r>
            <a:r>
              <a:rPr sz="3550" spc="-245" dirty="0">
                <a:latin typeface="Calibri"/>
                <a:cs typeface="Calibri"/>
              </a:rPr>
              <a:t>histogram.</a:t>
            </a:r>
            <a:r>
              <a:rPr sz="3550" spc="25" dirty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It</a:t>
            </a:r>
            <a:r>
              <a:rPr sz="3550" spc="-150" dirty="0">
                <a:latin typeface="Calibri"/>
                <a:cs typeface="Calibri"/>
              </a:rPr>
              <a:t> </a:t>
            </a:r>
            <a:r>
              <a:rPr sz="3550" spc="-235" dirty="0">
                <a:latin typeface="Calibri"/>
                <a:cs typeface="Calibri"/>
              </a:rPr>
              <a:t>only</a:t>
            </a:r>
            <a:r>
              <a:rPr sz="3550" spc="40" dirty="0">
                <a:latin typeface="Calibri"/>
                <a:cs typeface="Calibri"/>
              </a:rPr>
              <a:t> </a:t>
            </a:r>
            <a:r>
              <a:rPr sz="3550" spc="-215" dirty="0">
                <a:latin typeface="Calibri"/>
                <a:cs typeface="Calibri"/>
              </a:rPr>
              <a:t>changes</a:t>
            </a:r>
            <a:r>
              <a:rPr sz="3550" spc="100" dirty="0">
                <a:latin typeface="Calibri"/>
                <a:cs typeface="Calibri"/>
              </a:rPr>
              <a:t> </a:t>
            </a:r>
            <a:r>
              <a:rPr sz="3550" spc="-260" dirty="0">
                <a:latin typeface="Calibri"/>
                <a:cs typeface="Calibri"/>
              </a:rPr>
              <a:t>the</a:t>
            </a:r>
            <a:r>
              <a:rPr sz="3550" spc="-55" dirty="0">
                <a:latin typeface="Calibri"/>
                <a:cs typeface="Calibri"/>
              </a:rPr>
              <a:t> </a:t>
            </a:r>
            <a:r>
              <a:rPr sz="3550" spc="-10" dirty="0">
                <a:latin typeface="Calibri"/>
                <a:cs typeface="Calibri"/>
              </a:rPr>
              <a:t>scale.</a:t>
            </a:r>
            <a:endParaRPr sz="35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5260" y="7031919"/>
            <a:ext cx="1810385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50" spc="-465" dirty="0">
                <a:solidFill>
                  <a:srgbClr val="111111"/>
                </a:solidFill>
                <a:latin typeface="Courier New"/>
                <a:cs typeface="Courier New"/>
              </a:rPr>
              <a:t>The</a:t>
            </a:r>
            <a:r>
              <a:rPr sz="3650" spc="-1210" dirty="0">
                <a:solidFill>
                  <a:srgbClr val="111111"/>
                </a:solidFill>
                <a:latin typeface="Courier New"/>
                <a:cs typeface="Courier New"/>
              </a:rPr>
              <a:t> </a:t>
            </a:r>
            <a:r>
              <a:rPr sz="3650" spc="-650" dirty="0">
                <a:solidFill>
                  <a:srgbClr val="0F0F0F"/>
                </a:solidFill>
                <a:latin typeface="Courier New"/>
                <a:cs typeface="Courier New"/>
              </a:rPr>
              <a:t>Math:</a:t>
            </a:r>
            <a:endParaRPr sz="36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84106" y="8056739"/>
            <a:ext cx="152400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spc="-459" dirty="0">
                <a:latin typeface="Times New Roman"/>
                <a:cs typeface="Times New Roman"/>
              </a:rPr>
              <a:t>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04615" y="7751939"/>
            <a:ext cx="6462395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497205" algn="l"/>
                <a:tab pos="1174115" algn="l"/>
                <a:tab pos="1822450" algn="l"/>
                <a:tab pos="2237105" algn="l"/>
                <a:tab pos="3991610" algn="l"/>
              </a:tabLst>
            </a:pPr>
            <a:r>
              <a:rPr sz="5400" spc="-1110" baseline="-37037" dirty="0">
                <a:latin typeface="Times New Roman"/>
                <a:cs typeface="Times New Roman"/>
              </a:rPr>
              <a:t>=</a:t>
            </a:r>
            <a:r>
              <a:rPr sz="5400" baseline="-37037" dirty="0">
                <a:latin typeface="Times New Roman"/>
                <a:cs typeface="Times New Roman"/>
              </a:rPr>
              <a:t>	(</a:t>
            </a:r>
            <a:r>
              <a:rPr sz="5400" spc="-367" baseline="-37037" dirty="0">
                <a:latin typeface="Times New Roman"/>
                <a:cs typeface="Times New Roman"/>
              </a:rPr>
              <a:t> </a:t>
            </a:r>
            <a:r>
              <a:rPr sz="3300" u="heavy" dirty="0">
                <a:uFill>
                  <a:solidFill>
                    <a:srgbClr val="2F3434"/>
                  </a:solidFill>
                </a:uFill>
                <a:latin typeface="Calibri"/>
                <a:cs typeface="Calibri"/>
              </a:rPr>
              <a:t>	</a:t>
            </a:r>
            <a:r>
              <a:rPr sz="3300" u="heavy" spc="-25" dirty="0">
                <a:uFill>
                  <a:solidFill>
                    <a:srgbClr val="2F3434"/>
                  </a:solidFill>
                </a:uFill>
                <a:latin typeface="Calibri"/>
                <a:cs typeface="Calibri"/>
              </a:rPr>
              <a:t>(r</a:t>
            </a:r>
            <a:r>
              <a:rPr sz="3300" u="heavy" dirty="0">
                <a:uFill>
                  <a:solidFill>
                    <a:srgbClr val="2F3434"/>
                  </a:solidFill>
                </a:uFill>
                <a:latin typeface="Calibri"/>
                <a:cs typeface="Calibri"/>
              </a:rPr>
              <a:t>	</a:t>
            </a:r>
            <a:r>
              <a:rPr sz="3300" u="heavy" spc="-50" dirty="0">
                <a:uFill>
                  <a:solidFill>
                    <a:srgbClr val="2F3434"/>
                  </a:solidFill>
                </a:uFill>
                <a:latin typeface="Calibri"/>
                <a:cs typeface="Calibri"/>
              </a:rPr>
              <a:t>-</a:t>
            </a:r>
            <a:r>
              <a:rPr sz="3300" u="heavy" dirty="0">
                <a:uFill>
                  <a:solidFill>
                    <a:srgbClr val="2F3434"/>
                  </a:solidFill>
                </a:uFill>
                <a:latin typeface="Calibri"/>
                <a:cs typeface="Calibri"/>
              </a:rPr>
              <a:t>	</a:t>
            </a:r>
            <a:r>
              <a:rPr sz="3300" u="heavy" spc="320" dirty="0">
                <a:uFill>
                  <a:solidFill>
                    <a:srgbClr val="2F3434"/>
                  </a:solidFill>
                </a:uFill>
                <a:latin typeface="Calibri"/>
                <a:cs typeface="Calibri"/>
              </a:rPr>
              <a:t>r_nin)</a:t>
            </a:r>
            <a:r>
              <a:rPr sz="3300" u="heavy" dirty="0">
                <a:uFill>
                  <a:solidFill>
                    <a:srgbClr val="2F3434"/>
                  </a:solidFill>
                </a:uFill>
                <a:latin typeface="Calibri"/>
                <a:cs typeface="Calibri"/>
              </a:rPr>
              <a:t>	</a:t>
            </a:r>
            <a:r>
              <a:rPr sz="5400" spc="540" baseline="-37037" dirty="0">
                <a:latin typeface="Courier New"/>
                <a:cs typeface="Courier New"/>
              </a:rPr>
              <a:t>)*(L</a:t>
            </a:r>
            <a:r>
              <a:rPr sz="5400" spc="-202" baseline="-37037" dirty="0">
                <a:latin typeface="Courier New"/>
                <a:cs typeface="Courier New"/>
              </a:rPr>
              <a:t> </a:t>
            </a:r>
            <a:r>
              <a:rPr sz="5400" spc="-1627" baseline="-37037" dirty="0">
                <a:latin typeface="Courier New"/>
                <a:cs typeface="Courier New"/>
              </a:rPr>
              <a:t>—</a:t>
            </a:r>
            <a:r>
              <a:rPr sz="5400" spc="-555" baseline="-37037" dirty="0">
                <a:latin typeface="Courier New"/>
                <a:cs typeface="Courier New"/>
              </a:rPr>
              <a:t> </a:t>
            </a:r>
            <a:r>
              <a:rPr sz="5400" spc="-37" baseline="-37037" dirty="0">
                <a:latin typeface="Courier New"/>
                <a:cs typeface="Courier New"/>
              </a:rPr>
              <a:t>1)</a:t>
            </a:r>
            <a:endParaRPr sz="5400" baseline="-37037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87488" y="8396816"/>
            <a:ext cx="3299460" cy="533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00" dirty="0">
                <a:latin typeface="Consolas"/>
                <a:cs typeface="Consolas"/>
              </a:rPr>
              <a:t>(r</a:t>
            </a:r>
            <a:r>
              <a:rPr sz="3300" spc="-130" dirty="0">
                <a:latin typeface="Consolas"/>
                <a:cs typeface="Consolas"/>
              </a:rPr>
              <a:t> </a:t>
            </a:r>
            <a:r>
              <a:rPr sz="3300" spc="-50" dirty="0">
                <a:latin typeface="Consolas"/>
                <a:cs typeface="Consolas"/>
              </a:rPr>
              <a:t>max</a:t>
            </a:r>
            <a:r>
              <a:rPr sz="3300" spc="-290" dirty="0">
                <a:latin typeface="Consolas"/>
                <a:cs typeface="Consolas"/>
              </a:rPr>
              <a:t> </a:t>
            </a:r>
            <a:r>
              <a:rPr sz="3300" dirty="0">
                <a:latin typeface="Consolas"/>
                <a:cs typeface="Consolas"/>
              </a:rPr>
              <a:t>-</a:t>
            </a:r>
            <a:r>
              <a:rPr sz="3300" spc="-100" dirty="0">
                <a:latin typeface="Consolas"/>
                <a:cs typeface="Consolas"/>
              </a:rPr>
              <a:t> </a:t>
            </a:r>
            <a:r>
              <a:rPr sz="3300" dirty="0">
                <a:latin typeface="Consolas"/>
                <a:cs typeface="Consolas"/>
              </a:rPr>
              <a:t>r</a:t>
            </a:r>
            <a:r>
              <a:rPr sz="3300" spc="-260" dirty="0">
                <a:latin typeface="Consolas"/>
                <a:cs typeface="Consolas"/>
              </a:rPr>
              <a:t> </a:t>
            </a:r>
            <a:r>
              <a:rPr sz="3300" spc="-114" dirty="0">
                <a:latin typeface="Consolas"/>
                <a:cs typeface="Consolas"/>
              </a:rPr>
              <a:t>min)</a:t>
            </a:r>
            <a:endParaRPr sz="33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23239" y="3205338"/>
            <a:ext cx="4879975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spc="85" dirty="0">
                <a:solidFill>
                  <a:srgbClr val="BA6036"/>
                </a:solidFill>
                <a:latin typeface="Calibri"/>
                <a:cs typeface="Calibri"/>
              </a:rPr>
              <a:t>The</a:t>
            </a:r>
            <a:r>
              <a:rPr sz="3600" spc="-110" dirty="0">
                <a:solidFill>
                  <a:srgbClr val="BA6036"/>
                </a:solidFill>
                <a:latin typeface="Calibri"/>
                <a:cs typeface="Calibri"/>
              </a:rPr>
              <a:t> </a:t>
            </a:r>
            <a:r>
              <a:rPr sz="3600" spc="100" dirty="0">
                <a:solidFill>
                  <a:srgbClr val="C15E2F"/>
                </a:solidFill>
                <a:latin typeface="Calibri"/>
                <a:cs typeface="Calibri"/>
              </a:rPr>
              <a:t>Elastic</a:t>
            </a:r>
            <a:r>
              <a:rPr sz="3600" spc="65" dirty="0">
                <a:solidFill>
                  <a:srgbClr val="C15E2F"/>
                </a:solidFill>
                <a:latin typeface="Calibri"/>
                <a:cs typeface="Calibri"/>
              </a:rPr>
              <a:t> </a:t>
            </a:r>
            <a:r>
              <a:rPr sz="3600" spc="70" dirty="0">
                <a:solidFill>
                  <a:srgbClr val="BA5B31"/>
                </a:solidFill>
                <a:latin typeface="Calibri"/>
                <a:cs typeface="Calibri"/>
              </a:rPr>
              <a:t>Band</a:t>
            </a:r>
            <a:r>
              <a:rPr sz="3600" spc="-50" dirty="0">
                <a:solidFill>
                  <a:srgbClr val="BA5B31"/>
                </a:solidFill>
                <a:latin typeface="Calibri"/>
                <a:cs typeface="Calibri"/>
              </a:rPr>
              <a:t> </a:t>
            </a:r>
            <a:r>
              <a:rPr sz="3600" spc="65" dirty="0">
                <a:solidFill>
                  <a:srgbClr val="C35E33"/>
                </a:solidFill>
                <a:latin typeface="Calibri"/>
                <a:cs typeface="Calibri"/>
              </a:rPr>
              <a:t>Analogy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300765" y="7498291"/>
            <a:ext cx="5684520" cy="14357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5"/>
              </a:spcBef>
              <a:tabLst>
                <a:tab pos="2484120" algn="l"/>
                <a:tab pos="5155565" algn="l"/>
              </a:tabLst>
            </a:pPr>
            <a:r>
              <a:rPr sz="2700" spc="30" dirty="0">
                <a:latin typeface="Courier New"/>
                <a:cs typeface="Courier New"/>
              </a:rPr>
              <a:t>0</a:t>
            </a:r>
            <a:r>
              <a:rPr sz="2700" dirty="0">
                <a:latin typeface="Courier New"/>
                <a:cs typeface="Courier New"/>
              </a:rPr>
              <a:t>	</a:t>
            </a:r>
            <a:r>
              <a:rPr sz="2600" spc="-25" dirty="0">
                <a:latin typeface="Calibri"/>
                <a:cs typeface="Calibri"/>
              </a:rPr>
              <a:t>50%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700" spc="-125" dirty="0">
                <a:latin typeface="Consolas"/>
                <a:cs typeface="Consolas"/>
              </a:rPr>
              <a:t>255</a:t>
            </a:r>
            <a:endParaRPr sz="27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27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3450" spc="-110" dirty="0">
                <a:latin typeface="Calibri"/>
                <a:cs typeface="Calibri"/>
              </a:rPr>
              <a:t>Preserves</a:t>
            </a:r>
            <a:r>
              <a:rPr sz="3450" spc="-20" dirty="0">
                <a:latin typeface="Calibri"/>
                <a:cs typeface="Calibri"/>
              </a:rPr>
              <a:t> </a:t>
            </a:r>
            <a:r>
              <a:rPr sz="3450" spc="-140" dirty="0">
                <a:latin typeface="Calibri"/>
                <a:cs typeface="Calibri"/>
              </a:rPr>
              <a:t>shape,</a:t>
            </a:r>
            <a:r>
              <a:rPr sz="3450" spc="-30" dirty="0">
                <a:latin typeface="Calibri"/>
                <a:cs typeface="Calibri"/>
              </a:rPr>
              <a:t> </a:t>
            </a:r>
            <a:r>
              <a:rPr sz="3450" spc="-145" dirty="0">
                <a:latin typeface="Calibri"/>
                <a:cs typeface="Calibri"/>
              </a:rPr>
              <a:t>expands</a:t>
            </a:r>
            <a:r>
              <a:rPr sz="3450" spc="-55" dirty="0">
                <a:latin typeface="Calibri"/>
                <a:cs typeface="Calibri"/>
              </a:rPr>
              <a:t> </a:t>
            </a:r>
            <a:r>
              <a:rPr sz="3450" spc="-10" dirty="0">
                <a:latin typeface="Calibri"/>
                <a:cs typeface="Calibri"/>
              </a:rPr>
              <a:t>range.</a:t>
            </a:r>
            <a:endParaRPr sz="3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0900" y="3911600"/>
            <a:ext cx="2971800" cy="3213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7600" y="3924300"/>
            <a:ext cx="4597400" cy="38989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20500" y="3657600"/>
            <a:ext cx="4648200" cy="4165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6100" y="520700"/>
            <a:ext cx="16383000" cy="177800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865716" y="2963332"/>
            <a:ext cx="0" cy="1765300"/>
          </a:xfrm>
          <a:custGeom>
            <a:avLst/>
            <a:gdLst/>
            <a:ahLst/>
            <a:cxnLst/>
            <a:rect l="l" t="t" r="r" b="b"/>
            <a:pathLst>
              <a:path h="1765300">
                <a:moveTo>
                  <a:pt x="0" y="1765300"/>
                </a:moveTo>
                <a:lnTo>
                  <a:pt x="0" y="0"/>
                </a:lnTo>
              </a:path>
            </a:pathLst>
          </a:custGeom>
          <a:ln w="12700">
            <a:solidFill>
              <a:srgbClr val="9367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859366" y="2963332"/>
            <a:ext cx="4838700" cy="4902200"/>
            <a:chOff x="859366" y="2963332"/>
            <a:chExt cx="4838700" cy="4902200"/>
          </a:xfrm>
        </p:grpSpPr>
        <p:sp>
          <p:nvSpPr>
            <p:cNvPr id="8" name="object 8"/>
            <p:cNvSpPr/>
            <p:nvPr/>
          </p:nvSpPr>
          <p:spPr>
            <a:xfrm>
              <a:off x="5691716" y="2963332"/>
              <a:ext cx="0" cy="4902200"/>
            </a:xfrm>
            <a:custGeom>
              <a:avLst/>
              <a:gdLst/>
              <a:ahLst/>
              <a:cxnLst/>
              <a:rect l="l" t="t" r="r" b="b"/>
              <a:pathLst>
                <a:path h="4902200">
                  <a:moveTo>
                    <a:pt x="0" y="49022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9367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59366" y="2969682"/>
              <a:ext cx="4838700" cy="0"/>
            </a:xfrm>
            <a:custGeom>
              <a:avLst/>
              <a:gdLst/>
              <a:ahLst/>
              <a:cxnLst/>
              <a:rect l="l" t="t" r="r" b="b"/>
              <a:pathLst>
                <a:path w="4838700">
                  <a:moveTo>
                    <a:pt x="0" y="0"/>
                  </a:moveTo>
                  <a:lnTo>
                    <a:pt x="4838700" y="0"/>
                  </a:lnTo>
                </a:path>
              </a:pathLst>
            </a:custGeom>
            <a:ln w="12700">
              <a:solidFill>
                <a:srgbClr val="9367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59366" y="7859182"/>
              <a:ext cx="4838700" cy="0"/>
            </a:xfrm>
            <a:custGeom>
              <a:avLst/>
              <a:gdLst/>
              <a:ahLst/>
              <a:cxnLst/>
              <a:rect l="l" t="t" r="r" b="b"/>
              <a:pathLst>
                <a:path w="4838700">
                  <a:moveTo>
                    <a:pt x="0" y="0"/>
                  </a:moveTo>
                  <a:lnTo>
                    <a:pt x="4838700" y="0"/>
                  </a:lnTo>
                </a:path>
              </a:pathLst>
            </a:custGeom>
            <a:ln w="12700">
              <a:solidFill>
                <a:srgbClr val="9367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11817" y="3687232"/>
              <a:ext cx="0" cy="3463290"/>
            </a:xfrm>
            <a:custGeom>
              <a:avLst/>
              <a:gdLst/>
              <a:ahLst/>
              <a:cxnLst/>
              <a:rect l="l" t="t" r="r" b="b"/>
              <a:pathLst>
                <a:path h="3463290">
                  <a:moveTo>
                    <a:pt x="0" y="3462866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4B4F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86916" y="3687232"/>
              <a:ext cx="0" cy="3463290"/>
            </a:xfrm>
            <a:custGeom>
              <a:avLst/>
              <a:gdLst/>
              <a:ahLst/>
              <a:cxnLst/>
              <a:rect l="l" t="t" r="r" b="b"/>
              <a:pathLst>
                <a:path h="3463290">
                  <a:moveTo>
                    <a:pt x="0" y="3462866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4B4F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05467" y="3693582"/>
              <a:ext cx="3987800" cy="0"/>
            </a:xfrm>
            <a:custGeom>
              <a:avLst/>
              <a:gdLst/>
              <a:ahLst/>
              <a:cxnLst/>
              <a:rect l="l" t="t" r="r" b="b"/>
              <a:pathLst>
                <a:path w="3987800">
                  <a:moveTo>
                    <a:pt x="0" y="0"/>
                  </a:moveTo>
                  <a:lnTo>
                    <a:pt x="3987800" y="0"/>
                  </a:lnTo>
                </a:path>
              </a:pathLst>
            </a:custGeom>
            <a:ln w="12700">
              <a:solidFill>
                <a:srgbClr val="4B4F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05467" y="7143749"/>
              <a:ext cx="3987800" cy="0"/>
            </a:xfrm>
            <a:custGeom>
              <a:avLst/>
              <a:gdLst/>
              <a:ahLst/>
              <a:cxnLst/>
              <a:rect l="l" t="t" r="r" b="b"/>
              <a:pathLst>
                <a:path w="3987800">
                  <a:moveTo>
                    <a:pt x="0" y="0"/>
                  </a:moveTo>
                  <a:lnTo>
                    <a:pt x="3987800" y="0"/>
                  </a:lnTo>
                </a:path>
              </a:pathLst>
            </a:custGeom>
            <a:ln w="12700">
              <a:solidFill>
                <a:srgbClr val="4B4F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6288616" y="2963332"/>
            <a:ext cx="0" cy="1765300"/>
          </a:xfrm>
          <a:custGeom>
            <a:avLst/>
            <a:gdLst/>
            <a:ahLst/>
            <a:cxnLst/>
            <a:rect l="l" t="t" r="r" b="b"/>
            <a:pathLst>
              <a:path h="1765300">
                <a:moveTo>
                  <a:pt x="0" y="1765300"/>
                </a:moveTo>
                <a:lnTo>
                  <a:pt x="0" y="0"/>
                </a:lnTo>
              </a:path>
            </a:pathLst>
          </a:custGeom>
          <a:ln w="12700">
            <a:solidFill>
              <a:srgbClr val="8C60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6282266" y="2963332"/>
            <a:ext cx="4838700" cy="4902200"/>
            <a:chOff x="6282266" y="2963332"/>
            <a:chExt cx="4838700" cy="4902200"/>
          </a:xfrm>
        </p:grpSpPr>
        <p:sp>
          <p:nvSpPr>
            <p:cNvPr id="17" name="object 17"/>
            <p:cNvSpPr/>
            <p:nvPr/>
          </p:nvSpPr>
          <p:spPr>
            <a:xfrm>
              <a:off x="11114616" y="2963332"/>
              <a:ext cx="0" cy="4902200"/>
            </a:xfrm>
            <a:custGeom>
              <a:avLst/>
              <a:gdLst/>
              <a:ahLst/>
              <a:cxnLst/>
              <a:rect l="l" t="t" r="r" b="b"/>
              <a:pathLst>
                <a:path h="4902200">
                  <a:moveTo>
                    <a:pt x="0" y="49022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8C60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82266" y="2969682"/>
              <a:ext cx="4838700" cy="0"/>
            </a:xfrm>
            <a:custGeom>
              <a:avLst/>
              <a:gdLst/>
              <a:ahLst/>
              <a:cxnLst/>
              <a:rect l="l" t="t" r="r" b="b"/>
              <a:pathLst>
                <a:path w="4838700">
                  <a:moveTo>
                    <a:pt x="0" y="0"/>
                  </a:moveTo>
                  <a:lnTo>
                    <a:pt x="4838700" y="0"/>
                  </a:lnTo>
                </a:path>
              </a:pathLst>
            </a:custGeom>
            <a:ln w="12700">
              <a:solidFill>
                <a:srgbClr val="8C60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82266" y="7859182"/>
              <a:ext cx="4838700" cy="0"/>
            </a:xfrm>
            <a:custGeom>
              <a:avLst/>
              <a:gdLst/>
              <a:ahLst/>
              <a:cxnLst/>
              <a:rect l="l" t="t" r="r" b="b"/>
              <a:pathLst>
                <a:path w="4838700">
                  <a:moveTo>
                    <a:pt x="0" y="0"/>
                  </a:moveTo>
                  <a:lnTo>
                    <a:pt x="4838700" y="0"/>
                  </a:lnTo>
                </a:path>
              </a:pathLst>
            </a:custGeom>
            <a:ln w="12700">
              <a:solidFill>
                <a:srgbClr val="8C60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11711516" y="2963332"/>
            <a:ext cx="0" cy="1765300"/>
          </a:xfrm>
          <a:custGeom>
            <a:avLst/>
            <a:gdLst/>
            <a:ahLst/>
            <a:cxnLst/>
            <a:rect l="l" t="t" r="r" b="b"/>
            <a:pathLst>
              <a:path h="1765300">
                <a:moveTo>
                  <a:pt x="0" y="1765300"/>
                </a:moveTo>
                <a:lnTo>
                  <a:pt x="0" y="0"/>
                </a:lnTo>
              </a:path>
            </a:pathLst>
          </a:custGeom>
          <a:ln w="12700">
            <a:solidFill>
              <a:srgbClr val="8C64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11705166" y="2963332"/>
            <a:ext cx="4838700" cy="4902200"/>
            <a:chOff x="11705166" y="2963332"/>
            <a:chExt cx="4838700" cy="4902200"/>
          </a:xfrm>
        </p:grpSpPr>
        <p:sp>
          <p:nvSpPr>
            <p:cNvPr id="22" name="object 22"/>
            <p:cNvSpPr/>
            <p:nvPr/>
          </p:nvSpPr>
          <p:spPr>
            <a:xfrm>
              <a:off x="16537520" y="2963332"/>
              <a:ext cx="0" cy="4902200"/>
            </a:xfrm>
            <a:custGeom>
              <a:avLst/>
              <a:gdLst/>
              <a:ahLst/>
              <a:cxnLst/>
              <a:rect l="l" t="t" r="r" b="b"/>
              <a:pathLst>
                <a:path h="4902200">
                  <a:moveTo>
                    <a:pt x="0" y="49022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8C64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1705166" y="2969682"/>
              <a:ext cx="4838700" cy="0"/>
            </a:xfrm>
            <a:custGeom>
              <a:avLst/>
              <a:gdLst/>
              <a:ahLst/>
              <a:cxnLst/>
              <a:rect l="l" t="t" r="r" b="b"/>
              <a:pathLst>
                <a:path w="4838700">
                  <a:moveTo>
                    <a:pt x="0" y="0"/>
                  </a:moveTo>
                  <a:lnTo>
                    <a:pt x="4838700" y="0"/>
                  </a:lnTo>
                </a:path>
              </a:pathLst>
            </a:custGeom>
            <a:ln w="12700">
              <a:solidFill>
                <a:srgbClr val="8C64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705166" y="7859182"/>
              <a:ext cx="4838700" cy="0"/>
            </a:xfrm>
            <a:custGeom>
              <a:avLst/>
              <a:gdLst/>
              <a:ahLst/>
              <a:cxnLst/>
              <a:rect l="l" t="t" r="r" b="b"/>
              <a:pathLst>
                <a:path w="4838700">
                  <a:moveTo>
                    <a:pt x="0" y="0"/>
                  </a:moveTo>
                  <a:lnTo>
                    <a:pt x="4838700" y="0"/>
                  </a:lnTo>
                </a:path>
              </a:pathLst>
            </a:custGeom>
            <a:ln w="12700">
              <a:solidFill>
                <a:srgbClr val="8C64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26200" y="3898900"/>
            <a:ext cx="342900" cy="20320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89000" y="6261100"/>
            <a:ext cx="596900" cy="1562100"/>
          </a:xfrm>
          <a:prstGeom prst="rect">
            <a:avLst/>
          </a:prstGeom>
        </p:spPr>
      </p:pic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868274" y="578202"/>
            <a:ext cx="11534775" cy="1825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ts val="9185"/>
              </a:lnSpc>
              <a:spcBef>
                <a:spcPts val="95"/>
              </a:spcBef>
            </a:pPr>
            <a:r>
              <a:rPr sz="7850" dirty="0">
                <a:solidFill>
                  <a:srgbClr val="212121"/>
                </a:solidFill>
              </a:rPr>
              <a:t>Variants</a:t>
            </a:r>
            <a:r>
              <a:rPr sz="7850" spc="-145" dirty="0">
                <a:solidFill>
                  <a:srgbClr val="212121"/>
                </a:solidFill>
              </a:rPr>
              <a:t> </a:t>
            </a:r>
            <a:r>
              <a:rPr sz="7850" spc="-50" dirty="0">
                <a:solidFill>
                  <a:srgbClr val="232323"/>
                </a:solidFill>
              </a:rPr>
              <a:t>of</a:t>
            </a:r>
            <a:r>
              <a:rPr sz="7850" spc="-250" dirty="0">
                <a:solidFill>
                  <a:srgbClr val="232323"/>
                </a:solidFill>
              </a:rPr>
              <a:t> </a:t>
            </a:r>
            <a:r>
              <a:rPr sz="7850" dirty="0">
                <a:solidFill>
                  <a:srgbClr val="232323"/>
                </a:solidFill>
              </a:rPr>
              <a:t>Linear</a:t>
            </a:r>
            <a:r>
              <a:rPr sz="7850" spc="-120" dirty="0">
                <a:solidFill>
                  <a:srgbClr val="232323"/>
                </a:solidFill>
              </a:rPr>
              <a:t> </a:t>
            </a:r>
            <a:r>
              <a:rPr sz="7850" spc="-10" dirty="0">
                <a:solidFill>
                  <a:srgbClr val="212121"/>
                </a:solidFill>
              </a:rPr>
              <a:t>Stretching</a:t>
            </a:r>
            <a:endParaRPr sz="7850"/>
          </a:p>
          <a:p>
            <a:pPr marL="12700">
              <a:lnSpc>
                <a:spcPts val="4985"/>
              </a:lnSpc>
              <a:tabLst>
                <a:tab pos="8965565" algn="l"/>
              </a:tabLst>
            </a:pPr>
            <a:r>
              <a:rPr sz="4350" spc="-100" dirty="0">
                <a:solidFill>
                  <a:srgbClr val="000000"/>
                </a:solidFill>
              </a:rPr>
              <a:t>Understanding</a:t>
            </a:r>
            <a:r>
              <a:rPr sz="4350" spc="-135" dirty="0">
                <a:solidFill>
                  <a:srgbClr val="000000"/>
                </a:solidFill>
              </a:rPr>
              <a:t> </a:t>
            </a:r>
            <a:r>
              <a:rPr sz="4350" spc="-85" dirty="0">
                <a:solidFill>
                  <a:srgbClr val="000000"/>
                </a:solidFill>
              </a:rPr>
              <a:t>Transfer</a:t>
            </a:r>
            <a:r>
              <a:rPr sz="4350" spc="-100" dirty="0">
                <a:solidFill>
                  <a:srgbClr val="000000"/>
                </a:solidFill>
              </a:rPr>
              <a:t> </a:t>
            </a:r>
            <a:r>
              <a:rPr sz="4350" spc="-55" dirty="0">
                <a:solidFill>
                  <a:srgbClr val="000000"/>
                </a:solidFill>
              </a:rPr>
              <a:t>Functions</a:t>
            </a:r>
            <a:r>
              <a:rPr sz="4350" spc="15" dirty="0">
                <a:solidFill>
                  <a:srgbClr val="000000"/>
                </a:solidFill>
              </a:rPr>
              <a:t> </a:t>
            </a:r>
            <a:r>
              <a:rPr sz="4350" spc="-160" dirty="0">
                <a:solidFill>
                  <a:srgbClr val="000000"/>
                </a:solidFill>
              </a:rPr>
              <a:t>in</a:t>
            </a:r>
            <a:r>
              <a:rPr sz="4350" spc="-180" dirty="0">
                <a:solidFill>
                  <a:srgbClr val="000000"/>
                </a:solidFill>
              </a:rPr>
              <a:t> </a:t>
            </a:r>
            <a:r>
              <a:rPr sz="4350" spc="-25" dirty="0">
                <a:solidFill>
                  <a:srgbClr val="000000"/>
                </a:solidFill>
              </a:rPr>
              <a:t>IBN</a:t>
            </a:r>
            <a:r>
              <a:rPr sz="4350" dirty="0">
                <a:solidFill>
                  <a:srgbClr val="000000"/>
                </a:solidFill>
              </a:rPr>
              <a:t>	Plex</a:t>
            </a:r>
            <a:r>
              <a:rPr sz="4350" spc="-25" dirty="0">
                <a:solidFill>
                  <a:srgbClr val="000000"/>
                </a:solidFill>
              </a:rPr>
              <a:t> </a:t>
            </a:r>
            <a:r>
              <a:rPr sz="4350" spc="-20" dirty="0">
                <a:solidFill>
                  <a:srgbClr val="000000"/>
                </a:solidFill>
              </a:rPr>
              <a:t>Sans</a:t>
            </a:r>
            <a:endParaRPr sz="4350"/>
          </a:p>
        </p:txBody>
      </p:sp>
      <p:sp>
        <p:nvSpPr>
          <p:cNvPr id="28" name="object 28"/>
          <p:cNvSpPr txBox="1"/>
          <p:nvPr/>
        </p:nvSpPr>
        <p:spPr>
          <a:xfrm>
            <a:off x="989552" y="3798005"/>
            <a:ext cx="3879850" cy="321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2644140" algn="l"/>
              </a:tabLst>
            </a:pPr>
            <a:r>
              <a:rPr sz="2925" spc="-37" baseline="-2849" dirty="0">
                <a:latin typeface="Calibri"/>
                <a:cs typeface="Calibri"/>
              </a:rPr>
              <a:t>255</a:t>
            </a:r>
            <a:r>
              <a:rPr sz="2925" baseline="-2849" dirty="0">
                <a:latin typeface="Calibri"/>
                <a:cs typeface="Calibri"/>
              </a:rPr>
              <a:t>	</a:t>
            </a:r>
            <a:r>
              <a:rPr sz="1850" spc="-140" dirty="0">
                <a:latin typeface="Consolas"/>
                <a:cs typeface="Consolas"/>
              </a:rPr>
              <a:t>r=20D.s=255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457394" y="6686902"/>
            <a:ext cx="1428115" cy="1019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1625" marR="535305" indent="-302260">
              <a:lnSpc>
                <a:spcPct val="116700"/>
              </a:lnSpc>
              <a:spcBef>
                <a:spcPts val="95"/>
              </a:spcBef>
            </a:pPr>
            <a:r>
              <a:rPr sz="2000" spc="-75" dirty="0">
                <a:latin typeface="Calibri"/>
                <a:cs typeface="Calibri"/>
              </a:rPr>
              <a:t>r=50, </a:t>
            </a:r>
            <a:r>
              <a:rPr sz="2000" spc="-40" dirty="0">
                <a:solidFill>
                  <a:srgbClr val="151515"/>
                </a:solidFill>
                <a:latin typeface="Calibri"/>
                <a:cs typeface="Calibri"/>
              </a:rPr>
              <a:t>s=0 </a:t>
            </a:r>
            <a:r>
              <a:rPr sz="2000" spc="-25" dirty="0">
                <a:latin typeface="Calibri"/>
                <a:cs typeface="Calibri"/>
              </a:rPr>
              <a:t>100</a:t>
            </a:r>
            <a:endParaRPr sz="2000">
              <a:latin typeface="Calibri"/>
              <a:cs typeface="Calibri"/>
            </a:endParaRPr>
          </a:p>
          <a:p>
            <a:pPr marL="503555">
              <a:lnSpc>
                <a:spcPts val="2230"/>
              </a:lnSpc>
            </a:pPr>
            <a:r>
              <a:rPr sz="2150" dirty="0">
                <a:latin typeface="Calibri"/>
                <a:cs typeface="Calibri"/>
              </a:rPr>
              <a:t>Input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(r)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837652" y="7100005"/>
            <a:ext cx="368935" cy="321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950" spc="-45" dirty="0">
                <a:latin typeface="Calibri"/>
                <a:cs typeface="Calibri"/>
              </a:rPr>
              <a:t>200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82028" y="3004255"/>
            <a:ext cx="835152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43685" algn="l"/>
                <a:tab pos="5549265" algn="l"/>
              </a:tabLst>
            </a:pPr>
            <a:r>
              <a:rPr sz="3200" spc="-135" dirty="0">
                <a:solidFill>
                  <a:srgbClr val="C1673A"/>
                </a:solidFill>
                <a:latin typeface="Calibri"/>
                <a:cs typeface="Calibri"/>
              </a:rPr>
              <a:t>Min-</a:t>
            </a:r>
            <a:r>
              <a:rPr sz="3200" spc="-25" dirty="0">
                <a:solidFill>
                  <a:srgbClr val="C1673A"/>
                </a:solidFill>
                <a:latin typeface="Calibri"/>
                <a:cs typeface="Calibri"/>
              </a:rPr>
              <a:t>Max</a:t>
            </a:r>
            <a:r>
              <a:rPr sz="3200" dirty="0">
                <a:solidFill>
                  <a:srgbClr val="C1673A"/>
                </a:solidFill>
                <a:latin typeface="Calibri"/>
                <a:cs typeface="Calibri"/>
              </a:rPr>
              <a:t>	</a:t>
            </a:r>
            <a:r>
              <a:rPr sz="3200" spc="-10" dirty="0">
                <a:solidFill>
                  <a:srgbClr val="AF643B"/>
                </a:solidFill>
                <a:latin typeface="Calibri"/>
                <a:cs typeface="Calibri"/>
              </a:rPr>
              <a:t>Stretching</a:t>
            </a:r>
            <a:r>
              <a:rPr sz="3200" dirty="0">
                <a:solidFill>
                  <a:srgbClr val="AF643B"/>
                </a:solidFill>
                <a:latin typeface="Calibri"/>
                <a:cs typeface="Calibri"/>
              </a:rPr>
              <a:t>	</a:t>
            </a:r>
            <a:r>
              <a:rPr sz="3200" dirty="0">
                <a:solidFill>
                  <a:srgbClr val="A5623B"/>
                </a:solidFill>
                <a:latin typeface="Calibri"/>
                <a:cs typeface="Calibri"/>
              </a:rPr>
              <a:t>Piecewise</a:t>
            </a:r>
            <a:r>
              <a:rPr sz="3200" spc="250" dirty="0">
                <a:solidFill>
                  <a:srgbClr val="A5623B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AF5E31"/>
                </a:solidFill>
                <a:latin typeface="Calibri"/>
                <a:cs typeface="Calibri"/>
              </a:rPr>
              <a:t>Linear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16691" y="7929033"/>
            <a:ext cx="4116070" cy="123190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 marR="5080" indent="17780">
              <a:lnSpc>
                <a:spcPts val="3000"/>
              </a:lnSpc>
              <a:spcBef>
                <a:spcPts val="615"/>
              </a:spcBef>
            </a:pPr>
            <a:r>
              <a:rPr sz="2900" spc="-70" dirty="0">
                <a:latin typeface="Calibri"/>
                <a:cs typeface="Calibri"/>
              </a:rPr>
              <a:t>Standard</a:t>
            </a:r>
            <a:r>
              <a:rPr sz="2900" spc="-9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Normalization. </a:t>
            </a:r>
            <a:r>
              <a:rPr sz="2900" spc="-85" dirty="0">
                <a:latin typeface="Calibri"/>
                <a:cs typeface="Calibri"/>
              </a:rPr>
              <a:t>Darkest</a:t>
            </a:r>
            <a:r>
              <a:rPr sz="2900" spc="-25" dirty="0">
                <a:latin typeface="Calibri"/>
                <a:cs typeface="Calibri"/>
              </a:rPr>
              <a:t> </a:t>
            </a:r>
            <a:r>
              <a:rPr sz="2900" spc="-55" dirty="0">
                <a:latin typeface="Calibri"/>
                <a:cs typeface="Calibri"/>
              </a:rPr>
              <a:t>pixel</a:t>
            </a:r>
            <a:r>
              <a:rPr sz="2900" spc="-100" dirty="0">
                <a:latin typeface="Calibri"/>
                <a:cs typeface="Calibri"/>
              </a:rPr>
              <a:t> </a:t>
            </a:r>
            <a:r>
              <a:rPr sz="2900" spc="-105" dirty="0">
                <a:latin typeface="Calibri"/>
                <a:cs typeface="Calibri"/>
              </a:rPr>
              <a:t>becomes</a:t>
            </a:r>
            <a:r>
              <a:rPr sz="2900" spc="-30" dirty="0">
                <a:latin typeface="Calibri"/>
                <a:cs typeface="Calibri"/>
              </a:rPr>
              <a:t> </a:t>
            </a:r>
            <a:r>
              <a:rPr sz="2900" spc="-25" dirty="0">
                <a:latin typeface="Calibri"/>
                <a:cs typeface="Calibri"/>
              </a:rPr>
              <a:t>black; </a:t>
            </a:r>
            <a:r>
              <a:rPr sz="2900" spc="-85" dirty="0">
                <a:latin typeface="Calibri"/>
                <a:cs typeface="Calibri"/>
              </a:rPr>
              <a:t>brightest</a:t>
            </a:r>
            <a:r>
              <a:rPr sz="2900" spc="-60" dirty="0">
                <a:latin typeface="Calibri"/>
                <a:cs typeface="Calibri"/>
              </a:rPr>
              <a:t> </a:t>
            </a:r>
            <a:r>
              <a:rPr sz="2900" spc="-95" dirty="0">
                <a:latin typeface="Calibri"/>
                <a:cs typeface="Calibri"/>
              </a:rPr>
              <a:t>becomes</a:t>
            </a:r>
            <a:r>
              <a:rPr sz="2900" spc="-7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white.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822016" y="3693583"/>
            <a:ext cx="3987800" cy="3441700"/>
          </a:xfrm>
          <a:prstGeom prst="rect">
            <a:avLst/>
          </a:prstGeom>
          <a:ln w="12700">
            <a:solidFill>
              <a:srgbClr val="54545B"/>
            </a:solidFill>
          </a:ln>
        </p:spPr>
        <p:txBody>
          <a:bodyPr vert="horz" wrap="square" lIns="0" tIns="723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70"/>
              </a:spcBef>
            </a:pPr>
            <a:endParaRPr sz="1950">
              <a:latin typeface="Times New Roman"/>
              <a:cs typeface="Times New Roman"/>
            </a:endParaRPr>
          </a:p>
          <a:p>
            <a:pPr marL="573405" algn="ctr">
              <a:lnSpc>
                <a:spcPct val="100000"/>
              </a:lnSpc>
              <a:spcBef>
                <a:spcPts val="5"/>
              </a:spcBef>
            </a:pPr>
            <a:r>
              <a:rPr sz="1950" spc="-150" dirty="0">
                <a:latin typeface="Cambria"/>
                <a:cs typeface="Cambria"/>
              </a:rPr>
              <a:t>r=200,</a:t>
            </a:r>
            <a:r>
              <a:rPr sz="1950" spc="65" dirty="0">
                <a:latin typeface="Cambria"/>
                <a:cs typeface="Cambria"/>
              </a:rPr>
              <a:t> </a:t>
            </a:r>
            <a:r>
              <a:rPr sz="1950" spc="-10" dirty="0">
                <a:latin typeface="Cambria"/>
                <a:cs typeface="Cambria"/>
              </a:rPr>
              <a:t>s=235</a:t>
            </a:r>
            <a:endParaRPr sz="19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9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9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9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9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9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9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9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950">
              <a:latin typeface="Cambria"/>
              <a:cs typeface="Cambria"/>
            </a:endParaRPr>
          </a:p>
          <a:p>
            <a:pPr marL="906144">
              <a:lnSpc>
                <a:spcPct val="100000"/>
              </a:lnSpc>
            </a:pPr>
            <a:r>
              <a:rPr sz="1950" spc="-10" dirty="0">
                <a:latin typeface="Calibri"/>
                <a:cs typeface="Calibri"/>
              </a:rPr>
              <a:t>r=S0,</a:t>
            </a:r>
            <a:r>
              <a:rPr sz="1950" spc="-95" dirty="0">
                <a:latin typeface="Calibri"/>
                <a:cs typeface="Calibri"/>
              </a:rPr>
              <a:t> </a:t>
            </a:r>
            <a:r>
              <a:rPr sz="1950" spc="-20" dirty="0">
                <a:latin typeface="Calibri"/>
                <a:cs typeface="Calibri"/>
              </a:rPr>
              <a:t>s=20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164610" y="7100005"/>
            <a:ext cx="1893570" cy="601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ts val="2270"/>
              </a:lnSpc>
              <a:spcBef>
                <a:spcPts val="95"/>
              </a:spcBef>
              <a:tabLst>
                <a:tab pos="1524000" algn="l"/>
              </a:tabLst>
            </a:pPr>
            <a:r>
              <a:rPr sz="1950" spc="-25" dirty="0">
                <a:latin typeface="Arial MT"/>
                <a:cs typeface="Arial MT"/>
              </a:rPr>
              <a:t>100</a:t>
            </a:r>
            <a:r>
              <a:rPr sz="1950" dirty="0">
                <a:latin typeface="Arial MT"/>
                <a:cs typeface="Arial MT"/>
              </a:rPr>
              <a:t>	</a:t>
            </a:r>
            <a:r>
              <a:rPr sz="1950" spc="-40" dirty="0">
                <a:latin typeface="Calibri"/>
                <a:cs typeface="Calibri"/>
              </a:rPr>
              <a:t>200</a:t>
            </a:r>
            <a:endParaRPr sz="1950">
              <a:latin typeface="Calibri"/>
              <a:cs typeface="Calibri"/>
            </a:endParaRPr>
          </a:p>
          <a:p>
            <a:pPr marL="219710">
              <a:lnSpc>
                <a:spcPts val="2270"/>
              </a:lnSpc>
            </a:pPr>
            <a:r>
              <a:rPr sz="1950" dirty="0">
                <a:latin typeface="Arial MT"/>
                <a:cs typeface="Arial MT"/>
              </a:rPr>
              <a:t>Input</a:t>
            </a:r>
            <a:r>
              <a:rPr sz="1950" spc="240" dirty="0">
                <a:latin typeface="Arial MT"/>
                <a:cs typeface="Arial MT"/>
              </a:rPr>
              <a:t> </a:t>
            </a:r>
            <a:r>
              <a:rPr sz="1950" spc="-25" dirty="0">
                <a:latin typeface="Arial MT"/>
                <a:cs typeface="Arial MT"/>
              </a:rPr>
              <a:t>(r)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803618" y="7929033"/>
            <a:ext cx="4133850" cy="123190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 marR="5080" indent="13335">
              <a:lnSpc>
                <a:spcPts val="3000"/>
              </a:lnSpc>
              <a:spcBef>
                <a:spcPts val="615"/>
              </a:spcBef>
            </a:pPr>
            <a:r>
              <a:rPr sz="2900" spc="-114" dirty="0">
                <a:latin typeface="Calibri"/>
                <a:cs typeface="Calibri"/>
              </a:rPr>
              <a:t>Targeted</a:t>
            </a:r>
            <a:r>
              <a:rPr sz="2900" spc="-35" dirty="0">
                <a:latin typeface="Calibri"/>
                <a:cs typeface="Calibri"/>
              </a:rPr>
              <a:t> </a:t>
            </a:r>
            <a:r>
              <a:rPr sz="2900" spc="-65" dirty="0">
                <a:latin typeface="Calibri"/>
                <a:cs typeface="Calibri"/>
              </a:rPr>
              <a:t>Boosting. </a:t>
            </a:r>
            <a:r>
              <a:rPr sz="2900" spc="-20" dirty="0">
                <a:latin typeface="Calibri"/>
                <a:cs typeface="Calibri"/>
              </a:rPr>
              <a:t>Increases </a:t>
            </a:r>
            <a:r>
              <a:rPr sz="2900" spc="-95" dirty="0">
                <a:latin typeface="Calibri"/>
                <a:cs typeface="Calibri"/>
              </a:rPr>
              <a:t>contrast</a:t>
            </a:r>
            <a:r>
              <a:rPr sz="2900" spc="-70" dirty="0">
                <a:latin typeface="Calibri"/>
                <a:cs typeface="Calibri"/>
              </a:rPr>
              <a:t> </a:t>
            </a:r>
            <a:r>
              <a:rPr sz="2900" spc="-80" dirty="0">
                <a:latin typeface="Calibri"/>
                <a:cs typeface="Calibri"/>
              </a:rPr>
              <a:t>only</a:t>
            </a:r>
            <a:r>
              <a:rPr sz="2900" spc="-15" dirty="0">
                <a:latin typeface="Calibri"/>
                <a:cs typeface="Calibri"/>
              </a:rPr>
              <a:t> </a:t>
            </a:r>
            <a:r>
              <a:rPr sz="2900" spc="-135" dirty="0">
                <a:latin typeface="Calibri"/>
                <a:cs typeface="Calibri"/>
              </a:rPr>
              <a:t>in</a:t>
            </a:r>
            <a:r>
              <a:rPr sz="2900" spc="-2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specific</a:t>
            </a:r>
            <a:endParaRPr sz="2900">
              <a:latin typeface="Calibri"/>
              <a:cs typeface="Calibri"/>
            </a:endParaRPr>
          </a:p>
          <a:p>
            <a:pPr marL="13970">
              <a:lnSpc>
                <a:spcPts val="2980"/>
              </a:lnSpc>
            </a:pPr>
            <a:r>
              <a:rPr sz="2900" spc="-135" dirty="0">
                <a:latin typeface="Calibri"/>
                <a:cs typeface="Calibri"/>
              </a:rPr>
              <a:t>mid-</a:t>
            </a:r>
            <a:r>
              <a:rPr sz="2900" spc="-80" dirty="0">
                <a:latin typeface="Calibri"/>
                <a:cs typeface="Calibri"/>
              </a:rPr>
              <a:t>tone</a:t>
            </a:r>
            <a:r>
              <a:rPr sz="2900" spc="-4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ranges.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835352" y="3810705"/>
            <a:ext cx="376555" cy="321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950" spc="-25" dirty="0">
                <a:latin typeface="Calibri"/>
                <a:cs typeface="Calibri"/>
              </a:rPr>
              <a:t>255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500826" y="3004255"/>
            <a:ext cx="350837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AA6744"/>
                </a:solidFill>
                <a:latin typeface="Calibri"/>
                <a:cs typeface="Calibri"/>
              </a:rPr>
              <a:t>Percentile</a:t>
            </a:r>
            <a:r>
              <a:rPr sz="3200" spc="175" dirty="0">
                <a:solidFill>
                  <a:srgbClr val="AA6744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AC5D34"/>
                </a:solidFill>
                <a:latin typeface="Calibri"/>
                <a:cs typeface="Calibri"/>
              </a:rPr>
              <a:t>Stretching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4371967" y="3821994"/>
            <a:ext cx="143065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Calibri"/>
                <a:cs typeface="Calibri"/>
              </a:rPr>
              <a:t>r=r</a:t>
            </a:r>
            <a:r>
              <a:rPr sz="1800" spc="2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</a:t>
            </a:r>
            <a:r>
              <a:rPr sz="1800" spc="150" dirty="0">
                <a:latin typeface="Calibri"/>
                <a:cs typeface="Calibri"/>
              </a:rPr>
              <a:t> </a:t>
            </a:r>
            <a:r>
              <a:rPr sz="1575" spc="277" baseline="-18518" dirty="0">
                <a:latin typeface="Calibri"/>
                <a:cs typeface="Calibri"/>
              </a:rPr>
              <a:t>%</a:t>
            </a:r>
            <a:r>
              <a:rPr sz="1800" spc="185" dirty="0">
                <a:latin typeface="Calibri"/>
                <a:cs typeface="Calibri"/>
              </a:rPr>
              <a:t>,</a:t>
            </a:r>
            <a:r>
              <a:rPr sz="1800" spc="-1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s=255,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2820598" y="6624322"/>
            <a:ext cx="1913889" cy="107696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R="869950" algn="r">
              <a:lnSpc>
                <a:spcPct val="100000"/>
              </a:lnSpc>
              <a:spcBef>
                <a:spcPts val="790"/>
              </a:spcBef>
            </a:pPr>
            <a:r>
              <a:rPr sz="2000" dirty="0">
                <a:latin typeface="Calibri"/>
                <a:cs typeface="Calibri"/>
              </a:rPr>
              <a:t>r=r</a:t>
            </a:r>
            <a:r>
              <a:rPr sz="2000" spc="2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ty,</a:t>
            </a:r>
            <a:r>
              <a:rPr sz="2000" spc="-114" dirty="0">
                <a:latin typeface="Calibri"/>
                <a:cs typeface="Calibri"/>
              </a:rPr>
              <a:t> </a:t>
            </a:r>
            <a:r>
              <a:rPr sz="2000" spc="-75" dirty="0">
                <a:latin typeface="Calibri"/>
                <a:cs typeface="Calibri"/>
              </a:rPr>
              <a:t>s=0</a:t>
            </a:r>
            <a:endParaRPr sz="2000">
              <a:latin typeface="Calibri"/>
              <a:cs typeface="Calibri"/>
            </a:endParaRPr>
          </a:p>
          <a:p>
            <a:pPr marR="829944" algn="r">
              <a:lnSpc>
                <a:spcPts val="2270"/>
              </a:lnSpc>
              <a:spcBef>
                <a:spcPts val="650"/>
              </a:spcBef>
            </a:pPr>
            <a:r>
              <a:rPr sz="1950" spc="-25" dirty="0">
                <a:solidFill>
                  <a:srgbClr val="0F0F0F"/>
                </a:solidFill>
                <a:latin typeface="Calibri"/>
                <a:cs typeface="Calibri"/>
              </a:rPr>
              <a:t>100</a:t>
            </a:r>
            <a:endParaRPr sz="1950">
              <a:latin typeface="Calibri"/>
              <a:cs typeface="Calibri"/>
            </a:endParaRPr>
          </a:p>
          <a:p>
            <a:pPr marL="975994">
              <a:lnSpc>
                <a:spcPts val="2270"/>
              </a:lnSpc>
            </a:pPr>
            <a:r>
              <a:rPr sz="1950" spc="105" dirty="0">
                <a:latin typeface="Calibri"/>
                <a:cs typeface="Calibri"/>
              </a:rPr>
              <a:t>Input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spc="30" dirty="0">
                <a:latin typeface="Calibri"/>
                <a:cs typeface="Calibri"/>
              </a:rPr>
              <a:t>(r)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4996400" y="7108825"/>
            <a:ext cx="38862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850" spc="-30" dirty="0">
                <a:latin typeface="Cambria"/>
                <a:cs typeface="Cambria"/>
              </a:rPr>
              <a:t>200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249791" y="7929033"/>
            <a:ext cx="3989070" cy="123190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4604" marR="5080" indent="-2540">
              <a:lnSpc>
                <a:spcPts val="3000"/>
              </a:lnSpc>
              <a:spcBef>
                <a:spcPts val="615"/>
              </a:spcBef>
            </a:pPr>
            <a:r>
              <a:rPr sz="2900" spc="-60" dirty="0">
                <a:latin typeface="Calibri"/>
                <a:cs typeface="Calibri"/>
              </a:rPr>
              <a:t>Robust</a:t>
            </a:r>
            <a:r>
              <a:rPr sz="2900" spc="-80" dirty="0">
                <a:latin typeface="Calibri"/>
                <a:cs typeface="Calibri"/>
              </a:rPr>
              <a:t> </a:t>
            </a:r>
            <a:r>
              <a:rPr sz="2900" spc="-65" dirty="0">
                <a:latin typeface="Calibri"/>
                <a:cs typeface="Calibri"/>
              </a:rPr>
              <a:t>Stretching.</a:t>
            </a:r>
            <a:r>
              <a:rPr sz="2900" spc="-5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Ignores </a:t>
            </a:r>
            <a:r>
              <a:rPr sz="2900" spc="-70" dirty="0">
                <a:latin typeface="Calibri"/>
                <a:cs typeface="Calibri"/>
              </a:rPr>
              <a:t>outliers</a:t>
            </a:r>
            <a:r>
              <a:rPr sz="2900" spc="-80" dirty="0">
                <a:latin typeface="Calibri"/>
                <a:cs typeface="Calibri"/>
              </a:rPr>
              <a:t> </a:t>
            </a:r>
            <a:r>
              <a:rPr sz="2900" spc="-100" dirty="0">
                <a:latin typeface="Calibri"/>
                <a:cs typeface="Calibri"/>
              </a:rPr>
              <a:t>(e.g.,</a:t>
            </a:r>
            <a:r>
              <a:rPr sz="2900" spc="-65" dirty="0">
                <a:latin typeface="Calibri"/>
                <a:cs typeface="Calibri"/>
              </a:rPr>
              <a:t> </a:t>
            </a:r>
            <a:r>
              <a:rPr sz="2900" spc="-100" dirty="0">
                <a:latin typeface="Calibri"/>
                <a:cs typeface="Calibri"/>
              </a:rPr>
              <a:t>dead</a:t>
            </a:r>
            <a:r>
              <a:rPr sz="2900" spc="-60" dirty="0">
                <a:latin typeface="Calibri"/>
                <a:cs typeface="Calibri"/>
              </a:rPr>
              <a:t> </a:t>
            </a:r>
            <a:r>
              <a:rPr sz="2900" spc="-45" dirty="0">
                <a:latin typeface="Calibri"/>
                <a:cs typeface="Calibri"/>
              </a:rPr>
              <a:t>pixels)</a:t>
            </a:r>
            <a:r>
              <a:rPr sz="2900" spc="-70" dirty="0">
                <a:latin typeface="Calibri"/>
                <a:cs typeface="Calibri"/>
              </a:rPr>
              <a:t> </a:t>
            </a:r>
            <a:r>
              <a:rPr sz="2900" spc="-25" dirty="0">
                <a:latin typeface="Calibri"/>
                <a:cs typeface="Calibri"/>
              </a:rPr>
              <a:t>to </a:t>
            </a:r>
            <a:r>
              <a:rPr sz="2900" spc="-120" dirty="0">
                <a:latin typeface="Calibri"/>
                <a:cs typeface="Calibri"/>
              </a:rPr>
              <a:t>prevent</a:t>
            </a:r>
            <a:r>
              <a:rPr sz="2900" spc="-5" dirty="0">
                <a:latin typeface="Calibri"/>
                <a:cs typeface="Calibri"/>
              </a:rPr>
              <a:t> </a:t>
            </a:r>
            <a:r>
              <a:rPr sz="2900" spc="-105" dirty="0">
                <a:latin typeface="Calibri"/>
                <a:cs typeface="Calibri"/>
              </a:rPr>
              <a:t>skewed</a:t>
            </a:r>
            <a:r>
              <a:rPr sz="2900" spc="-3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scaling.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99500" y="2006600"/>
            <a:ext cx="76200" cy="7048500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291022"/>
              </p:ext>
            </p:extLst>
          </p:nvPr>
        </p:nvGraphicFramePr>
        <p:xfrm>
          <a:off x="749300" y="3132667"/>
          <a:ext cx="7280910" cy="5907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2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8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85900">
                <a:tc>
                  <a:txBody>
                    <a:bodyPr/>
                    <a:lstStyle/>
                    <a:p>
                      <a:pPr marL="197485" marR="1231265">
                        <a:lnSpc>
                          <a:spcPct val="79300"/>
                        </a:lnSpc>
                        <a:spcBef>
                          <a:spcPts val="2185"/>
                        </a:spcBef>
                      </a:pPr>
                      <a:r>
                        <a:rPr lang="en-IN" sz="4100" spc="-175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4100" spc="-175" dirty="0" err="1">
                          <a:latin typeface="Calibri"/>
                          <a:cs typeface="Calibri"/>
                        </a:rPr>
                        <a:t>apping</a:t>
                      </a:r>
                      <a:r>
                        <a:rPr sz="4100" spc="-1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100" spc="-10" dirty="0">
                          <a:latin typeface="Calibri"/>
                          <a:cs typeface="Calibri"/>
                        </a:rPr>
                        <a:t>Logic</a:t>
                      </a:r>
                      <a:endParaRPr sz="4100" dirty="0">
                        <a:latin typeface="Calibri"/>
                        <a:cs typeface="Calibri"/>
                      </a:endParaRPr>
                    </a:p>
                  </a:txBody>
                  <a:tcPr marL="0" marR="0" marT="277495" marB="0">
                    <a:lnR w="6350">
                      <a:solidFill>
                        <a:srgbClr val="3B3F48"/>
                      </a:solidFill>
                      <a:prstDash val="solid"/>
                    </a:lnR>
                    <a:lnT w="6350">
                      <a:solidFill>
                        <a:srgbClr val="3B3F48"/>
                      </a:solidFill>
                      <a:prstDash val="solid"/>
                    </a:lnT>
                    <a:lnB w="6350">
                      <a:solidFill>
                        <a:srgbClr val="3B3F4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2105" marR="1218565" indent="-10160">
                        <a:lnSpc>
                          <a:spcPct val="79300"/>
                        </a:lnSpc>
                        <a:spcBef>
                          <a:spcPts val="2185"/>
                        </a:spcBef>
                      </a:pPr>
                      <a:r>
                        <a:rPr sz="4100" spc="-25" dirty="0">
                          <a:latin typeface="Calibri"/>
                          <a:cs typeface="Calibri"/>
                        </a:rPr>
                        <a:t>Linear </a:t>
                      </a:r>
                      <a:r>
                        <a:rPr sz="4100" spc="-150" dirty="0">
                          <a:latin typeface="Calibri"/>
                          <a:cs typeface="Calibri"/>
                        </a:rPr>
                        <a:t>(Simple</a:t>
                      </a:r>
                      <a:r>
                        <a:rPr sz="4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100" spc="-160" dirty="0">
                          <a:latin typeface="Calibri"/>
                          <a:cs typeface="Calibri"/>
                        </a:rPr>
                        <a:t>Nath)</a:t>
                      </a:r>
                      <a:endParaRPr sz="4100">
                        <a:latin typeface="Calibri"/>
                        <a:cs typeface="Calibri"/>
                      </a:endParaRPr>
                    </a:p>
                  </a:txBody>
                  <a:tcPr marL="0" marR="0" marT="277495" marB="0">
                    <a:lnL w="6350">
                      <a:solidFill>
                        <a:srgbClr val="3B3F48"/>
                      </a:solidFill>
                      <a:prstDash val="solid"/>
                    </a:lnL>
                    <a:lnT w="6350">
                      <a:solidFill>
                        <a:srgbClr val="3B3F48"/>
                      </a:solidFill>
                      <a:prstDash val="solid"/>
                    </a:lnT>
                    <a:lnB w="6350">
                      <a:solidFill>
                        <a:srgbClr val="3B3F4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8600">
                <a:tc>
                  <a:txBody>
                    <a:bodyPr/>
                    <a:lstStyle/>
                    <a:p>
                      <a:pPr marL="210820" marR="915035" indent="-12700">
                        <a:lnSpc>
                          <a:spcPts val="3950"/>
                        </a:lnSpc>
                        <a:spcBef>
                          <a:spcPts val="2155"/>
                        </a:spcBef>
                      </a:pPr>
                      <a:r>
                        <a:rPr sz="3950" spc="-160" dirty="0">
                          <a:latin typeface="Calibri"/>
                          <a:cs typeface="Calibri"/>
                        </a:rPr>
                        <a:t>Histogram </a:t>
                      </a:r>
                      <a:r>
                        <a:rPr sz="3950" spc="-10" dirty="0">
                          <a:latin typeface="Calibri"/>
                          <a:cs typeface="Calibri"/>
                        </a:rPr>
                        <a:t>Shape</a:t>
                      </a:r>
                      <a:endParaRPr sz="3950">
                        <a:latin typeface="Calibri"/>
                        <a:cs typeface="Calibri"/>
                      </a:endParaRPr>
                    </a:p>
                  </a:txBody>
                  <a:tcPr marL="0" marR="0" marT="273685" marB="0">
                    <a:lnR w="6350">
                      <a:solidFill>
                        <a:srgbClr val="3B3F48"/>
                      </a:solidFill>
                      <a:prstDash val="solid"/>
                    </a:lnR>
                    <a:lnT w="6350">
                      <a:solidFill>
                        <a:srgbClr val="3B3F48"/>
                      </a:solidFill>
                      <a:prstDash val="solid"/>
                    </a:lnT>
                    <a:lnB w="6350">
                      <a:solidFill>
                        <a:srgbClr val="3B3F4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 marR="1632585" indent="-10160">
                        <a:lnSpc>
                          <a:spcPts val="3950"/>
                        </a:lnSpc>
                        <a:spcBef>
                          <a:spcPts val="2155"/>
                        </a:spcBef>
                      </a:pPr>
                      <a:r>
                        <a:rPr sz="3950" spc="-30" dirty="0">
                          <a:latin typeface="Calibri"/>
                          <a:cs typeface="Calibri"/>
                        </a:rPr>
                        <a:t>Preserved </a:t>
                      </a:r>
                      <a:r>
                        <a:rPr sz="3950" spc="-125" dirty="0">
                          <a:latin typeface="Calibri"/>
                          <a:cs typeface="Calibri"/>
                        </a:rPr>
                        <a:t>(3ust</a:t>
                      </a:r>
                      <a:r>
                        <a:rPr sz="395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950" spc="-180" dirty="0">
                          <a:latin typeface="Calibri"/>
                          <a:cs typeface="Calibri"/>
                        </a:rPr>
                        <a:t>wider)</a:t>
                      </a:r>
                      <a:endParaRPr sz="3950">
                        <a:latin typeface="Calibri"/>
                        <a:cs typeface="Calibri"/>
                      </a:endParaRPr>
                    </a:p>
                  </a:txBody>
                  <a:tcPr marL="0" marR="0" marT="273685" marB="0">
                    <a:lnL w="6350">
                      <a:solidFill>
                        <a:srgbClr val="3B3F48"/>
                      </a:solidFill>
                      <a:prstDash val="solid"/>
                    </a:lnL>
                    <a:lnT w="6350">
                      <a:solidFill>
                        <a:srgbClr val="3B3F48"/>
                      </a:solidFill>
                      <a:prstDash val="solid"/>
                    </a:lnT>
                    <a:lnB w="6350">
                      <a:solidFill>
                        <a:srgbClr val="3B3F4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100"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2865"/>
                        </a:spcBef>
                      </a:pPr>
                      <a:r>
                        <a:rPr sz="4000" spc="-40" dirty="0">
                          <a:latin typeface="Calibri"/>
                          <a:cs typeface="Calibri"/>
                        </a:rPr>
                        <a:t>Control</a:t>
                      </a:r>
                      <a:endParaRPr sz="4000">
                        <a:latin typeface="Calibri"/>
                        <a:cs typeface="Calibri"/>
                      </a:endParaRPr>
                    </a:p>
                  </a:txBody>
                  <a:tcPr marL="0" marR="0" marT="363855" marB="0">
                    <a:lnR w="6350">
                      <a:solidFill>
                        <a:srgbClr val="3B3F48"/>
                      </a:solidFill>
                      <a:prstDash val="solid"/>
                    </a:lnR>
                    <a:lnT w="6350">
                      <a:solidFill>
                        <a:srgbClr val="3B3F48"/>
                      </a:solidFill>
                      <a:prstDash val="solid"/>
                    </a:lnT>
                    <a:lnB w="6350">
                      <a:solidFill>
                        <a:srgbClr val="3B3F4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1945">
                        <a:lnSpc>
                          <a:spcPct val="100000"/>
                        </a:lnSpc>
                        <a:spcBef>
                          <a:spcPts val="2765"/>
                        </a:spcBef>
                      </a:pPr>
                      <a:r>
                        <a:rPr sz="4100" spc="-165" dirty="0">
                          <a:latin typeface="Calibri"/>
                          <a:cs typeface="Calibri"/>
                        </a:rPr>
                        <a:t>Predictable</a:t>
                      </a:r>
                      <a:r>
                        <a:rPr sz="41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100" spc="-56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4100" spc="-20" dirty="0">
                          <a:latin typeface="Calibri"/>
                          <a:cs typeface="Calibri"/>
                        </a:rPr>
                        <a:t> Safe</a:t>
                      </a:r>
                      <a:endParaRPr sz="4100">
                        <a:latin typeface="Calibri"/>
                        <a:cs typeface="Calibri"/>
                      </a:endParaRPr>
                    </a:p>
                  </a:txBody>
                  <a:tcPr marL="0" marR="0" marT="351155" marB="0">
                    <a:lnL w="6350">
                      <a:solidFill>
                        <a:srgbClr val="3B3F48"/>
                      </a:solidFill>
                      <a:prstDash val="solid"/>
                    </a:lnL>
                    <a:lnT w="6350">
                      <a:solidFill>
                        <a:srgbClr val="3B3F48"/>
                      </a:solidFill>
                      <a:prstDash val="solid"/>
                    </a:lnT>
                    <a:lnB w="6350">
                      <a:solidFill>
                        <a:srgbClr val="3B3F4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7805">
                <a:tc>
                  <a:txBody>
                    <a:bodyPr/>
                    <a:lstStyle/>
                    <a:p>
                      <a:pPr marL="197485" marR="1170305">
                        <a:lnSpc>
                          <a:spcPts val="3950"/>
                        </a:lnSpc>
                        <a:spcBef>
                          <a:spcPts val="2155"/>
                        </a:spcBef>
                      </a:pPr>
                      <a:r>
                        <a:rPr sz="4100" spc="-10" dirty="0">
                          <a:latin typeface="Calibri"/>
                          <a:cs typeface="Calibri"/>
                        </a:rPr>
                        <a:t>Noise </a:t>
                      </a:r>
                      <a:r>
                        <a:rPr sz="4100" spc="-195" dirty="0">
                          <a:latin typeface="Calibri"/>
                          <a:cs typeface="Calibri"/>
                        </a:rPr>
                        <a:t>Handling</a:t>
                      </a:r>
                      <a:endParaRPr sz="4100">
                        <a:latin typeface="Calibri"/>
                        <a:cs typeface="Calibri"/>
                      </a:endParaRPr>
                    </a:p>
                  </a:txBody>
                  <a:tcPr marL="0" marR="0" marT="273685" marB="0">
                    <a:lnR w="6350">
                      <a:solidFill>
                        <a:srgbClr val="3B3F48"/>
                      </a:solidFill>
                      <a:prstDash val="solid"/>
                    </a:lnR>
                    <a:lnT w="6350">
                      <a:solidFill>
                        <a:srgbClr val="3B3F4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31470" marR="1190625" indent="-9525">
                        <a:lnSpc>
                          <a:spcPts val="3950"/>
                        </a:lnSpc>
                        <a:spcBef>
                          <a:spcPts val="2155"/>
                        </a:spcBef>
                      </a:pPr>
                      <a:r>
                        <a:rPr sz="4100" spc="-260" dirty="0">
                          <a:latin typeface="Calibri"/>
                          <a:cs typeface="Calibri"/>
                        </a:rPr>
                        <a:t>Minimal</a:t>
                      </a:r>
                      <a:r>
                        <a:rPr sz="41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100" spc="-195" dirty="0">
                          <a:latin typeface="Calibri"/>
                          <a:cs typeface="Calibri"/>
                        </a:rPr>
                        <a:t>Noise </a:t>
                      </a:r>
                      <a:r>
                        <a:rPr sz="4100" spc="-145" dirty="0">
                          <a:latin typeface="Calibri"/>
                          <a:cs typeface="Calibri"/>
                        </a:rPr>
                        <a:t>Amplification</a:t>
                      </a:r>
                      <a:endParaRPr sz="4100" dirty="0">
                        <a:latin typeface="Calibri"/>
                        <a:cs typeface="Calibri"/>
                      </a:endParaRPr>
                    </a:p>
                  </a:txBody>
                  <a:tcPr marL="0" marR="0" marT="273685" marB="0">
                    <a:lnL w="6350">
                      <a:solidFill>
                        <a:srgbClr val="3B3F48"/>
                      </a:solidFill>
                      <a:prstDash val="solid"/>
                    </a:lnL>
                    <a:lnT w="6350">
                      <a:solidFill>
                        <a:srgbClr val="3B3F48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8644"/>
              </p:ext>
            </p:extLst>
          </p:nvPr>
        </p:nvGraphicFramePr>
        <p:xfrm>
          <a:off x="9461500" y="3132667"/>
          <a:ext cx="7280908" cy="5907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65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5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85900">
                <a:tc>
                  <a:txBody>
                    <a:bodyPr/>
                    <a:lstStyle/>
                    <a:p>
                      <a:pPr marL="198755">
                        <a:lnSpc>
                          <a:spcPts val="4220"/>
                        </a:lnSpc>
                        <a:spcBef>
                          <a:spcPts val="1315"/>
                        </a:spcBef>
                      </a:pPr>
                      <a:r>
                        <a:rPr lang="en-IN" sz="3950" spc="-1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3950" spc="-10" dirty="0" err="1">
                          <a:latin typeface="Calibri"/>
                          <a:cs typeface="Calibri"/>
                        </a:rPr>
                        <a:t>apping</a:t>
                      </a:r>
                      <a:endParaRPr sz="3950" dirty="0">
                        <a:latin typeface="Calibri"/>
                        <a:cs typeface="Calibri"/>
                      </a:endParaRPr>
                    </a:p>
                    <a:p>
                      <a:pPr marL="196850">
                        <a:lnSpc>
                          <a:spcPts val="4460"/>
                        </a:lnSpc>
                      </a:pPr>
                      <a:r>
                        <a:rPr sz="4150" spc="-10" dirty="0">
                          <a:latin typeface="Calibri"/>
                          <a:cs typeface="Calibri"/>
                        </a:rPr>
                        <a:t>Logic</a:t>
                      </a:r>
                      <a:endParaRPr sz="4150" dirty="0">
                        <a:latin typeface="Calibri"/>
                        <a:cs typeface="Calibri"/>
                      </a:endParaRPr>
                    </a:p>
                  </a:txBody>
                  <a:tcPr marL="0" marR="0" marT="167005" marB="0">
                    <a:lnR w="6350">
                      <a:solidFill>
                        <a:srgbClr val="3B3F48"/>
                      </a:solidFill>
                      <a:prstDash val="solid"/>
                    </a:lnR>
                    <a:lnT w="6350">
                      <a:solidFill>
                        <a:srgbClr val="3B3F48"/>
                      </a:solidFill>
                      <a:prstDash val="solid"/>
                    </a:lnT>
                    <a:lnB w="6350">
                      <a:solidFill>
                        <a:srgbClr val="3B3F4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ts val="4220"/>
                        </a:lnSpc>
                        <a:spcBef>
                          <a:spcPts val="1315"/>
                        </a:spcBef>
                      </a:pPr>
                      <a:r>
                        <a:rPr sz="3950" spc="-150" dirty="0">
                          <a:latin typeface="Calibri"/>
                          <a:cs typeface="Calibri"/>
                        </a:rPr>
                        <a:t>Non-</a:t>
                      </a:r>
                      <a:r>
                        <a:rPr sz="3950" spc="-10" dirty="0">
                          <a:latin typeface="Calibri"/>
                          <a:cs typeface="Calibri"/>
                        </a:rPr>
                        <a:t>Linear</a:t>
                      </a:r>
                      <a:endParaRPr sz="3950">
                        <a:latin typeface="Calibri"/>
                        <a:cs typeface="Calibri"/>
                      </a:endParaRPr>
                    </a:p>
                    <a:p>
                      <a:pPr marL="217170">
                        <a:lnSpc>
                          <a:spcPts val="4460"/>
                        </a:lnSpc>
                      </a:pPr>
                      <a:r>
                        <a:rPr sz="4150" spc="-125" dirty="0">
                          <a:latin typeface="Calibri"/>
                          <a:cs typeface="Calibri"/>
                        </a:rPr>
                        <a:t>(Statistical</a:t>
                      </a:r>
                      <a:r>
                        <a:rPr sz="41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150" spc="-515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41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150" spc="-20" dirty="0">
                          <a:latin typeface="Calibri"/>
                          <a:cs typeface="Calibri"/>
                        </a:rPr>
                        <a:t>CDF)</a:t>
                      </a:r>
                      <a:endParaRPr sz="4150">
                        <a:latin typeface="Calibri"/>
                        <a:cs typeface="Calibri"/>
                      </a:endParaRPr>
                    </a:p>
                  </a:txBody>
                  <a:tcPr marL="0" marR="0" marT="167005" marB="0">
                    <a:lnL w="6350">
                      <a:solidFill>
                        <a:srgbClr val="3B3F48"/>
                      </a:solidFill>
                      <a:prstDash val="solid"/>
                    </a:lnL>
                    <a:lnT w="6350">
                      <a:solidFill>
                        <a:srgbClr val="3B3F48"/>
                      </a:solidFill>
                      <a:prstDash val="solid"/>
                    </a:lnT>
                    <a:lnB w="6350">
                      <a:solidFill>
                        <a:srgbClr val="3B3F4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8600">
                <a:tc>
                  <a:txBody>
                    <a:bodyPr/>
                    <a:lstStyle/>
                    <a:p>
                      <a:pPr marL="210820" marR="1118235" indent="-12700">
                        <a:lnSpc>
                          <a:spcPts val="3950"/>
                        </a:lnSpc>
                        <a:spcBef>
                          <a:spcPts val="2155"/>
                        </a:spcBef>
                      </a:pPr>
                      <a:r>
                        <a:rPr sz="3950" spc="-160" dirty="0">
                          <a:latin typeface="Calibri"/>
                          <a:cs typeface="Calibri"/>
                        </a:rPr>
                        <a:t>Histogram </a:t>
                      </a:r>
                      <a:r>
                        <a:rPr sz="3950" spc="-10" dirty="0">
                          <a:latin typeface="Calibri"/>
                          <a:cs typeface="Calibri"/>
                        </a:rPr>
                        <a:t>Shape</a:t>
                      </a:r>
                      <a:endParaRPr sz="3950">
                        <a:latin typeface="Calibri"/>
                        <a:cs typeface="Calibri"/>
                      </a:endParaRPr>
                    </a:p>
                  </a:txBody>
                  <a:tcPr marL="0" marR="0" marT="273685" marB="0">
                    <a:lnR w="6350">
                      <a:solidFill>
                        <a:srgbClr val="3B3F48"/>
                      </a:solidFill>
                      <a:prstDash val="solid"/>
                    </a:lnR>
                    <a:lnT w="6350">
                      <a:solidFill>
                        <a:srgbClr val="3B3F48"/>
                      </a:solidFill>
                      <a:prstDash val="solid"/>
                    </a:lnT>
                    <a:lnB w="6350">
                      <a:solidFill>
                        <a:srgbClr val="3B3F4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0" marR="1239520">
                        <a:lnSpc>
                          <a:spcPts val="3950"/>
                        </a:lnSpc>
                        <a:spcBef>
                          <a:spcPts val="2155"/>
                        </a:spcBef>
                      </a:pPr>
                      <a:r>
                        <a:rPr sz="3950" spc="-114" dirty="0">
                          <a:latin typeface="Calibri"/>
                          <a:cs typeface="Calibri"/>
                        </a:rPr>
                        <a:t>Flattened</a:t>
                      </a:r>
                      <a:r>
                        <a:rPr sz="39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950" spc="-390" dirty="0">
                          <a:latin typeface="Calibri"/>
                          <a:cs typeface="Calibri"/>
                        </a:rPr>
                        <a:t>/ </a:t>
                      </a:r>
                      <a:r>
                        <a:rPr sz="3950" spc="-145" dirty="0">
                          <a:latin typeface="Calibri"/>
                          <a:cs typeface="Calibri"/>
                        </a:rPr>
                        <a:t>Redistributed</a:t>
                      </a:r>
                      <a:endParaRPr sz="3950">
                        <a:latin typeface="Calibri"/>
                        <a:cs typeface="Calibri"/>
                      </a:endParaRPr>
                    </a:p>
                  </a:txBody>
                  <a:tcPr marL="0" marR="0" marT="273685" marB="0">
                    <a:lnL w="6350">
                      <a:solidFill>
                        <a:srgbClr val="3B3F48"/>
                      </a:solidFill>
                      <a:prstDash val="solid"/>
                    </a:lnL>
                    <a:lnT w="6350">
                      <a:solidFill>
                        <a:srgbClr val="3B3F48"/>
                      </a:solidFill>
                      <a:prstDash val="solid"/>
                    </a:lnT>
                    <a:lnB w="6350">
                      <a:solidFill>
                        <a:srgbClr val="3B3F4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100">
                <a:tc>
                  <a:txBody>
                    <a:bodyPr/>
                    <a:lstStyle/>
                    <a:p>
                      <a:pPr marL="204470">
                        <a:lnSpc>
                          <a:spcPct val="100000"/>
                        </a:lnSpc>
                        <a:spcBef>
                          <a:spcPts val="2915"/>
                        </a:spcBef>
                      </a:pPr>
                      <a:r>
                        <a:rPr sz="3950" spc="-10" dirty="0">
                          <a:latin typeface="Calibri"/>
                          <a:cs typeface="Calibri"/>
                        </a:rPr>
                        <a:t>Control</a:t>
                      </a:r>
                      <a:endParaRPr sz="3950">
                        <a:latin typeface="Calibri"/>
                        <a:cs typeface="Calibri"/>
                      </a:endParaRPr>
                    </a:p>
                  </a:txBody>
                  <a:tcPr marL="0" marR="0" marT="370205" marB="0">
                    <a:lnR w="6350">
                      <a:solidFill>
                        <a:srgbClr val="3B3F48"/>
                      </a:solidFill>
                      <a:prstDash val="solid"/>
                    </a:lnR>
                    <a:lnT w="6350">
                      <a:solidFill>
                        <a:srgbClr val="3B3F48"/>
                      </a:solidFill>
                      <a:prstDash val="solid"/>
                    </a:lnT>
                    <a:lnB w="6350">
                      <a:solidFill>
                        <a:srgbClr val="3B3F4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804" marR="1307465">
                        <a:lnSpc>
                          <a:spcPts val="3950"/>
                        </a:lnSpc>
                        <a:spcBef>
                          <a:spcPts val="1855"/>
                        </a:spcBef>
                      </a:pPr>
                      <a:r>
                        <a:rPr sz="3850" spc="-20" dirty="0">
                          <a:latin typeface="Calibri"/>
                          <a:cs typeface="Calibri"/>
                        </a:rPr>
                        <a:t>Aggressive</a:t>
                      </a:r>
                      <a:r>
                        <a:rPr sz="385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850" spc="-420" dirty="0">
                          <a:latin typeface="Calibri"/>
                          <a:cs typeface="Calibri"/>
                        </a:rPr>
                        <a:t>&amp; </a:t>
                      </a:r>
                      <a:r>
                        <a:rPr sz="3850" spc="-45" dirty="0">
                          <a:latin typeface="Calibri"/>
                          <a:cs typeface="Calibri"/>
                        </a:rPr>
                        <a:t>Automated</a:t>
                      </a:r>
                      <a:endParaRPr sz="3850">
                        <a:latin typeface="Calibri"/>
                        <a:cs typeface="Calibri"/>
                      </a:endParaRPr>
                    </a:p>
                  </a:txBody>
                  <a:tcPr marL="0" marR="0" marT="235585" marB="0">
                    <a:lnL w="6350">
                      <a:solidFill>
                        <a:srgbClr val="3B3F48"/>
                      </a:solidFill>
                      <a:prstDash val="solid"/>
                    </a:lnL>
                    <a:lnT w="6350">
                      <a:solidFill>
                        <a:srgbClr val="3B3F48"/>
                      </a:solidFill>
                      <a:prstDash val="solid"/>
                    </a:lnT>
                    <a:lnB w="6350">
                      <a:solidFill>
                        <a:srgbClr val="3B3F4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7805">
                <a:tc>
                  <a:txBody>
                    <a:bodyPr/>
                    <a:lstStyle/>
                    <a:p>
                      <a:pPr marL="197485" marR="1373505">
                        <a:lnSpc>
                          <a:spcPts val="3950"/>
                        </a:lnSpc>
                        <a:spcBef>
                          <a:spcPts val="2155"/>
                        </a:spcBef>
                      </a:pPr>
                      <a:r>
                        <a:rPr sz="4100" spc="-10" dirty="0">
                          <a:latin typeface="Calibri"/>
                          <a:cs typeface="Calibri"/>
                        </a:rPr>
                        <a:t>Noise </a:t>
                      </a:r>
                      <a:r>
                        <a:rPr sz="4100" spc="-195" dirty="0">
                          <a:latin typeface="Calibri"/>
                          <a:cs typeface="Calibri"/>
                        </a:rPr>
                        <a:t>Handling</a:t>
                      </a:r>
                      <a:endParaRPr sz="4100">
                        <a:latin typeface="Calibri"/>
                        <a:cs typeface="Calibri"/>
                      </a:endParaRPr>
                    </a:p>
                  </a:txBody>
                  <a:tcPr marL="0" marR="0" marT="273685" marB="0">
                    <a:lnR w="6350">
                      <a:solidFill>
                        <a:srgbClr val="3B3F48"/>
                      </a:solidFill>
                      <a:prstDash val="solid"/>
                    </a:lnR>
                    <a:lnT w="6350">
                      <a:solidFill>
                        <a:srgbClr val="3B3F4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1770" marR="366395" indent="-9525">
                        <a:lnSpc>
                          <a:spcPts val="3950"/>
                        </a:lnSpc>
                        <a:spcBef>
                          <a:spcPts val="2155"/>
                        </a:spcBef>
                      </a:pPr>
                      <a:r>
                        <a:rPr sz="4100" spc="-200" dirty="0">
                          <a:latin typeface="Calibri"/>
                          <a:cs typeface="Calibri"/>
                        </a:rPr>
                        <a:t>High</a:t>
                      </a:r>
                      <a:r>
                        <a:rPr sz="41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100" spc="-25" dirty="0">
                          <a:latin typeface="Calibri"/>
                          <a:cs typeface="Calibri"/>
                        </a:rPr>
                        <a:t>Risk</a:t>
                      </a:r>
                      <a:r>
                        <a:rPr sz="4100" spc="-1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100" spc="-29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41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100" spc="-170" dirty="0">
                          <a:latin typeface="Calibri"/>
                          <a:cs typeface="Calibri"/>
                        </a:rPr>
                        <a:t>Noise </a:t>
                      </a:r>
                      <a:r>
                        <a:rPr sz="4100" spc="-145" dirty="0">
                          <a:latin typeface="Calibri"/>
                          <a:cs typeface="Calibri"/>
                        </a:rPr>
                        <a:t>Amplification</a:t>
                      </a:r>
                      <a:endParaRPr sz="4100" dirty="0">
                        <a:latin typeface="Calibri"/>
                        <a:cs typeface="Calibri"/>
                      </a:endParaRPr>
                    </a:p>
                  </a:txBody>
                  <a:tcPr marL="0" marR="0" marT="273685" marB="0">
                    <a:lnL w="6350">
                      <a:solidFill>
                        <a:srgbClr val="3B3F48"/>
                      </a:solidFill>
                      <a:prstDash val="solid"/>
                    </a:lnL>
                    <a:lnT w="6350">
                      <a:solidFill>
                        <a:srgbClr val="3B3F48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916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100"/>
              </a:spcBef>
            </a:pPr>
            <a:r>
              <a:rPr sz="7150" spc="-70" dirty="0">
                <a:solidFill>
                  <a:srgbClr val="262626"/>
                </a:solidFill>
              </a:rPr>
              <a:t>The</a:t>
            </a:r>
            <a:r>
              <a:rPr sz="7150" spc="-335" dirty="0">
                <a:solidFill>
                  <a:srgbClr val="262626"/>
                </a:solidFill>
              </a:rPr>
              <a:t> </a:t>
            </a:r>
            <a:r>
              <a:rPr sz="7150" spc="-140" dirty="0">
                <a:solidFill>
                  <a:srgbClr val="232323"/>
                </a:solidFill>
              </a:rPr>
              <a:t>Showdown:</a:t>
            </a:r>
            <a:r>
              <a:rPr sz="7150" spc="-190" dirty="0">
                <a:solidFill>
                  <a:srgbClr val="232323"/>
                </a:solidFill>
              </a:rPr>
              <a:t> </a:t>
            </a:r>
            <a:r>
              <a:rPr sz="7150" spc="-100" dirty="0">
                <a:solidFill>
                  <a:srgbClr val="232323"/>
                </a:solidFill>
              </a:rPr>
              <a:t>Equatization</a:t>
            </a:r>
            <a:r>
              <a:rPr sz="7150" spc="130" dirty="0">
                <a:solidFill>
                  <a:srgbClr val="232323"/>
                </a:solidFill>
              </a:rPr>
              <a:t> </a:t>
            </a:r>
            <a:r>
              <a:rPr sz="7150" spc="125" dirty="0">
                <a:solidFill>
                  <a:srgbClr val="262626"/>
                </a:solidFill>
              </a:rPr>
              <a:t>vs.</a:t>
            </a:r>
            <a:r>
              <a:rPr sz="7150" spc="-405" dirty="0">
                <a:solidFill>
                  <a:srgbClr val="262626"/>
                </a:solidFill>
              </a:rPr>
              <a:t> </a:t>
            </a:r>
            <a:r>
              <a:rPr sz="7150" spc="-10" dirty="0">
                <a:solidFill>
                  <a:srgbClr val="232323"/>
                </a:solidFill>
              </a:rPr>
              <a:t>Stretching</a:t>
            </a:r>
            <a:endParaRPr sz="7150"/>
          </a:p>
        </p:txBody>
      </p:sp>
      <p:sp>
        <p:nvSpPr>
          <p:cNvPr id="6" name="object 6"/>
          <p:cNvSpPr txBox="1"/>
          <p:nvPr/>
        </p:nvSpPr>
        <p:spPr>
          <a:xfrm>
            <a:off x="3976692" y="2218972"/>
            <a:ext cx="11511915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901815" algn="l"/>
              </a:tabLst>
            </a:pPr>
            <a:r>
              <a:rPr sz="3950" spc="-35" dirty="0">
                <a:solidFill>
                  <a:srgbClr val="BA5021"/>
                </a:solidFill>
                <a:latin typeface="Calibri"/>
                <a:cs typeface="Calibri"/>
              </a:rPr>
              <a:t>Contrast</a:t>
            </a:r>
            <a:r>
              <a:rPr sz="3950" spc="-130" dirty="0">
                <a:solidFill>
                  <a:srgbClr val="BA5021"/>
                </a:solidFill>
                <a:latin typeface="Calibri"/>
                <a:cs typeface="Calibri"/>
              </a:rPr>
              <a:t> </a:t>
            </a:r>
            <a:r>
              <a:rPr sz="3950" spc="-10" dirty="0">
                <a:solidFill>
                  <a:srgbClr val="BC5623"/>
                </a:solidFill>
                <a:latin typeface="Calibri"/>
                <a:cs typeface="Calibri"/>
              </a:rPr>
              <a:t>Stretching</a:t>
            </a:r>
            <a:r>
              <a:rPr sz="3950" dirty="0">
                <a:solidFill>
                  <a:srgbClr val="BC5623"/>
                </a:solidFill>
                <a:latin typeface="Calibri"/>
                <a:cs typeface="Calibri"/>
              </a:rPr>
              <a:t>	</a:t>
            </a:r>
            <a:r>
              <a:rPr sz="4000" spc="-80" dirty="0">
                <a:solidFill>
                  <a:srgbClr val="BD4D1D"/>
                </a:solidFill>
                <a:latin typeface="Calibri"/>
                <a:cs typeface="Calibri"/>
              </a:rPr>
              <a:t>Histogram</a:t>
            </a:r>
            <a:r>
              <a:rPr sz="4000" spc="-125" dirty="0">
                <a:solidFill>
                  <a:srgbClr val="BD4D1D"/>
                </a:solidFill>
                <a:latin typeface="Calibri"/>
                <a:cs typeface="Calibri"/>
              </a:rPr>
              <a:t> </a:t>
            </a:r>
            <a:r>
              <a:rPr sz="4000" spc="-45" dirty="0">
                <a:solidFill>
                  <a:srgbClr val="B84916"/>
                </a:solidFill>
                <a:latin typeface="Calibri"/>
                <a:cs typeface="Calibri"/>
              </a:rPr>
              <a:t>Equalization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9000" y="7073900"/>
            <a:ext cx="12827000" cy="2032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565400" y="4826000"/>
            <a:ext cx="10147300" cy="1943100"/>
            <a:chOff x="2565400" y="4826000"/>
            <a:chExt cx="10147300" cy="19431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5400" y="4826000"/>
              <a:ext cx="10147300" cy="19431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62500" y="6284383"/>
              <a:ext cx="4754245" cy="0"/>
            </a:xfrm>
            <a:custGeom>
              <a:avLst/>
              <a:gdLst/>
              <a:ahLst/>
              <a:cxnLst/>
              <a:rect l="l" t="t" r="r" b="b"/>
              <a:pathLst>
                <a:path w="4754245">
                  <a:moveTo>
                    <a:pt x="0" y="0"/>
                  </a:moveTo>
                  <a:lnTo>
                    <a:pt x="4754033" y="0"/>
                  </a:lnTo>
                </a:path>
              </a:pathLst>
            </a:custGeom>
            <a:ln w="4233">
              <a:solidFill>
                <a:srgbClr val="677C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3005" y="482599"/>
            <a:ext cx="1215136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55" dirty="0">
                <a:solidFill>
                  <a:srgbClr val="282828"/>
                </a:solidFill>
                <a:latin typeface="Arial MT"/>
                <a:cs typeface="Arial MT"/>
              </a:rPr>
              <a:t>Pillar</a:t>
            </a:r>
            <a:r>
              <a:rPr sz="5000" spc="6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5000" spc="55" dirty="0">
                <a:solidFill>
                  <a:srgbClr val="262626"/>
                </a:solidFill>
                <a:latin typeface="Arial MT"/>
                <a:cs typeface="Arial MT"/>
              </a:rPr>
              <a:t>3:</a:t>
            </a:r>
            <a:r>
              <a:rPr sz="5000" spc="-7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5000" dirty="0">
                <a:solidFill>
                  <a:srgbClr val="2A2A2A"/>
                </a:solidFill>
                <a:latin typeface="Arial MT"/>
                <a:cs typeface="Arial MT"/>
              </a:rPr>
              <a:t>The</a:t>
            </a:r>
            <a:r>
              <a:rPr sz="5000" spc="-18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5000" spc="45" dirty="0">
                <a:solidFill>
                  <a:srgbClr val="262626"/>
                </a:solidFill>
                <a:latin typeface="Arial MT"/>
                <a:cs typeface="Arial MT"/>
              </a:rPr>
              <a:t>Science</a:t>
            </a:r>
            <a:r>
              <a:rPr sz="5000" spc="5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5000" spc="120" dirty="0">
                <a:solidFill>
                  <a:srgbClr val="2D2D2D"/>
                </a:solidFill>
                <a:latin typeface="Arial MT"/>
                <a:cs typeface="Arial MT"/>
              </a:rPr>
              <a:t>of</a:t>
            </a:r>
            <a:r>
              <a:rPr sz="5000" spc="-19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5000" spc="50" dirty="0">
                <a:solidFill>
                  <a:srgbClr val="282828"/>
                </a:solidFill>
                <a:latin typeface="Arial MT"/>
                <a:cs typeface="Arial MT"/>
              </a:rPr>
              <a:t>Image</a:t>
            </a:r>
            <a:r>
              <a:rPr sz="5000" spc="-17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5000" spc="75" dirty="0">
                <a:solidFill>
                  <a:srgbClr val="282828"/>
                </a:solidFill>
                <a:latin typeface="Arial MT"/>
                <a:cs typeface="Arial MT"/>
              </a:rPr>
              <a:t>Restoration</a:t>
            </a:r>
            <a:endParaRPr sz="5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4017" y="1170516"/>
            <a:ext cx="15712440" cy="23272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30"/>
              </a:spcBef>
              <a:tabLst>
                <a:tab pos="7048500" algn="l"/>
              </a:tabLst>
            </a:pPr>
            <a:r>
              <a:rPr sz="4550" spc="-114" dirty="0">
                <a:solidFill>
                  <a:srgbClr val="9A5233"/>
                </a:solidFill>
                <a:latin typeface="Calibri"/>
                <a:cs typeface="Calibri"/>
              </a:rPr>
              <a:t>From</a:t>
            </a:r>
            <a:r>
              <a:rPr sz="4550" spc="-145" dirty="0">
                <a:solidFill>
                  <a:srgbClr val="9A5233"/>
                </a:solidFill>
                <a:latin typeface="Calibri"/>
                <a:cs typeface="Calibri"/>
              </a:rPr>
              <a:t> </a:t>
            </a:r>
            <a:r>
              <a:rPr sz="4550" spc="-55" dirty="0">
                <a:solidFill>
                  <a:srgbClr val="994D2A"/>
                </a:solidFill>
                <a:latin typeface="Calibri"/>
                <a:cs typeface="Calibri"/>
              </a:rPr>
              <a:t>Subjective</a:t>
            </a:r>
            <a:r>
              <a:rPr sz="4550" spc="-180" dirty="0">
                <a:solidFill>
                  <a:srgbClr val="994D2A"/>
                </a:solidFill>
                <a:latin typeface="Calibri"/>
                <a:cs typeface="Calibri"/>
              </a:rPr>
              <a:t> </a:t>
            </a:r>
            <a:r>
              <a:rPr sz="4550" spc="-10" dirty="0">
                <a:solidFill>
                  <a:srgbClr val="AC542D"/>
                </a:solidFill>
                <a:latin typeface="Calibri"/>
                <a:cs typeface="Calibri"/>
              </a:rPr>
              <a:t>Enhancement</a:t>
            </a:r>
            <a:r>
              <a:rPr sz="4550" dirty="0">
                <a:solidFill>
                  <a:srgbClr val="AC542D"/>
                </a:solidFill>
                <a:latin typeface="Calibri"/>
                <a:cs typeface="Calibri"/>
              </a:rPr>
              <a:t>	</a:t>
            </a:r>
            <a:r>
              <a:rPr sz="4550" spc="-245" dirty="0">
                <a:solidFill>
                  <a:srgbClr val="A54F28"/>
                </a:solidFill>
                <a:latin typeface="Calibri"/>
                <a:cs typeface="Calibri"/>
              </a:rPr>
              <a:t>to</a:t>
            </a:r>
            <a:r>
              <a:rPr sz="4550" spc="-55" dirty="0">
                <a:solidFill>
                  <a:srgbClr val="A54F28"/>
                </a:solidFill>
                <a:latin typeface="Calibri"/>
                <a:cs typeface="Calibri"/>
              </a:rPr>
              <a:t> </a:t>
            </a:r>
            <a:r>
              <a:rPr sz="4550" spc="-100" dirty="0">
                <a:solidFill>
                  <a:srgbClr val="A55228"/>
                </a:solidFill>
                <a:latin typeface="Calibri"/>
                <a:cs typeface="Calibri"/>
              </a:rPr>
              <a:t>Objective</a:t>
            </a:r>
            <a:r>
              <a:rPr sz="4550" spc="-90" dirty="0">
                <a:solidFill>
                  <a:srgbClr val="A55228"/>
                </a:solidFill>
                <a:latin typeface="Calibri"/>
                <a:cs typeface="Calibri"/>
              </a:rPr>
              <a:t> </a:t>
            </a:r>
            <a:r>
              <a:rPr sz="4550" spc="-10" dirty="0">
                <a:solidFill>
                  <a:srgbClr val="A3562F"/>
                </a:solidFill>
                <a:latin typeface="Calibri"/>
                <a:cs typeface="Calibri"/>
              </a:rPr>
              <a:t>Recovery</a:t>
            </a:r>
            <a:endParaRPr sz="4550">
              <a:latin typeface="Calibri"/>
              <a:cs typeface="Calibri"/>
            </a:endParaRPr>
          </a:p>
          <a:p>
            <a:pPr marL="19685">
              <a:lnSpc>
                <a:spcPts val="4280"/>
              </a:lnSpc>
              <a:spcBef>
                <a:spcPts val="3890"/>
              </a:spcBef>
              <a:tabLst>
                <a:tab pos="2858135" algn="l"/>
              </a:tabLst>
            </a:pPr>
            <a:r>
              <a:rPr sz="3800" spc="-10" dirty="0">
                <a:latin typeface="Calibri"/>
                <a:cs typeface="Calibri"/>
              </a:rPr>
              <a:t>Enhancement</a:t>
            </a:r>
            <a:r>
              <a:rPr sz="3800" dirty="0">
                <a:latin typeface="Calibri"/>
                <a:cs typeface="Calibri"/>
              </a:rPr>
              <a:t>	</a:t>
            </a:r>
            <a:r>
              <a:rPr sz="3800" dirty="0">
                <a:solidFill>
                  <a:srgbClr val="0A0A0A"/>
                </a:solidFill>
                <a:latin typeface="Calibri"/>
                <a:cs typeface="Calibri"/>
              </a:rPr>
              <a:t>aims</a:t>
            </a:r>
            <a:r>
              <a:rPr sz="3800" spc="-50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3800" spc="-35" dirty="0">
                <a:solidFill>
                  <a:srgbClr val="0A0A0A"/>
                </a:solidFill>
                <a:latin typeface="Calibri"/>
                <a:cs typeface="Calibri"/>
              </a:rPr>
              <a:t>to</a:t>
            </a:r>
            <a:r>
              <a:rPr sz="3800" spc="-160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“make</a:t>
            </a:r>
            <a:r>
              <a:rPr sz="3800" spc="-3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it</a:t>
            </a:r>
            <a:r>
              <a:rPr sz="3800" spc="-6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look</a:t>
            </a:r>
            <a:r>
              <a:rPr sz="3800" spc="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good”</a:t>
            </a:r>
            <a:r>
              <a:rPr sz="3800" spc="-40" dirty="0"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50505"/>
                </a:solidFill>
                <a:latin typeface="Calibri"/>
                <a:cs typeface="Calibri"/>
              </a:rPr>
              <a:t>to</a:t>
            </a:r>
            <a:r>
              <a:rPr sz="3800" spc="-175" dirty="0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A0A0A"/>
                </a:solidFill>
                <a:latin typeface="Calibri"/>
                <a:cs typeface="Calibri"/>
              </a:rPr>
              <a:t>a</a:t>
            </a:r>
            <a:r>
              <a:rPr sz="3800" spc="-90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human</a:t>
            </a:r>
            <a:r>
              <a:rPr sz="3800" spc="10" dirty="0">
                <a:latin typeface="Calibri"/>
                <a:cs typeface="Calibri"/>
              </a:rPr>
              <a:t> </a:t>
            </a:r>
            <a:r>
              <a:rPr sz="3800" spc="-30" dirty="0">
                <a:latin typeface="Calibri"/>
                <a:cs typeface="Calibri"/>
              </a:rPr>
              <a:t>observer.</a:t>
            </a:r>
            <a:r>
              <a:rPr sz="3800" spc="-9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Restoration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ts val="4460"/>
              </a:lnSpc>
            </a:pPr>
            <a:r>
              <a:rPr sz="3950" dirty="0">
                <a:latin typeface="Calibri"/>
                <a:cs typeface="Calibri"/>
              </a:rPr>
              <a:t>aims</a:t>
            </a:r>
            <a:r>
              <a:rPr sz="3950" spc="-235" dirty="0">
                <a:latin typeface="Calibri"/>
                <a:cs typeface="Calibri"/>
              </a:rPr>
              <a:t> </a:t>
            </a:r>
            <a:r>
              <a:rPr sz="3950" spc="-125" dirty="0">
                <a:latin typeface="Calibri"/>
                <a:cs typeface="Calibri"/>
              </a:rPr>
              <a:t>to</a:t>
            </a:r>
            <a:r>
              <a:rPr sz="3950" spc="-95" dirty="0">
                <a:latin typeface="Calibri"/>
                <a:cs typeface="Calibri"/>
              </a:rPr>
              <a:t> </a:t>
            </a:r>
            <a:r>
              <a:rPr sz="3950" spc="-60" dirty="0">
                <a:latin typeface="Calibri"/>
                <a:cs typeface="Calibri"/>
              </a:rPr>
              <a:t>mathematically</a:t>
            </a:r>
            <a:r>
              <a:rPr sz="3950" spc="-165" dirty="0">
                <a:latin typeface="Calibri"/>
                <a:cs typeface="Calibri"/>
              </a:rPr>
              <a:t> </a:t>
            </a:r>
            <a:r>
              <a:rPr sz="3950" spc="-75" dirty="0">
                <a:latin typeface="Calibri"/>
                <a:cs typeface="Calibri"/>
              </a:rPr>
              <a:t>recover</a:t>
            </a:r>
            <a:r>
              <a:rPr sz="3950" spc="-105" dirty="0">
                <a:latin typeface="Calibri"/>
                <a:cs typeface="Calibri"/>
              </a:rPr>
              <a:t> </a:t>
            </a:r>
            <a:r>
              <a:rPr sz="3950" spc="-90" dirty="0">
                <a:latin typeface="Calibri"/>
                <a:cs typeface="Calibri"/>
              </a:rPr>
              <a:t>the</a:t>
            </a:r>
            <a:r>
              <a:rPr sz="3950" spc="-130" dirty="0">
                <a:latin typeface="Calibri"/>
                <a:cs typeface="Calibri"/>
              </a:rPr>
              <a:t> </a:t>
            </a:r>
            <a:r>
              <a:rPr sz="3950" spc="-50" dirty="0">
                <a:latin typeface="Calibri"/>
                <a:cs typeface="Calibri"/>
              </a:rPr>
              <a:t>original</a:t>
            </a:r>
            <a:r>
              <a:rPr sz="3950" spc="-160" dirty="0">
                <a:latin typeface="Calibri"/>
                <a:cs typeface="Calibri"/>
              </a:rPr>
              <a:t> </a:t>
            </a:r>
            <a:r>
              <a:rPr sz="3950" spc="-45" dirty="0">
                <a:solidFill>
                  <a:srgbClr val="080808"/>
                </a:solidFill>
                <a:latin typeface="Calibri"/>
                <a:cs typeface="Calibri"/>
              </a:rPr>
              <a:t>data</a:t>
            </a:r>
            <a:r>
              <a:rPr sz="3950" spc="-260" dirty="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sz="3950" dirty="0">
                <a:latin typeface="Calibri"/>
                <a:cs typeface="Calibri"/>
              </a:rPr>
              <a:t>based</a:t>
            </a:r>
            <a:r>
              <a:rPr sz="3950" spc="-75" dirty="0">
                <a:latin typeface="Calibri"/>
                <a:cs typeface="Calibri"/>
              </a:rPr>
              <a:t> </a:t>
            </a:r>
            <a:r>
              <a:rPr sz="3950" spc="-155" dirty="0">
                <a:solidFill>
                  <a:srgbClr val="0C0C0C"/>
                </a:solidFill>
                <a:latin typeface="Calibri"/>
                <a:cs typeface="Calibri"/>
              </a:rPr>
              <a:t>on</a:t>
            </a:r>
            <a:r>
              <a:rPr sz="3950" spc="-7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3950" dirty="0">
                <a:latin typeface="Calibri"/>
                <a:cs typeface="Calibri"/>
              </a:rPr>
              <a:t>a</a:t>
            </a:r>
            <a:r>
              <a:rPr sz="3950" spc="-75" dirty="0">
                <a:latin typeface="Calibri"/>
                <a:cs typeface="Calibri"/>
              </a:rPr>
              <a:t> </a:t>
            </a:r>
            <a:r>
              <a:rPr sz="3950" spc="-85" dirty="0">
                <a:latin typeface="Calibri"/>
                <a:cs typeface="Calibri"/>
              </a:rPr>
              <a:t>degradation</a:t>
            </a:r>
            <a:r>
              <a:rPr sz="3950" spc="70" dirty="0">
                <a:latin typeface="Calibri"/>
                <a:cs typeface="Calibri"/>
              </a:rPr>
              <a:t> </a:t>
            </a:r>
            <a:r>
              <a:rPr sz="3950" spc="-10" dirty="0">
                <a:latin typeface="Calibri"/>
                <a:cs typeface="Calibri"/>
              </a:rPr>
              <a:t>model.</a:t>
            </a:r>
            <a:endParaRPr sz="39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2916" y="4291541"/>
            <a:ext cx="459549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spc="-40" dirty="0">
                <a:latin typeface="Calibri"/>
                <a:cs typeface="Calibri"/>
              </a:rPr>
              <a:t>The</a:t>
            </a:r>
            <a:r>
              <a:rPr sz="3950" spc="-185" dirty="0">
                <a:latin typeface="Calibri"/>
                <a:cs typeface="Calibri"/>
              </a:rPr>
              <a:t> </a:t>
            </a:r>
            <a:r>
              <a:rPr sz="3950" spc="-100" dirty="0">
                <a:latin typeface="Calibri"/>
                <a:cs typeface="Calibri"/>
              </a:rPr>
              <a:t>Degradation</a:t>
            </a:r>
            <a:r>
              <a:rPr sz="3950" spc="70" dirty="0">
                <a:latin typeface="Calibri"/>
                <a:cs typeface="Calibri"/>
              </a:rPr>
              <a:t> </a:t>
            </a:r>
            <a:r>
              <a:rPr sz="3950" spc="-140" dirty="0">
                <a:latin typeface="Calibri"/>
                <a:cs typeface="Calibri"/>
              </a:rPr>
              <a:t>Model</a:t>
            </a:r>
            <a:endParaRPr sz="39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74646" y="5647266"/>
            <a:ext cx="4170679" cy="533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00" dirty="0">
                <a:solidFill>
                  <a:srgbClr val="9C5231"/>
                </a:solidFill>
                <a:latin typeface="Calibri"/>
                <a:cs typeface="Calibri"/>
              </a:rPr>
              <a:t>Degradation</a:t>
            </a:r>
            <a:r>
              <a:rPr sz="3300" spc="305" dirty="0">
                <a:solidFill>
                  <a:srgbClr val="9C5231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AF562A"/>
                </a:solidFill>
                <a:latin typeface="Calibri"/>
                <a:cs typeface="Calibri"/>
              </a:rPr>
              <a:t>Function</a:t>
            </a:r>
            <a:r>
              <a:rPr sz="3300" spc="190" dirty="0">
                <a:solidFill>
                  <a:srgbClr val="AF562A"/>
                </a:solidFill>
                <a:latin typeface="Calibri"/>
                <a:cs typeface="Calibri"/>
              </a:rPr>
              <a:t> </a:t>
            </a:r>
            <a:r>
              <a:rPr sz="3300" spc="30" dirty="0">
                <a:solidFill>
                  <a:srgbClr val="AE5428"/>
                </a:solidFill>
                <a:latin typeface="Calibri"/>
                <a:cs typeface="Calibri"/>
              </a:rPr>
              <a:t>H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0616" y="5585883"/>
            <a:ext cx="4013200" cy="1498600"/>
          </a:xfrm>
          <a:prstGeom prst="rect">
            <a:avLst/>
          </a:prstGeom>
          <a:ln w="21166">
            <a:solidFill>
              <a:srgbClr val="607083"/>
            </a:solidFill>
          </a:ln>
        </p:spPr>
        <p:txBody>
          <a:bodyPr vert="horz" wrap="square" lIns="0" tIns="240665" rIns="0" bIns="0" rtlCol="0">
            <a:spAutoFit/>
          </a:bodyPr>
          <a:lstStyle/>
          <a:p>
            <a:pPr marL="1590040" marR="690245" indent="-851535">
              <a:lnSpc>
                <a:spcPts val="3650"/>
              </a:lnSpc>
              <a:spcBef>
                <a:spcPts val="1895"/>
              </a:spcBef>
              <a:tabLst>
                <a:tab pos="2162175" algn="l"/>
              </a:tabLst>
            </a:pPr>
            <a:r>
              <a:rPr sz="3300" dirty="0">
                <a:latin typeface="Calibri"/>
                <a:cs typeface="Calibri"/>
              </a:rPr>
              <a:t>Original</a:t>
            </a:r>
            <a:r>
              <a:rPr sz="3300" spc="20" dirty="0">
                <a:latin typeface="Calibri"/>
                <a:cs typeface="Calibri"/>
              </a:rPr>
              <a:t> </a:t>
            </a:r>
            <a:r>
              <a:rPr sz="3300" spc="114" dirty="0">
                <a:latin typeface="Calibri"/>
                <a:cs typeface="Calibri"/>
              </a:rPr>
              <a:t>Image </a:t>
            </a:r>
            <a:r>
              <a:rPr sz="3300" spc="-25" dirty="0">
                <a:latin typeface="Calibri"/>
                <a:cs typeface="Calibri"/>
              </a:rPr>
              <a:t>f(</a:t>
            </a:r>
            <a:r>
              <a:rPr sz="3300" dirty="0">
                <a:latin typeface="Calibri"/>
                <a:cs typeface="Calibri"/>
              </a:rPr>
              <a:t>	</a:t>
            </a:r>
            <a:r>
              <a:rPr sz="3300" spc="-25" dirty="0">
                <a:latin typeface="Calibri"/>
                <a:cs typeface="Calibri"/>
              </a:rPr>
              <a:t>y)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09965" y="8334727"/>
            <a:ext cx="2030095" cy="554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50" spc="-55" dirty="0">
                <a:solidFill>
                  <a:srgbClr val="A15734"/>
                </a:solidFill>
                <a:latin typeface="Calibri"/>
                <a:cs typeface="Calibri"/>
              </a:rPr>
              <a:t>Restoration</a:t>
            </a:r>
            <a:endParaRPr sz="34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843565" y="4169127"/>
            <a:ext cx="2080895" cy="554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50" dirty="0">
                <a:solidFill>
                  <a:srgbClr val="A5522D"/>
                </a:solidFill>
                <a:latin typeface="Calibri"/>
                <a:cs typeface="Calibri"/>
              </a:rPr>
              <a:t>Noise</a:t>
            </a:r>
            <a:r>
              <a:rPr sz="3450" spc="-120" dirty="0">
                <a:solidFill>
                  <a:srgbClr val="A5522D"/>
                </a:solidFill>
                <a:latin typeface="Calibri"/>
                <a:cs typeface="Calibri"/>
              </a:rPr>
              <a:t> </a:t>
            </a:r>
            <a:r>
              <a:rPr sz="3450" spc="-35" dirty="0">
                <a:solidFill>
                  <a:srgbClr val="93624B"/>
                </a:solidFill>
                <a:latin typeface="Calibri"/>
                <a:cs typeface="Calibri"/>
              </a:rPr>
              <a:t>n(x,y)</a:t>
            </a:r>
            <a:endParaRPr sz="34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714812" y="5585883"/>
            <a:ext cx="4000500" cy="1498600"/>
          </a:xfrm>
          <a:prstGeom prst="rect">
            <a:avLst/>
          </a:prstGeom>
          <a:ln w="21166">
            <a:solidFill>
              <a:srgbClr val="607083"/>
            </a:solidFill>
          </a:ln>
        </p:spPr>
        <p:txBody>
          <a:bodyPr vert="horz" wrap="square" lIns="0" tIns="179705" rIns="0" bIns="0" rtlCol="0">
            <a:spAutoFit/>
          </a:bodyPr>
          <a:lstStyle/>
          <a:p>
            <a:pPr marL="41910" algn="ctr">
              <a:lnSpc>
                <a:spcPts val="3990"/>
              </a:lnSpc>
              <a:spcBef>
                <a:spcPts val="1415"/>
              </a:spcBef>
            </a:pPr>
            <a:r>
              <a:rPr sz="3400" dirty="0">
                <a:latin typeface="Calibri"/>
                <a:cs typeface="Calibri"/>
              </a:rPr>
              <a:t>Observed</a:t>
            </a:r>
            <a:r>
              <a:rPr sz="3400" spc="-185" dirty="0">
                <a:latin typeface="Calibri"/>
                <a:cs typeface="Calibri"/>
              </a:rPr>
              <a:t> </a:t>
            </a:r>
            <a:r>
              <a:rPr sz="3400" spc="65" dirty="0">
                <a:latin typeface="Calibri"/>
                <a:cs typeface="Calibri"/>
              </a:rPr>
              <a:t>Image</a:t>
            </a:r>
            <a:endParaRPr sz="3400">
              <a:latin typeface="Calibri"/>
              <a:cs typeface="Calibri"/>
            </a:endParaRPr>
          </a:p>
          <a:p>
            <a:pPr marL="34290" algn="ctr">
              <a:lnSpc>
                <a:spcPts val="3810"/>
              </a:lnSpc>
            </a:pPr>
            <a:r>
              <a:rPr sz="3250" spc="45" dirty="0">
                <a:latin typeface="Calibri"/>
                <a:cs typeface="Calibri"/>
              </a:rPr>
              <a:t>g(x,y)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5300" y="4229100"/>
            <a:ext cx="355600" cy="1219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67300" y="4229100"/>
            <a:ext cx="1866900" cy="12192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32800" y="4229100"/>
            <a:ext cx="2400300" cy="1219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950700" y="4229100"/>
            <a:ext cx="1206500" cy="12192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138400" y="4216400"/>
            <a:ext cx="355600" cy="12319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3300" y="3187700"/>
            <a:ext cx="2654300" cy="8128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92600" y="3632200"/>
            <a:ext cx="381000" cy="1143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292600" y="3441700"/>
            <a:ext cx="381000" cy="1016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232400" y="3187700"/>
            <a:ext cx="2654300" cy="8128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716000" y="3175000"/>
            <a:ext cx="2667000" cy="83820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730718" y="340430"/>
            <a:ext cx="8952230" cy="154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7130"/>
              </a:lnSpc>
              <a:spcBef>
                <a:spcPts val="120"/>
              </a:spcBef>
            </a:pPr>
            <a:r>
              <a:rPr sz="6300" spc="-105" dirty="0">
                <a:solidFill>
                  <a:srgbClr val="262626"/>
                </a:solidFill>
              </a:rPr>
              <a:t>The</a:t>
            </a:r>
            <a:r>
              <a:rPr sz="6300" spc="-260" dirty="0">
                <a:solidFill>
                  <a:srgbClr val="262626"/>
                </a:solidFill>
              </a:rPr>
              <a:t> </a:t>
            </a:r>
            <a:r>
              <a:rPr sz="6300" spc="-55" dirty="0">
                <a:solidFill>
                  <a:srgbClr val="262626"/>
                </a:solidFill>
              </a:rPr>
              <a:t>Restoration</a:t>
            </a:r>
            <a:r>
              <a:rPr sz="6300" spc="-275" dirty="0">
                <a:solidFill>
                  <a:srgbClr val="262626"/>
                </a:solidFill>
              </a:rPr>
              <a:t> </a:t>
            </a:r>
            <a:r>
              <a:rPr sz="6300" spc="-315" dirty="0">
                <a:solidFill>
                  <a:srgbClr val="2A2A2A"/>
                </a:solidFill>
              </a:rPr>
              <a:t>Math</a:t>
            </a:r>
            <a:r>
              <a:rPr sz="6300" spc="-140" dirty="0">
                <a:solidFill>
                  <a:srgbClr val="2A2A2A"/>
                </a:solidFill>
              </a:rPr>
              <a:t> </a:t>
            </a:r>
            <a:r>
              <a:rPr sz="6300" spc="-190" dirty="0">
                <a:solidFill>
                  <a:srgbClr val="282828"/>
                </a:solidFill>
              </a:rPr>
              <a:t>Model</a:t>
            </a:r>
            <a:endParaRPr sz="6300"/>
          </a:p>
          <a:p>
            <a:pPr marL="13970">
              <a:lnSpc>
                <a:spcPts val="4790"/>
              </a:lnSpc>
            </a:pPr>
            <a:r>
              <a:rPr sz="4350" dirty="0">
                <a:solidFill>
                  <a:srgbClr val="905B42"/>
                </a:solidFill>
              </a:rPr>
              <a:t>The</a:t>
            </a:r>
            <a:r>
              <a:rPr sz="4350" spc="-240" dirty="0">
                <a:solidFill>
                  <a:srgbClr val="905B42"/>
                </a:solidFill>
              </a:rPr>
              <a:t> </a:t>
            </a:r>
            <a:r>
              <a:rPr sz="4350" spc="-30" dirty="0">
                <a:solidFill>
                  <a:srgbClr val="956049"/>
                </a:solidFill>
              </a:rPr>
              <a:t>Forensic</a:t>
            </a:r>
            <a:r>
              <a:rPr sz="4350" spc="-135" dirty="0">
                <a:solidFill>
                  <a:srgbClr val="956049"/>
                </a:solidFill>
              </a:rPr>
              <a:t> </a:t>
            </a:r>
            <a:r>
              <a:rPr sz="4350" spc="-10" dirty="0">
                <a:solidFill>
                  <a:srgbClr val="976042"/>
                </a:solidFill>
              </a:rPr>
              <a:t>Puzzle</a:t>
            </a:r>
            <a:endParaRPr sz="4350"/>
          </a:p>
        </p:txBody>
      </p:sp>
      <p:sp>
        <p:nvSpPr>
          <p:cNvPr id="13" name="object 13"/>
          <p:cNvSpPr txBox="1"/>
          <p:nvPr/>
        </p:nvSpPr>
        <p:spPr>
          <a:xfrm>
            <a:off x="763346" y="5434894"/>
            <a:ext cx="2393950" cy="8686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64769" algn="ctr">
              <a:lnSpc>
                <a:spcPts val="3404"/>
              </a:lnSpc>
              <a:spcBef>
                <a:spcPts val="105"/>
              </a:spcBef>
            </a:pPr>
            <a:r>
              <a:rPr sz="3050" spc="-80" dirty="0">
                <a:latin typeface="Calibri"/>
                <a:cs typeface="Calibri"/>
              </a:rPr>
              <a:t>The</a:t>
            </a:r>
            <a:r>
              <a:rPr sz="3050" spc="-75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Target</a:t>
            </a:r>
            <a:endParaRPr sz="3050">
              <a:latin typeface="Calibri"/>
              <a:cs typeface="Calibri"/>
            </a:endParaRPr>
          </a:p>
          <a:p>
            <a:pPr algn="ctr">
              <a:lnSpc>
                <a:spcPts val="3225"/>
              </a:lnSpc>
            </a:pPr>
            <a:r>
              <a:rPr sz="2900" spc="-50" dirty="0">
                <a:latin typeface="Calibri"/>
                <a:cs typeface="Calibri"/>
              </a:rPr>
              <a:t>(Original</a:t>
            </a:r>
            <a:r>
              <a:rPr sz="2900" spc="-8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Scene).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61724" y="2871610"/>
            <a:ext cx="4709160" cy="1189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018540" algn="l"/>
                <a:tab pos="4296410" algn="l"/>
              </a:tabLst>
            </a:pPr>
            <a:r>
              <a:rPr sz="7600" spc="220" dirty="0">
                <a:solidFill>
                  <a:srgbClr val="262626"/>
                </a:solidFill>
                <a:latin typeface="Times New Roman"/>
                <a:cs typeface="Times New Roman"/>
              </a:rPr>
              <a:t>a</a:t>
            </a:r>
            <a:r>
              <a:rPr sz="7600" dirty="0">
                <a:solidFill>
                  <a:srgbClr val="262626"/>
                </a:solidFill>
                <a:latin typeface="Times New Roman"/>
                <a:cs typeface="Times New Roman"/>
              </a:rPr>
              <a:t>	</a:t>
            </a:r>
            <a:r>
              <a:rPr sz="7600" spc="295" dirty="0">
                <a:solidFill>
                  <a:srgbClr val="313131"/>
                </a:solidFill>
                <a:latin typeface="Times New Roman"/>
                <a:cs typeface="Times New Roman"/>
              </a:rPr>
              <a:t>h(x,</a:t>
            </a:r>
            <a:r>
              <a:rPr sz="7600" spc="-585" dirty="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sz="7600" spc="-25" dirty="0">
                <a:solidFill>
                  <a:srgbClr val="232323"/>
                </a:solidFill>
                <a:latin typeface="Times New Roman"/>
                <a:cs typeface="Times New Roman"/>
              </a:rPr>
              <a:t>y)</a:t>
            </a:r>
            <a:r>
              <a:rPr sz="7600" dirty="0">
                <a:solidFill>
                  <a:srgbClr val="232323"/>
                </a:solidFill>
                <a:latin typeface="Times New Roman"/>
                <a:cs typeface="Times New Roman"/>
              </a:rPr>
              <a:t>	</a:t>
            </a:r>
            <a:r>
              <a:rPr sz="7600" spc="-1210" dirty="0">
                <a:solidFill>
                  <a:srgbClr val="343434"/>
                </a:solidFill>
                <a:latin typeface="Times New Roman"/>
                <a:cs typeface="Times New Roman"/>
              </a:rPr>
              <a:t>+</a:t>
            </a:r>
            <a:endParaRPr sz="7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60339" y="5443713"/>
            <a:ext cx="1802764" cy="861694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240665" marR="5080" indent="-228600">
              <a:lnSpc>
                <a:spcPts val="3000"/>
              </a:lnSpc>
              <a:spcBef>
                <a:spcPts val="685"/>
              </a:spcBef>
            </a:pPr>
            <a:r>
              <a:rPr sz="2950" spc="-60" dirty="0">
                <a:latin typeface="Calibri"/>
                <a:cs typeface="Calibri"/>
              </a:rPr>
              <a:t>Convolution </a:t>
            </a:r>
            <a:r>
              <a:rPr sz="2950" spc="-45" dirty="0">
                <a:latin typeface="Calibri"/>
                <a:cs typeface="Calibri"/>
              </a:rPr>
              <a:t>Operator.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17121" y="5443713"/>
            <a:ext cx="3268345" cy="861694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219075" marR="5080" indent="-207010">
              <a:lnSpc>
                <a:spcPts val="3000"/>
              </a:lnSpc>
              <a:spcBef>
                <a:spcPts val="685"/>
              </a:spcBef>
            </a:pPr>
            <a:r>
              <a:rPr sz="2950" spc="-60" dirty="0">
                <a:latin typeface="Calibri"/>
                <a:cs typeface="Calibri"/>
              </a:rPr>
              <a:t>The</a:t>
            </a:r>
            <a:r>
              <a:rPr sz="2950" spc="-90" dirty="0">
                <a:latin typeface="Calibri"/>
                <a:cs typeface="Calibri"/>
              </a:rPr>
              <a:t> </a:t>
            </a:r>
            <a:r>
              <a:rPr sz="2950" spc="-10" dirty="0">
                <a:latin typeface="Calibri"/>
                <a:cs typeface="Calibri"/>
              </a:rPr>
              <a:t>Blur/Degradation </a:t>
            </a:r>
            <a:r>
              <a:rPr sz="2950" spc="-40" dirty="0">
                <a:latin typeface="Calibri"/>
                <a:cs typeface="Calibri"/>
              </a:rPr>
              <a:t>(e.g.,</a:t>
            </a:r>
            <a:r>
              <a:rPr sz="2950" spc="-85" dirty="0">
                <a:latin typeface="Calibri"/>
                <a:cs typeface="Calibri"/>
              </a:rPr>
              <a:t> </a:t>
            </a:r>
            <a:r>
              <a:rPr sz="2950" spc="-165" dirty="0">
                <a:latin typeface="Calibri"/>
                <a:cs typeface="Calibri"/>
              </a:rPr>
              <a:t>tens</a:t>
            </a:r>
            <a:r>
              <a:rPr sz="2950" dirty="0">
                <a:latin typeface="Calibri"/>
                <a:cs typeface="Calibri"/>
              </a:rPr>
              <a:t> </a:t>
            </a:r>
            <a:r>
              <a:rPr sz="2950" spc="-10" dirty="0">
                <a:latin typeface="Calibri"/>
                <a:cs typeface="Calibri"/>
              </a:rPr>
              <a:t>defocus).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414773" y="5443713"/>
            <a:ext cx="3081020" cy="1623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0795" algn="ctr">
              <a:lnSpc>
                <a:spcPts val="3270"/>
              </a:lnSpc>
              <a:spcBef>
                <a:spcPts val="135"/>
              </a:spcBef>
            </a:pPr>
            <a:r>
              <a:rPr sz="2950" spc="-10" dirty="0">
                <a:latin typeface="Calibri"/>
                <a:cs typeface="Calibri"/>
              </a:rPr>
              <a:t>The</a:t>
            </a:r>
            <a:r>
              <a:rPr sz="2950" spc="-140" dirty="0">
                <a:latin typeface="Calibri"/>
                <a:cs typeface="Calibri"/>
              </a:rPr>
              <a:t> </a:t>
            </a:r>
            <a:r>
              <a:rPr sz="2950" spc="-20" dirty="0">
                <a:latin typeface="Calibri"/>
                <a:cs typeface="Calibri"/>
              </a:rPr>
              <a:t>Noise</a:t>
            </a:r>
            <a:endParaRPr sz="2950">
              <a:latin typeface="Calibri"/>
              <a:cs typeface="Calibri"/>
            </a:endParaRPr>
          </a:p>
          <a:p>
            <a:pPr marL="12700" marR="5080" algn="ctr">
              <a:lnSpc>
                <a:spcPts val="3000"/>
              </a:lnSpc>
              <a:spcBef>
                <a:spcPts val="280"/>
              </a:spcBef>
            </a:pPr>
            <a:r>
              <a:rPr sz="2950" spc="-50" dirty="0">
                <a:latin typeface="Calibri"/>
                <a:cs typeface="Calibri"/>
              </a:rPr>
              <a:t>(The</a:t>
            </a:r>
            <a:r>
              <a:rPr sz="2950" spc="-120" dirty="0">
                <a:latin typeface="Calibri"/>
                <a:cs typeface="Calibri"/>
              </a:rPr>
              <a:t> </a:t>
            </a:r>
            <a:r>
              <a:rPr sz="2950" spc="-80" dirty="0">
                <a:latin typeface="Calibri"/>
                <a:cs typeface="Calibri"/>
              </a:rPr>
              <a:t>disruptive</a:t>
            </a:r>
            <a:r>
              <a:rPr sz="2950" spc="25" dirty="0">
                <a:latin typeface="Calibri"/>
                <a:cs typeface="Calibri"/>
              </a:rPr>
              <a:t> </a:t>
            </a:r>
            <a:r>
              <a:rPr sz="2950" spc="-114" dirty="0">
                <a:latin typeface="Calibri"/>
                <a:cs typeface="Calibri"/>
              </a:rPr>
              <a:t>factor </a:t>
            </a:r>
            <a:r>
              <a:rPr sz="2950" spc="-110" dirty="0">
                <a:latin typeface="Calibri"/>
                <a:cs typeface="Calibri"/>
              </a:rPr>
              <a:t>that</a:t>
            </a:r>
            <a:r>
              <a:rPr sz="2950" spc="-55" dirty="0">
                <a:latin typeface="Calibri"/>
                <a:cs typeface="Calibri"/>
              </a:rPr>
              <a:t> </a:t>
            </a:r>
            <a:r>
              <a:rPr sz="2950" spc="-70" dirty="0">
                <a:latin typeface="Calibri"/>
                <a:cs typeface="Calibri"/>
              </a:rPr>
              <a:t>makes</a:t>
            </a:r>
            <a:r>
              <a:rPr sz="2950" spc="-75" dirty="0">
                <a:latin typeface="Calibri"/>
                <a:cs typeface="Calibri"/>
              </a:rPr>
              <a:t> </a:t>
            </a:r>
            <a:r>
              <a:rPr sz="2950" spc="-10" dirty="0">
                <a:latin typeface="Calibri"/>
                <a:cs typeface="Calibri"/>
              </a:rPr>
              <a:t>simple </a:t>
            </a:r>
            <a:r>
              <a:rPr sz="2950" spc="-75" dirty="0">
                <a:latin typeface="Calibri"/>
                <a:cs typeface="Calibri"/>
              </a:rPr>
              <a:t>division</a:t>
            </a:r>
            <a:r>
              <a:rPr sz="2950" spc="-40" dirty="0">
                <a:latin typeface="Calibri"/>
                <a:cs typeface="Calibri"/>
              </a:rPr>
              <a:t> </a:t>
            </a:r>
            <a:r>
              <a:rPr sz="2950" spc="-10" dirty="0">
                <a:latin typeface="Calibri"/>
                <a:cs typeface="Calibri"/>
              </a:rPr>
              <a:t>impossible).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881875" y="5443713"/>
            <a:ext cx="2925445" cy="861694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 marR="5080" indent="415290">
              <a:lnSpc>
                <a:spcPts val="3000"/>
              </a:lnSpc>
              <a:spcBef>
                <a:spcPts val="685"/>
              </a:spcBef>
            </a:pPr>
            <a:r>
              <a:rPr sz="2950" spc="-40" dirty="0">
                <a:latin typeface="Calibri"/>
                <a:cs typeface="Calibri"/>
              </a:rPr>
              <a:t>The</a:t>
            </a:r>
            <a:r>
              <a:rPr sz="2950" spc="-150" dirty="0">
                <a:latin typeface="Calibri"/>
                <a:cs typeface="Calibri"/>
              </a:rPr>
              <a:t> </a:t>
            </a:r>
            <a:r>
              <a:rPr sz="2950" spc="-10" dirty="0">
                <a:latin typeface="Calibri"/>
                <a:cs typeface="Calibri"/>
              </a:rPr>
              <a:t>Evidence </a:t>
            </a:r>
            <a:r>
              <a:rPr sz="2950" spc="-150" dirty="0">
                <a:latin typeface="Calibri"/>
                <a:cs typeface="Calibri"/>
              </a:rPr>
              <a:t>(What</a:t>
            </a:r>
            <a:r>
              <a:rPr sz="2950" spc="15" dirty="0">
                <a:latin typeface="Calibri"/>
                <a:cs typeface="Calibri"/>
              </a:rPr>
              <a:t> </a:t>
            </a:r>
            <a:r>
              <a:rPr sz="2950" spc="-190" dirty="0">
                <a:latin typeface="Calibri"/>
                <a:cs typeface="Calibri"/>
              </a:rPr>
              <a:t>we</a:t>
            </a:r>
            <a:r>
              <a:rPr sz="2950" spc="-45" dirty="0">
                <a:latin typeface="Calibri"/>
                <a:cs typeface="Calibri"/>
              </a:rPr>
              <a:t> </a:t>
            </a:r>
            <a:r>
              <a:rPr sz="2950" spc="-95" dirty="0">
                <a:latin typeface="Calibri"/>
                <a:cs typeface="Calibri"/>
              </a:rPr>
              <a:t>captured).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4858" y="7986183"/>
            <a:ext cx="15349855" cy="119380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1750" marR="5080" indent="-19685">
              <a:lnSpc>
                <a:spcPts val="4200"/>
              </a:lnSpc>
              <a:spcBef>
                <a:spcPts val="905"/>
              </a:spcBef>
            </a:pPr>
            <a:r>
              <a:rPr sz="4150" dirty="0">
                <a:solidFill>
                  <a:srgbClr val="0A0A0A"/>
                </a:solidFill>
                <a:latin typeface="Calibri"/>
                <a:cs typeface="Calibri"/>
              </a:rPr>
              <a:t>If</a:t>
            </a:r>
            <a:r>
              <a:rPr sz="4150" spc="-15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4150" spc="-60" dirty="0">
                <a:latin typeface="Calibri"/>
                <a:cs typeface="Calibri"/>
              </a:rPr>
              <a:t>Noise</a:t>
            </a:r>
            <a:r>
              <a:rPr sz="4150" spc="-110" dirty="0">
                <a:latin typeface="Calibri"/>
                <a:cs typeface="Calibri"/>
              </a:rPr>
              <a:t> </a:t>
            </a:r>
            <a:r>
              <a:rPr sz="4150" spc="-95" dirty="0">
                <a:latin typeface="Calibri"/>
                <a:cs typeface="Calibri"/>
              </a:rPr>
              <a:t>n(x,y)</a:t>
            </a:r>
            <a:r>
              <a:rPr sz="4150" spc="-140" dirty="0">
                <a:latin typeface="Calibri"/>
                <a:cs typeface="Calibri"/>
              </a:rPr>
              <a:t> </a:t>
            </a:r>
            <a:r>
              <a:rPr sz="4150" spc="-50" dirty="0">
                <a:latin typeface="Calibri"/>
                <a:cs typeface="Calibri"/>
              </a:rPr>
              <a:t>was</a:t>
            </a:r>
            <a:r>
              <a:rPr sz="4150" spc="-185" dirty="0">
                <a:latin typeface="Calibri"/>
                <a:cs typeface="Calibri"/>
              </a:rPr>
              <a:t> </a:t>
            </a:r>
            <a:r>
              <a:rPr sz="4150" spc="-90" dirty="0">
                <a:latin typeface="Calibri"/>
                <a:cs typeface="Calibri"/>
              </a:rPr>
              <a:t>zero,</a:t>
            </a:r>
            <a:r>
              <a:rPr sz="4150" spc="-125" dirty="0">
                <a:latin typeface="Calibri"/>
                <a:cs typeface="Calibri"/>
              </a:rPr>
              <a:t> </a:t>
            </a:r>
            <a:r>
              <a:rPr sz="4150" spc="-140" dirty="0">
                <a:latin typeface="Calibri"/>
                <a:cs typeface="Calibri"/>
              </a:rPr>
              <a:t>we</a:t>
            </a:r>
            <a:r>
              <a:rPr sz="4150" spc="-95" dirty="0">
                <a:latin typeface="Calibri"/>
                <a:cs typeface="Calibri"/>
              </a:rPr>
              <a:t> </a:t>
            </a:r>
            <a:r>
              <a:rPr sz="4150" spc="-75" dirty="0">
                <a:latin typeface="Calibri"/>
                <a:cs typeface="Calibri"/>
              </a:rPr>
              <a:t>could</a:t>
            </a:r>
            <a:r>
              <a:rPr sz="4150" spc="-160" dirty="0">
                <a:latin typeface="Calibri"/>
                <a:cs typeface="Calibri"/>
              </a:rPr>
              <a:t> </a:t>
            </a:r>
            <a:r>
              <a:rPr sz="4150" spc="-40" dirty="0">
                <a:latin typeface="Calibri"/>
                <a:cs typeface="Calibri"/>
              </a:rPr>
              <a:t>simply</a:t>
            </a:r>
            <a:r>
              <a:rPr sz="4150" spc="-15" dirty="0">
                <a:latin typeface="Calibri"/>
                <a:cs typeface="Calibri"/>
              </a:rPr>
              <a:t> </a:t>
            </a:r>
            <a:r>
              <a:rPr sz="4150" spc="-80" dirty="0">
                <a:latin typeface="Calibri"/>
                <a:cs typeface="Calibri"/>
              </a:rPr>
              <a:t>divide</a:t>
            </a:r>
            <a:r>
              <a:rPr sz="4150" spc="-125" dirty="0">
                <a:latin typeface="Calibri"/>
                <a:cs typeface="Calibri"/>
              </a:rPr>
              <a:t> </a:t>
            </a:r>
            <a:r>
              <a:rPr sz="4150" spc="-30" dirty="0">
                <a:solidFill>
                  <a:srgbClr val="0A0A0A"/>
                </a:solidFill>
                <a:latin typeface="Calibri"/>
                <a:cs typeface="Calibri"/>
              </a:rPr>
              <a:t>by</a:t>
            </a:r>
            <a:r>
              <a:rPr sz="4150" spc="-204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4150" spc="-60" dirty="0">
                <a:latin typeface="Calibri"/>
                <a:cs typeface="Calibri"/>
              </a:rPr>
              <a:t>H.</a:t>
            </a:r>
            <a:r>
              <a:rPr sz="4150" spc="-175" dirty="0">
                <a:latin typeface="Calibri"/>
                <a:cs typeface="Calibri"/>
              </a:rPr>
              <a:t> </a:t>
            </a:r>
            <a:r>
              <a:rPr sz="4150" spc="-10" dirty="0">
                <a:latin typeface="Calibri"/>
                <a:cs typeface="Calibri"/>
              </a:rPr>
              <a:t>Because</a:t>
            </a:r>
            <a:r>
              <a:rPr sz="4150" spc="-85" dirty="0">
                <a:latin typeface="Calibri"/>
                <a:cs typeface="Calibri"/>
              </a:rPr>
              <a:t> </a:t>
            </a:r>
            <a:r>
              <a:rPr sz="4150" spc="-80" dirty="0">
                <a:latin typeface="Calibri"/>
                <a:cs typeface="Calibri"/>
              </a:rPr>
              <a:t>Noise</a:t>
            </a:r>
            <a:r>
              <a:rPr sz="4150" spc="-155" dirty="0">
                <a:latin typeface="Calibri"/>
                <a:cs typeface="Calibri"/>
              </a:rPr>
              <a:t> </a:t>
            </a:r>
            <a:r>
              <a:rPr sz="4150" spc="-10" dirty="0">
                <a:latin typeface="Calibri"/>
                <a:cs typeface="Calibri"/>
              </a:rPr>
              <a:t>exists, </a:t>
            </a:r>
            <a:r>
              <a:rPr sz="4150" spc="-70" dirty="0">
                <a:latin typeface="Calibri"/>
                <a:cs typeface="Calibri"/>
              </a:rPr>
              <a:t>direct</a:t>
            </a:r>
            <a:r>
              <a:rPr sz="4150" spc="-165" dirty="0">
                <a:latin typeface="Calibri"/>
                <a:cs typeface="Calibri"/>
              </a:rPr>
              <a:t> </a:t>
            </a:r>
            <a:r>
              <a:rPr sz="4150" spc="-50" dirty="0">
                <a:latin typeface="Calibri"/>
                <a:cs typeface="Calibri"/>
              </a:rPr>
              <a:t>inverse</a:t>
            </a:r>
            <a:r>
              <a:rPr sz="4150" spc="-170" dirty="0">
                <a:latin typeface="Calibri"/>
                <a:cs typeface="Calibri"/>
              </a:rPr>
              <a:t> </a:t>
            </a:r>
            <a:r>
              <a:rPr sz="4150" spc="-70" dirty="0">
                <a:latin typeface="Calibri"/>
                <a:cs typeface="Calibri"/>
              </a:rPr>
              <a:t>filtering</a:t>
            </a:r>
            <a:r>
              <a:rPr sz="4150" spc="-95" dirty="0">
                <a:latin typeface="Calibri"/>
                <a:cs typeface="Calibri"/>
              </a:rPr>
              <a:t> </a:t>
            </a:r>
            <a:r>
              <a:rPr sz="4150" spc="-10" dirty="0">
                <a:latin typeface="Calibri"/>
                <a:cs typeface="Calibri"/>
              </a:rPr>
              <a:t>fails.</a:t>
            </a:r>
            <a:endParaRPr sz="4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100" y="5664200"/>
            <a:ext cx="7670800" cy="3429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6300" y="1854200"/>
            <a:ext cx="7670800" cy="3441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100" y="1854200"/>
            <a:ext cx="7670800" cy="3441700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4003870" y="6659033"/>
          <a:ext cx="2057400" cy="892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46467"/>
                      </a:solidFill>
                      <a:prstDash val="solid"/>
                    </a:lnL>
                    <a:lnR w="12700">
                      <a:solidFill>
                        <a:srgbClr val="646467"/>
                      </a:solidFill>
                      <a:prstDash val="solid"/>
                    </a:lnR>
                    <a:lnT w="12700">
                      <a:solidFill>
                        <a:srgbClr val="646467"/>
                      </a:solidFill>
                      <a:prstDash val="solid"/>
                    </a:lnT>
                    <a:lnB w="12700">
                      <a:solidFill>
                        <a:srgbClr val="64646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46467"/>
                      </a:solidFill>
                      <a:prstDash val="solid"/>
                    </a:lnL>
                    <a:lnR w="12700">
                      <a:solidFill>
                        <a:srgbClr val="646467"/>
                      </a:solidFill>
                      <a:prstDash val="solid"/>
                    </a:lnR>
                    <a:lnT w="12700">
                      <a:solidFill>
                        <a:srgbClr val="646467"/>
                      </a:solidFill>
                      <a:prstDash val="solid"/>
                    </a:lnT>
                    <a:lnB w="12700">
                      <a:solidFill>
                        <a:srgbClr val="64646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46467"/>
                      </a:solidFill>
                      <a:prstDash val="solid"/>
                    </a:lnL>
                    <a:lnR w="12700">
                      <a:solidFill>
                        <a:srgbClr val="646467"/>
                      </a:solidFill>
                      <a:prstDash val="solid"/>
                    </a:lnR>
                    <a:lnT w="12700">
                      <a:solidFill>
                        <a:srgbClr val="646467"/>
                      </a:solidFill>
                      <a:prstDash val="solid"/>
                    </a:lnT>
                    <a:lnB w="12700">
                      <a:solidFill>
                        <a:srgbClr val="64646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46467"/>
                      </a:solidFill>
                      <a:prstDash val="solid"/>
                    </a:lnL>
                    <a:lnR w="12700">
                      <a:solidFill>
                        <a:srgbClr val="646467"/>
                      </a:solidFill>
                      <a:prstDash val="solid"/>
                    </a:lnR>
                    <a:lnT w="12700">
                      <a:solidFill>
                        <a:srgbClr val="646467"/>
                      </a:solidFill>
                      <a:prstDash val="solid"/>
                    </a:lnT>
                    <a:lnB w="12700">
                      <a:solidFill>
                        <a:srgbClr val="64646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46467"/>
                      </a:solidFill>
                      <a:prstDash val="solid"/>
                    </a:lnL>
                    <a:lnR w="12700">
                      <a:solidFill>
                        <a:srgbClr val="646467"/>
                      </a:solidFill>
                      <a:prstDash val="solid"/>
                    </a:lnR>
                    <a:lnT w="12700">
                      <a:solidFill>
                        <a:srgbClr val="646467"/>
                      </a:solidFill>
                      <a:prstDash val="solid"/>
                    </a:lnT>
                    <a:lnB w="12700">
                      <a:solidFill>
                        <a:srgbClr val="64646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46467"/>
                      </a:solidFill>
                      <a:prstDash val="solid"/>
                    </a:lnL>
                    <a:lnR w="12700">
                      <a:solidFill>
                        <a:srgbClr val="646467"/>
                      </a:solidFill>
                      <a:prstDash val="solid"/>
                    </a:lnR>
                    <a:lnT w="12700">
                      <a:solidFill>
                        <a:srgbClr val="646467"/>
                      </a:solidFill>
                      <a:prstDash val="solid"/>
                    </a:lnT>
                    <a:lnB w="12700">
                      <a:solidFill>
                        <a:srgbClr val="64646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46467"/>
                      </a:solidFill>
                      <a:prstDash val="solid"/>
                    </a:lnL>
                    <a:lnR w="12700">
                      <a:solidFill>
                        <a:srgbClr val="646467"/>
                      </a:solidFill>
                      <a:prstDash val="solid"/>
                    </a:lnR>
                    <a:lnT w="12700">
                      <a:solidFill>
                        <a:srgbClr val="646467"/>
                      </a:solidFill>
                      <a:prstDash val="solid"/>
                    </a:lnT>
                    <a:lnB w="12700">
                      <a:solidFill>
                        <a:srgbClr val="64646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46467"/>
                      </a:solidFill>
                      <a:prstDash val="solid"/>
                    </a:lnL>
                    <a:lnR w="12700">
                      <a:solidFill>
                        <a:srgbClr val="646467"/>
                      </a:solidFill>
                      <a:prstDash val="solid"/>
                    </a:lnR>
                    <a:lnT w="12700">
                      <a:solidFill>
                        <a:srgbClr val="646467"/>
                      </a:solidFill>
                      <a:prstDash val="solid"/>
                    </a:lnT>
                    <a:lnB w="12700">
                      <a:solidFill>
                        <a:srgbClr val="64646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46467"/>
                      </a:solidFill>
                      <a:prstDash val="solid"/>
                    </a:lnL>
                    <a:lnR w="12700">
                      <a:solidFill>
                        <a:srgbClr val="646467"/>
                      </a:solidFill>
                      <a:prstDash val="solid"/>
                    </a:lnR>
                    <a:lnT w="12700">
                      <a:solidFill>
                        <a:srgbClr val="646467"/>
                      </a:solidFill>
                      <a:prstDash val="solid"/>
                    </a:lnT>
                    <a:lnB w="12700">
                      <a:solidFill>
                        <a:srgbClr val="64646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46467"/>
                      </a:solidFill>
                      <a:prstDash val="solid"/>
                    </a:lnL>
                    <a:lnR w="12700">
                      <a:solidFill>
                        <a:srgbClr val="646467"/>
                      </a:solidFill>
                      <a:prstDash val="solid"/>
                    </a:lnR>
                    <a:lnT w="12700">
                      <a:solidFill>
                        <a:srgbClr val="646467"/>
                      </a:solidFill>
                      <a:prstDash val="solid"/>
                    </a:lnT>
                    <a:lnB w="12700">
                      <a:solidFill>
                        <a:srgbClr val="64646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46467"/>
                      </a:solidFill>
                      <a:prstDash val="solid"/>
                    </a:lnL>
                    <a:lnR w="12700">
                      <a:solidFill>
                        <a:srgbClr val="646467"/>
                      </a:solidFill>
                      <a:prstDash val="solid"/>
                    </a:lnR>
                    <a:lnT w="12700">
                      <a:solidFill>
                        <a:srgbClr val="646467"/>
                      </a:solidFill>
                      <a:prstDash val="solid"/>
                    </a:lnT>
                    <a:lnB w="12700">
                      <a:solidFill>
                        <a:srgbClr val="64646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46467"/>
                      </a:solidFill>
                      <a:prstDash val="solid"/>
                    </a:lnL>
                    <a:lnR w="12700">
                      <a:solidFill>
                        <a:srgbClr val="646467"/>
                      </a:solidFill>
                      <a:prstDash val="solid"/>
                    </a:lnR>
                    <a:lnT w="12700">
                      <a:solidFill>
                        <a:srgbClr val="646467"/>
                      </a:solidFill>
                      <a:prstDash val="solid"/>
                    </a:lnT>
                    <a:lnB w="12700">
                      <a:solidFill>
                        <a:srgbClr val="64646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46467"/>
                      </a:solidFill>
                      <a:prstDash val="solid"/>
                    </a:lnL>
                    <a:lnR w="12700">
                      <a:solidFill>
                        <a:srgbClr val="646467"/>
                      </a:solidFill>
                      <a:prstDash val="solid"/>
                    </a:lnR>
                    <a:lnT w="12700">
                      <a:solidFill>
                        <a:srgbClr val="646467"/>
                      </a:solidFill>
                      <a:prstDash val="solid"/>
                    </a:lnT>
                    <a:lnB w="12700">
                      <a:solidFill>
                        <a:srgbClr val="64646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46467"/>
                      </a:solidFill>
                      <a:prstDash val="solid"/>
                    </a:lnL>
                    <a:lnR w="12700">
                      <a:solidFill>
                        <a:srgbClr val="646467"/>
                      </a:solidFill>
                      <a:prstDash val="solid"/>
                    </a:lnR>
                    <a:lnT w="12700">
                      <a:solidFill>
                        <a:srgbClr val="646467"/>
                      </a:solidFill>
                      <a:prstDash val="solid"/>
                    </a:lnT>
                    <a:lnB w="12700">
                      <a:solidFill>
                        <a:srgbClr val="64646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3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46467"/>
                      </a:solidFill>
                      <a:prstDash val="solid"/>
                    </a:lnL>
                    <a:lnR w="12700">
                      <a:solidFill>
                        <a:srgbClr val="646467"/>
                      </a:solidFill>
                      <a:prstDash val="solid"/>
                    </a:lnR>
                    <a:lnT w="12700">
                      <a:solidFill>
                        <a:srgbClr val="646467"/>
                      </a:solidFill>
                      <a:prstDash val="solid"/>
                    </a:lnT>
                    <a:lnB w="12700">
                      <a:solidFill>
                        <a:srgbClr val="64646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46467"/>
                      </a:solidFill>
                      <a:prstDash val="solid"/>
                    </a:lnL>
                    <a:lnR w="12700">
                      <a:solidFill>
                        <a:srgbClr val="646467"/>
                      </a:solidFill>
                      <a:prstDash val="solid"/>
                    </a:lnR>
                    <a:lnT w="12700">
                      <a:solidFill>
                        <a:srgbClr val="646467"/>
                      </a:solidFill>
                      <a:prstDash val="solid"/>
                    </a:lnT>
                    <a:lnB w="12700">
                      <a:solidFill>
                        <a:srgbClr val="64646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46467"/>
                      </a:solidFill>
                      <a:prstDash val="solid"/>
                    </a:lnL>
                    <a:lnR w="12700">
                      <a:solidFill>
                        <a:srgbClr val="646467"/>
                      </a:solidFill>
                      <a:prstDash val="solid"/>
                    </a:lnR>
                    <a:lnT w="12700">
                      <a:solidFill>
                        <a:srgbClr val="646467"/>
                      </a:solidFill>
                      <a:prstDash val="solid"/>
                    </a:lnT>
                    <a:lnB w="12700">
                      <a:solidFill>
                        <a:srgbClr val="64646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46467"/>
                      </a:solidFill>
                      <a:prstDash val="solid"/>
                    </a:lnL>
                    <a:lnR w="12700">
                      <a:solidFill>
                        <a:srgbClr val="646467"/>
                      </a:solidFill>
                      <a:prstDash val="solid"/>
                    </a:lnR>
                    <a:lnT w="12700">
                      <a:solidFill>
                        <a:srgbClr val="646467"/>
                      </a:solidFill>
                      <a:prstDash val="solid"/>
                    </a:lnT>
                    <a:lnB w="12700">
                      <a:solidFill>
                        <a:srgbClr val="64646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46467"/>
                      </a:solidFill>
                      <a:prstDash val="solid"/>
                    </a:lnL>
                    <a:lnR w="12700">
                      <a:solidFill>
                        <a:srgbClr val="646467"/>
                      </a:solidFill>
                      <a:prstDash val="solid"/>
                    </a:lnR>
                    <a:lnT w="12700">
                      <a:solidFill>
                        <a:srgbClr val="646467"/>
                      </a:solidFill>
                      <a:prstDash val="solid"/>
                    </a:lnT>
                    <a:lnB w="12700">
                      <a:solidFill>
                        <a:srgbClr val="64646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46467"/>
                      </a:solidFill>
                      <a:prstDash val="solid"/>
                    </a:lnL>
                    <a:lnR w="12700">
                      <a:solidFill>
                        <a:srgbClr val="646467"/>
                      </a:solidFill>
                      <a:prstDash val="solid"/>
                    </a:lnR>
                    <a:lnT w="12700">
                      <a:solidFill>
                        <a:srgbClr val="646467"/>
                      </a:solidFill>
                      <a:prstDash val="solid"/>
                    </a:lnT>
                    <a:lnB w="12700">
                      <a:solidFill>
                        <a:srgbClr val="64646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46467"/>
                      </a:solidFill>
                      <a:prstDash val="solid"/>
                    </a:lnL>
                    <a:lnR w="12700">
                      <a:solidFill>
                        <a:srgbClr val="646467"/>
                      </a:solidFill>
                      <a:prstDash val="solid"/>
                    </a:lnR>
                    <a:lnT w="12700">
                      <a:solidFill>
                        <a:srgbClr val="646467"/>
                      </a:solidFill>
                      <a:prstDash val="solid"/>
                    </a:lnT>
                    <a:lnB w="12700">
                      <a:solidFill>
                        <a:srgbClr val="64646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876300" y="5651500"/>
            <a:ext cx="7683500" cy="3454400"/>
            <a:chOff x="876300" y="5651500"/>
            <a:chExt cx="7683500" cy="345440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6300" y="5651500"/>
              <a:ext cx="7683500" cy="34544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56300" y="6705600"/>
              <a:ext cx="2146300" cy="153670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59629" y="528813"/>
            <a:ext cx="6388100" cy="8616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450" spc="70" dirty="0">
                <a:solidFill>
                  <a:srgbClr val="282828"/>
                </a:solidFill>
                <a:latin typeface="Arial MT"/>
                <a:cs typeface="Arial MT"/>
              </a:rPr>
              <a:t>Restoration</a:t>
            </a:r>
            <a:r>
              <a:rPr sz="5450" spc="13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5450" spc="195" dirty="0">
                <a:solidFill>
                  <a:srgbClr val="2A2A2A"/>
                </a:solidFill>
                <a:latin typeface="Arial MT"/>
                <a:cs typeface="Arial MT"/>
              </a:rPr>
              <a:t>Method</a:t>
            </a:r>
            <a:endParaRPr sz="54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09465" y="528813"/>
            <a:ext cx="7268209" cy="8616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450" spc="105" dirty="0">
                <a:solidFill>
                  <a:srgbClr val="2B2B2B"/>
                </a:solidFill>
                <a:latin typeface="Arial MT"/>
                <a:cs typeface="Arial MT"/>
              </a:rPr>
              <a:t>:</a:t>
            </a:r>
            <a:r>
              <a:rPr sz="5450" spc="-310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5450" dirty="0">
                <a:solidFill>
                  <a:srgbClr val="282828"/>
                </a:solidFill>
                <a:latin typeface="Arial MT"/>
                <a:cs typeface="Arial MT"/>
              </a:rPr>
              <a:t>Noise</a:t>
            </a:r>
            <a:r>
              <a:rPr sz="5450" spc="-14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5450" dirty="0">
                <a:solidFill>
                  <a:srgbClr val="2A2A2A"/>
                </a:solidFill>
                <a:latin typeface="Arial MT"/>
                <a:cs typeface="Arial MT"/>
              </a:rPr>
              <a:t>Removal</a:t>
            </a:r>
            <a:r>
              <a:rPr sz="5450" spc="-10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5450" spc="95" dirty="0">
                <a:solidFill>
                  <a:srgbClr val="282828"/>
                </a:solidFill>
                <a:latin typeface="Arial MT"/>
                <a:cs typeface="Arial MT"/>
              </a:rPr>
              <a:t>Filters</a:t>
            </a:r>
            <a:endParaRPr sz="54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92261" y="1956355"/>
            <a:ext cx="4577080" cy="2553335"/>
          </a:xfrm>
          <a:prstGeom prst="rect">
            <a:avLst/>
          </a:prstGeom>
        </p:spPr>
        <p:txBody>
          <a:bodyPr vert="horz" wrap="square" lIns="0" tIns="215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4350" spc="50" dirty="0">
                <a:solidFill>
                  <a:srgbClr val="282828"/>
                </a:solidFill>
                <a:latin typeface="Arial MT"/>
                <a:cs typeface="Arial MT"/>
              </a:rPr>
              <a:t>Mean</a:t>
            </a:r>
            <a:r>
              <a:rPr sz="4350" spc="-204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4350" spc="-10" dirty="0">
                <a:solidFill>
                  <a:srgbClr val="242424"/>
                </a:solidFill>
                <a:latin typeface="Arial MT"/>
                <a:cs typeface="Arial MT"/>
              </a:rPr>
              <a:t>Filter</a:t>
            </a:r>
            <a:endParaRPr sz="4350">
              <a:latin typeface="Arial MT"/>
              <a:cs typeface="Arial MT"/>
            </a:endParaRPr>
          </a:p>
          <a:p>
            <a:pPr marL="28575">
              <a:lnSpc>
                <a:spcPct val="100000"/>
              </a:lnSpc>
              <a:spcBef>
                <a:spcPts val="1030"/>
              </a:spcBef>
            </a:pPr>
            <a:r>
              <a:rPr sz="2750" spc="-75" dirty="0">
                <a:latin typeface="Arial MT"/>
                <a:cs typeface="Arial MT"/>
              </a:rPr>
              <a:t>Averaging</a:t>
            </a:r>
            <a:r>
              <a:rPr sz="2750" spc="-9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neighbors.</a:t>
            </a:r>
            <a:endParaRPr sz="2750">
              <a:latin typeface="Arial MT"/>
              <a:cs typeface="Arial MT"/>
            </a:endParaRPr>
          </a:p>
          <a:p>
            <a:pPr marL="22860">
              <a:lnSpc>
                <a:spcPts val="3485"/>
              </a:lnSpc>
              <a:spcBef>
                <a:spcPts val="2200"/>
              </a:spcBef>
            </a:pPr>
            <a:r>
              <a:rPr sz="3100" spc="-270" dirty="0">
                <a:latin typeface="Arial MT"/>
                <a:cs typeface="Arial MT"/>
              </a:rPr>
              <a:t>Pros/Cons:</a:t>
            </a:r>
            <a:r>
              <a:rPr sz="3100" spc="165" dirty="0">
                <a:latin typeface="Arial MT"/>
                <a:cs typeface="Arial MT"/>
              </a:rPr>
              <a:t> </a:t>
            </a:r>
            <a:r>
              <a:rPr sz="3100" spc="-300" dirty="0">
                <a:latin typeface="Arial MT"/>
                <a:cs typeface="Arial MT"/>
              </a:rPr>
              <a:t>Smooths</a:t>
            </a:r>
            <a:r>
              <a:rPr sz="3100" spc="75" dirty="0">
                <a:latin typeface="Arial MT"/>
                <a:cs typeface="Arial MT"/>
              </a:rPr>
              <a:t> </a:t>
            </a:r>
            <a:r>
              <a:rPr sz="3100" spc="-250" dirty="0">
                <a:latin typeface="Arial MT"/>
                <a:cs typeface="Arial MT"/>
              </a:rPr>
              <a:t>noise</a:t>
            </a:r>
            <a:r>
              <a:rPr sz="3100" spc="-105" dirty="0">
                <a:latin typeface="Arial MT"/>
                <a:cs typeface="Arial MT"/>
              </a:rPr>
              <a:t> </a:t>
            </a:r>
            <a:r>
              <a:rPr sz="3100" spc="-60" dirty="0">
                <a:latin typeface="Arial MT"/>
                <a:cs typeface="Arial MT"/>
              </a:rPr>
              <a:t>but</a:t>
            </a:r>
            <a:endParaRPr sz="3100">
              <a:latin typeface="Arial MT"/>
              <a:cs typeface="Arial MT"/>
            </a:endParaRPr>
          </a:p>
          <a:p>
            <a:pPr marL="30480">
              <a:lnSpc>
                <a:spcPts val="3065"/>
              </a:lnSpc>
            </a:pPr>
            <a:r>
              <a:rPr sz="2750" spc="-20" dirty="0">
                <a:latin typeface="Arial MT"/>
                <a:cs typeface="Arial MT"/>
              </a:rPr>
              <a:t>blurs</a:t>
            </a:r>
            <a:r>
              <a:rPr sz="2750" spc="-14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edges.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03930" y="5792708"/>
            <a:ext cx="4138295" cy="2894965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sz="4350" spc="-10" dirty="0">
                <a:solidFill>
                  <a:srgbClr val="232323"/>
                </a:solidFill>
                <a:latin typeface="Arial MT"/>
                <a:cs typeface="Arial MT"/>
              </a:rPr>
              <a:t>Gaussian</a:t>
            </a:r>
            <a:r>
              <a:rPr sz="4350" spc="-27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4350" spc="-10" dirty="0">
                <a:solidFill>
                  <a:srgbClr val="2B2B2B"/>
                </a:solidFill>
                <a:latin typeface="Arial MT"/>
                <a:cs typeface="Arial MT"/>
              </a:rPr>
              <a:t>Filter</a:t>
            </a:r>
            <a:endParaRPr sz="4350">
              <a:latin typeface="Arial MT"/>
              <a:cs typeface="Arial MT"/>
            </a:endParaRPr>
          </a:p>
          <a:p>
            <a:pPr marL="30480" marR="378460" indent="6985">
              <a:lnSpc>
                <a:spcPts val="2950"/>
              </a:lnSpc>
              <a:spcBef>
                <a:spcPts val="1320"/>
              </a:spcBef>
            </a:pPr>
            <a:r>
              <a:rPr sz="2750" spc="-55" dirty="0">
                <a:latin typeface="Arial MT"/>
                <a:cs typeface="Arial MT"/>
              </a:rPr>
              <a:t>Weighted</a:t>
            </a:r>
            <a:r>
              <a:rPr sz="2750" spc="-120" dirty="0">
                <a:latin typeface="Arial MT"/>
                <a:cs typeface="Arial MT"/>
              </a:rPr>
              <a:t> </a:t>
            </a:r>
            <a:r>
              <a:rPr sz="2750" spc="-55" dirty="0">
                <a:latin typeface="Arial MT"/>
                <a:cs typeface="Arial MT"/>
              </a:rPr>
              <a:t>average</a:t>
            </a:r>
            <a:r>
              <a:rPr sz="2750" spc="-140" dirty="0">
                <a:latin typeface="Arial MT"/>
                <a:cs typeface="Arial MT"/>
              </a:rPr>
              <a:t> </a:t>
            </a:r>
            <a:r>
              <a:rPr sz="2750" spc="-50" dirty="0">
                <a:latin typeface="Arial MT"/>
                <a:cs typeface="Arial MT"/>
              </a:rPr>
              <a:t>based </a:t>
            </a:r>
            <a:r>
              <a:rPr sz="2750" dirty="0">
                <a:latin typeface="Arial MT"/>
                <a:cs typeface="Arial MT"/>
              </a:rPr>
              <a:t>on</a:t>
            </a:r>
            <a:r>
              <a:rPr sz="2750" spc="-13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distance.</a:t>
            </a:r>
            <a:endParaRPr sz="2750">
              <a:latin typeface="Arial MT"/>
              <a:cs typeface="Arial MT"/>
            </a:endParaRPr>
          </a:p>
          <a:p>
            <a:pPr marL="31115" marR="5080" indent="-4445">
              <a:lnSpc>
                <a:spcPts val="2900"/>
              </a:lnSpc>
              <a:spcBef>
                <a:spcPts val="2940"/>
              </a:spcBef>
            </a:pPr>
            <a:r>
              <a:rPr sz="2750" spc="-50" dirty="0">
                <a:latin typeface="Arial MT"/>
                <a:cs typeface="Arial MT"/>
              </a:rPr>
              <a:t>Use</a:t>
            </a:r>
            <a:r>
              <a:rPr sz="2750" spc="-145" dirty="0">
                <a:latin typeface="Arial MT"/>
                <a:cs typeface="Arial MT"/>
              </a:rPr>
              <a:t> </a:t>
            </a:r>
            <a:r>
              <a:rPr sz="2750" spc="-95" dirty="0">
                <a:latin typeface="Arial MT"/>
                <a:cs typeface="Arial MT"/>
              </a:rPr>
              <a:t>Case: </a:t>
            </a:r>
            <a:r>
              <a:rPr sz="2750" spc="-90" dirty="0">
                <a:latin typeface="Arial MT"/>
                <a:cs typeface="Arial MT"/>
              </a:rPr>
              <a:t>General</a:t>
            </a:r>
            <a:r>
              <a:rPr sz="2750" spc="-55" dirty="0">
                <a:latin typeface="Arial MT"/>
                <a:cs typeface="Arial MT"/>
              </a:rPr>
              <a:t> </a:t>
            </a:r>
            <a:r>
              <a:rPr sz="2750" spc="-40" dirty="0">
                <a:latin typeface="Arial MT"/>
                <a:cs typeface="Arial MT"/>
              </a:rPr>
              <a:t>purpose </a:t>
            </a:r>
            <a:r>
              <a:rPr sz="2750" spc="-10" dirty="0">
                <a:latin typeface="Arial MT"/>
                <a:cs typeface="Arial MT"/>
              </a:rPr>
              <a:t>smoothing.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42094" y="2007433"/>
            <a:ext cx="4070985" cy="176530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190"/>
              </a:spcBef>
            </a:pPr>
            <a:r>
              <a:rPr sz="4450" dirty="0">
                <a:solidFill>
                  <a:srgbClr val="2B2B2B"/>
                </a:solidFill>
                <a:latin typeface="Arial MT"/>
                <a:cs typeface="Arial MT"/>
              </a:rPr>
              <a:t>Median</a:t>
            </a:r>
            <a:r>
              <a:rPr sz="4450" spc="-220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4450" spc="-10" dirty="0">
                <a:solidFill>
                  <a:srgbClr val="262626"/>
                </a:solidFill>
                <a:latin typeface="Arial MT"/>
                <a:cs typeface="Arial MT"/>
              </a:rPr>
              <a:t>Filter</a:t>
            </a:r>
            <a:endParaRPr sz="4450">
              <a:latin typeface="Arial MT"/>
              <a:cs typeface="Arial MT"/>
            </a:endParaRPr>
          </a:p>
          <a:p>
            <a:pPr marL="12700">
              <a:lnSpc>
                <a:spcPts val="3429"/>
              </a:lnSpc>
              <a:spcBef>
                <a:spcPts val="760"/>
              </a:spcBef>
            </a:pPr>
            <a:r>
              <a:rPr sz="3050" spc="-275" dirty="0">
                <a:latin typeface="Arial MT"/>
                <a:cs typeface="Arial MT"/>
              </a:rPr>
              <a:t>Replaces</a:t>
            </a:r>
            <a:r>
              <a:rPr sz="3050" spc="30" dirty="0">
                <a:latin typeface="Arial MT"/>
                <a:cs typeface="Arial MT"/>
              </a:rPr>
              <a:t> </a:t>
            </a:r>
            <a:r>
              <a:rPr sz="3050" spc="-170" dirty="0">
                <a:latin typeface="Arial MT"/>
                <a:cs typeface="Arial MT"/>
              </a:rPr>
              <a:t>pixel</a:t>
            </a:r>
            <a:r>
              <a:rPr sz="3050" dirty="0">
                <a:latin typeface="Arial MT"/>
                <a:cs typeface="Arial MT"/>
              </a:rPr>
              <a:t> </a:t>
            </a:r>
            <a:r>
              <a:rPr sz="4575" spc="-217" baseline="1821" dirty="0">
                <a:latin typeface="Arial MT"/>
                <a:cs typeface="Arial MT"/>
              </a:rPr>
              <a:t>with</a:t>
            </a:r>
            <a:r>
              <a:rPr sz="4575" spc="-157" baseline="1821" dirty="0">
                <a:latin typeface="Arial MT"/>
                <a:cs typeface="Arial MT"/>
              </a:rPr>
              <a:t> </a:t>
            </a:r>
            <a:r>
              <a:rPr sz="3050" spc="-270" dirty="0">
                <a:latin typeface="Arial MT"/>
                <a:cs typeface="Arial MT"/>
              </a:rPr>
              <a:t>median</a:t>
            </a:r>
            <a:endParaRPr sz="3050">
              <a:latin typeface="Arial MT"/>
              <a:cs typeface="Arial MT"/>
            </a:endParaRPr>
          </a:p>
          <a:p>
            <a:pPr marL="19685">
              <a:lnSpc>
                <a:spcPts val="3070"/>
              </a:lnSpc>
            </a:pPr>
            <a:r>
              <a:rPr sz="2750" spc="-10" dirty="0">
                <a:latin typeface="Arial MT"/>
                <a:cs typeface="Arial MT"/>
              </a:rPr>
              <a:t>neighbor.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627100" y="3323872"/>
            <a:ext cx="448945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-170" dirty="0">
                <a:solidFill>
                  <a:srgbClr val="1D1D1D"/>
                </a:solidFill>
                <a:latin typeface="Arial MT"/>
                <a:cs typeface="Arial MT"/>
              </a:rPr>
              <a:t>—</a:t>
            </a:r>
            <a:r>
              <a:rPr sz="2750" spc="-50" dirty="0">
                <a:solidFill>
                  <a:srgbClr val="1D1D1D"/>
                </a:solidFill>
                <a:latin typeface="Arial MT"/>
                <a:cs typeface="Arial MT"/>
              </a:rPr>
              <a:t>I</a:t>
            </a:r>
            <a:endParaRPr sz="2750">
              <a:latin typeface="Arial MT"/>
              <a:cs typeface="Arial MT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4207070" y="2734732"/>
          <a:ext cx="1727199" cy="1725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5B67"/>
                      </a:solidFill>
                      <a:prstDash val="solid"/>
                    </a:lnL>
                    <a:lnR w="12700">
                      <a:solidFill>
                        <a:srgbClr val="4F5B67"/>
                      </a:solidFill>
                      <a:prstDash val="solid"/>
                    </a:lnR>
                    <a:lnT w="12700">
                      <a:solidFill>
                        <a:srgbClr val="4F5B67"/>
                      </a:solidFill>
                      <a:prstDash val="solid"/>
                    </a:lnT>
                    <a:lnB w="12700">
                      <a:solidFill>
                        <a:srgbClr val="4F5B6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algn="ctr">
                        <a:lnSpc>
                          <a:spcPts val="3575"/>
                        </a:lnSpc>
                      </a:pPr>
                      <a:r>
                        <a:rPr sz="3050" spc="-39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30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4F5B67"/>
                      </a:solidFill>
                      <a:prstDash val="solid"/>
                    </a:lnL>
                    <a:lnR w="12700">
                      <a:solidFill>
                        <a:srgbClr val="4F5B67"/>
                      </a:solidFill>
                      <a:prstDash val="solid"/>
                    </a:lnR>
                    <a:lnT w="12700">
                      <a:solidFill>
                        <a:srgbClr val="4F5B67"/>
                      </a:solidFill>
                      <a:prstDash val="solid"/>
                    </a:lnT>
                    <a:lnB w="12700">
                      <a:solidFill>
                        <a:srgbClr val="4F5B6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 algn="ctr">
                        <a:lnSpc>
                          <a:spcPts val="3575"/>
                        </a:lnSpc>
                      </a:pPr>
                      <a:r>
                        <a:rPr sz="3050" spc="-360" dirty="0">
                          <a:solidFill>
                            <a:srgbClr val="282828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30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4F5B67"/>
                      </a:solidFill>
                      <a:prstDash val="solid"/>
                    </a:lnL>
                    <a:lnR w="12700">
                      <a:solidFill>
                        <a:srgbClr val="4F5B67"/>
                      </a:solidFill>
                      <a:prstDash val="solid"/>
                    </a:lnR>
                    <a:lnT w="12700">
                      <a:solidFill>
                        <a:srgbClr val="4F5B67"/>
                      </a:solidFill>
                      <a:prstDash val="solid"/>
                    </a:lnT>
                    <a:lnB w="12700">
                      <a:solidFill>
                        <a:srgbClr val="4F5B6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810">
                <a:tc rowSpan="3"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750" spc="-25" dirty="0">
                          <a:solidFill>
                            <a:srgbClr val="151515"/>
                          </a:solidFill>
                          <a:latin typeface="Arial MT"/>
                          <a:cs typeface="Arial MT"/>
                        </a:rPr>
                        <a:t>12</a:t>
                      </a:r>
                      <a:endParaRPr sz="275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12700">
                      <a:solidFill>
                        <a:srgbClr val="4F5B67"/>
                      </a:solidFill>
                      <a:prstDash val="solid"/>
                    </a:lnL>
                    <a:lnR w="12700">
                      <a:solidFill>
                        <a:srgbClr val="4F5B67"/>
                      </a:solidFill>
                      <a:prstDash val="solid"/>
                    </a:lnR>
                    <a:lnT w="12700">
                      <a:solidFill>
                        <a:srgbClr val="4F5B67"/>
                      </a:solidFill>
                      <a:prstDash val="solid"/>
                    </a:lnT>
                    <a:lnB w="12700">
                      <a:solidFill>
                        <a:srgbClr val="4F5B6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5B67"/>
                      </a:solidFill>
                      <a:prstDash val="solid"/>
                    </a:lnL>
                    <a:lnR w="12700">
                      <a:solidFill>
                        <a:srgbClr val="4F5B67"/>
                      </a:solidFill>
                      <a:prstDash val="solid"/>
                    </a:lnR>
                    <a:lnT w="12700">
                      <a:solidFill>
                        <a:srgbClr val="4F5B67"/>
                      </a:solidFill>
                      <a:prstDash val="solid"/>
                    </a:lnT>
                    <a:lnB w="12700">
                      <a:solidFill>
                        <a:srgbClr val="4F5B67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750" spc="-25" dirty="0">
                          <a:solidFill>
                            <a:srgbClr val="161616"/>
                          </a:solidFill>
                          <a:latin typeface="Arial MT"/>
                          <a:cs typeface="Arial MT"/>
                        </a:rPr>
                        <a:t>21</a:t>
                      </a:r>
                      <a:endParaRPr sz="275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12700">
                      <a:solidFill>
                        <a:srgbClr val="4F5B67"/>
                      </a:solidFill>
                      <a:prstDash val="solid"/>
                    </a:lnL>
                    <a:lnR w="12700">
                      <a:solidFill>
                        <a:srgbClr val="4F5B67"/>
                      </a:solidFill>
                      <a:prstDash val="solid"/>
                    </a:lnR>
                    <a:lnT w="12700">
                      <a:solidFill>
                        <a:srgbClr val="4F5B67"/>
                      </a:solidFill>
                      <a:prstDash val="solid"/>
                    </a:lnT>
                    <a:lnB w="12700">
                      <a:solidFill>
                        <a:srgbClr val="4F5B6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62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2700">
                      <a:solidFill>
                        <a:srgbClr val="4F5B67"/>
                      </a:solidFill>
                      <a:prstDash val="solid"/>
                    </a:lnL>
                    <a:lnR w="12700">
                      <a:solidFill>
                        <a:srgbClr val="4F5B67"/>
                      </a:solidFill>
                      <a:prstDash val="solid"/>
                    </a:lnR>
                    <a:lnT w="12700">
                      <a:solidFill>
                        <a:srgbClr val="4F5B67"/>
                      </a:solidFill>
                      <a:prstDash val="solid"/>
                    </a:lnT>
                    <a:lnB w="12700">
                      <a:solidFill>
                        <a:srgbClr val="4F5B6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5B67"/>
                      </a:solidFill>
                      <a:prstDash val="solid"/>
                    </a:lnL>
                    <a:lnR w="12700">
                      <a:solidFill>
                        <a:srgbClr val="4F5B67"/>
                      </a:solidFill>
                      <a:prstDash val="solid"/>
                    </a:lnR>
                    <a:lnT w="12700">
                      <a:solidFill>
                        <a:srgbClr val="4F5B67"/>
                      </a:solidFill>
                      <a:prstDash val="solid"/>
                    </a:lnT>
                    <a:lnB w="12700">
                      <a:solidFill>
                        <a:srgbClr val="4F5B67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2700">
                      <a:solidFill>
                        <a:srgbClr val="4F5B67"/>
                      </a:solidFill>
                      <a:prstDash val="solid"/>
                    </a:lnL>
                    <a:lnR w="12700">
                      <a:solidFill>
                        <a:srgbClr val="4F5B67"/>
                      </a:solidFill>
                      <a:prstDash val="solid"/>
                    </a:lnR>
                    <a:lnT w="12700">
                      <a:solidFill>
                        <a:srgbClr val="4F5B67"/>
                      </a:solidFill>
                      <a:prstDash val="solid"/>
                    </a:lnT>
                    <a:lnB w="12700">
                      <a:solidFill>
                        <a:srgbClr val="4F5B6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9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2700">
                      <a:solidFill>
                        <a:srgbClr val="4F5B67"/>
                      </a:solidFill>
                      <a:prstDash val="solid"/>
                    </a:lnL>
                    <a:lnR w="12700">
                      <a:solidFill>
                        <a:srgbClr val="4F5B67"/>
                      </a:solidFill>
                      <a:prstDash val="solid"/>
                    </a:lnR>
                    <a:lnT w="12700">
                      <a:solidFill>
                        <a:srgbClr val="4F5B67"/>
                      </a:solidFill>
                      <a:prstDash val="solid"/>
                    </a:lnT>
                    <a:lnB w="12700">
                      <a:solidFill>
                        <a:srgbClr val="4F5B6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5B67"/>
                      </a:solidFill>
                      <a:prstDash val="solid"/>
                    </a:lnL>
                    <a:lnR w="12700">
                      <a:solidFill>
                        <a:srgbClr val="4F5B67"/>
                      </a:solidFill>
                      <a:prstDash val="solid"/>
                    </a:lnR>
                    <a:lnT w="12700">
                      <a:solidFill>
                        <a:srgbClr val="4F5B67"/>
                      </a:solidFill>
                      <a:prstDash val="solid"/>
                    </a:lnT>
                    <a:lnB w="12700">
                      <a:solidFill>
                        <a:srgbClr val="4F5B67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2700">
                      <a:solidFill>
                        <a:srgbClr val="4F5B67"/>
                      </a:solidFill>
                      <a:prstDash val="solid"/>
                    </a:lnL>
                    <a:lnR w="12700">
                      <a:solidFill>
                        <a:srgbClr val="4F5B67"/>
                      </a:solidFill>
                      <a:prstDash val="solid"/>
                    </a:lnR>
                    <a:lnT w="12700">
                      <a:solidFill>
                        <a:srgbClr val="4F5B67"/>
                      </a:solidFill>
                      <a:prstDash val="solid"/>
                    </a:lnT>
                    <a:lnB w="12700">
                      <a:solidFill>
                        <a:srgbClr val="4F5B6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500" spc="-25" dirty="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r>
                        <a:rPr sz="2550" spc="-25" dirty="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8</a:t>
                      </a:r>
                      <a:endParaRPr sz="2550">
                        <a:latin typeface="Arial MT"/>
                        <a:cs typeface="Arial MT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4F5B67"/>
                      </a:solidFill>
                      <a:prstDash val="solid"/>
                    </a:lnL>
                    <a:lnR w="12700">
                      <a:solidFill>
                        <a:srgbClr val="4F5B67"/>
                      </a:solidFill>
                      <a:prstDash val="solid"/>
                    </a:lnR>
                    <a:lnT w="12700">
                      <a:solidFill>
                        <a:srgbClr val="4F5B67"/>
                      </a:solidFill>
                      <a:prstDash val="solid"/>
                    </a:lnT>
                    <a:lnB w="12700">
                      <a:solidFill>
                        <a:srgbClr val="4F5B6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139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550" spc="5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r>
                        <a:rPr sz="2750" spc="5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27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4F5B67"/>
                      </a:solidFill>
                      <a:prstDash val="solid"/>
                    </a:lnL>
                    <a:lnR w="12700">
                      <a:solidFill>
                        <a:srgbClr val="4F5B67"/>
                      </a:solidFill>
                      <a:prstDash val="solid"/>
                    </a:lnR>
                    <a:lnT w="12700">
                      <a:solidFill>
                        <a:srgbClr val="4F5B67"/>
                      </a:solidFill>
                      <a:prstDash val="solid"/>
                    </a:lnT>
                    <a:lnB w="12700">
                      <a:solidFill>
                        <a:srgbClr val="4F5B6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4125" spc="637" baseline="-28282" dirty="0">
                          <a:solidFill>
                            <a:srgbClr val="161616"/>
                          </a:solidFill>
                          <a:latin typeface="Arial MT"/>
                          <a:cs typeface="Arial MT"/>
                        </a:rPr>
                        <a:t>*</a:t>
                      </a:r>
                      <a:r>
                        <a:rPr sz="2550" spc="425" dirty="0">
                          <a:solidFill>
                            <a:srgbClr val="161616"/>
                          </a:solidFill>
                          <a:latin typeface="Arial MT"/>
                          <a:cs typeface="Arial MT"/>
                        </a:rPr>
                        <a:t>6</a:t>
                      </a:r>
                      <a:endParaRPr sz="25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4F5B67"/>
                      </a:solidFill>
                      <a:prstDash val="solid"/>
                    </a:lnL>
                    <a:lnR w="12700">
                      <a:solidFill>
                        <a:srgbClr val="4F5B67"/>
                      </a:solidFill>
                      <a:prstDash val="solid"/>
                    </a:lnR>
                    <a:lnT w="12700">
                      <a:solidFill>
                        <a:srgbClr val="4F5B67"/>
                      </a:solidFill>
                      <a:prstDash val="solid"/>
                    </a:lnT>
                    <a:lnB w="12700">
                      <a:solidFill>
                        <a:srgbClr val="4F5B6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9344600" y="4073172"/>
            <a:ext cx="4527550" cy="461454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3335" marR="197485" indent="-635">
              <a:lnSpc>
                <a:spcPts val="2900"/>
              </a:lnSpc>
              <a:spcBef>
                <a:spcPts val="555"/>
              </a:spcBef>
            </a:pPr>
            <a:r>
              <a:rPr sz="2750" spc="-50" dirty="0">
                <a:latin typeface="Arial MT"/>
                <a:cs typeface="Arial MT"/>
              </a:rPr>
              <a:t>Use</a:t>
            </a:r>
            <a:r>
              <a:rPr sz="2750" spc="-145" dirty="0">
                <a:latin typeface="Arial MT"/>
                <a:cs typeface="Arial MT"/>
              </a:rPr>
              <a:t> </a:t>
            </a:r>
            <a:r>
              <a:rPr sz="2750" spc="-90" dirty="0">
                <a:latin typeface="Arial MT"/>
                <a:cs typeface="Arial MT"/>
              </a:rPr>
              <a:t>Case:</a:t>
            </a:r>
            <a:r>
              <a:rPr sz="2750" spc="-10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Perfect</a:t>
            </a:r>
            <a:r>
              <a:rPr sz="2750" spc="-1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for</a:t>
            </a:r>
            <a:r>
              <a:rPr sz="2750" spc="-125" dirty="0">
                <a:latin typeface="Arial MT"/>
                <a:cs typeface="Arial MT"/>
              </a:rPr>
              <a:t> </a:t>
            </a:r>
            <a:r>
              <a:rPr sz="2750" spc="-45" dirty="0">
                <a:latin typeface="Arial MT"/>
                <a:cs typeface="Arial MT"/>
              </a:rPr>
              <a:t>"Salt</a:t>
            </a:r>
            <a:r>
              <a:rPr sz="2750" spc="-125" dirty="0">
                <a:latin typeface="Arial MT"/>
                <a:cs typeface="Arial MT"/>
              </a:rPr>
              <a:t> </a:t>
            </a:r>
            <a:r>
              <a:rPr sz="2750" spc="-105" dirty="0">
                <a:latin typeface="Arial MT"/>
                <a:cs typeface="Arial MT"/>
              </a:rPr>
              <a:t>&amp; </a:t>
            </a:r>
            <a:r>
              <a:rPr sz="2750" spc="-20" dirty="0">
                <a:latin typeface="Arial MT"/>
                <a:cs typeface="Arial MT"/>
              </a:rPr>
              <a:t>Pepper"</a:t>
            </a:r>
            <a:r>
              <a:rPr sz="2750" spc="-114" dirty="0">
                <a:latin typeface="Arial MT"/>
                <a:cs typeface="Arial MT"/>
              </a:rPr>
              <a:t> </a:t>
            </a:r>
            <a:r>
              <a:rPr sz="2750" spc="-50" dirty="0">
                <a:latin typeface="Arial MT"/>
                <a:cs typeface="Arial MT"/>
              </a:rPr>
              <a:t>(impulsive)</a:t>
            </a:r>
            <a:r>
              <a:rPr sz="2750" spc="2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noise.</a:t>
            </a:r>
            <a:endParaRPr sz="27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395"/>
              </a:spcBef>
            </a:pPr>
            <a:endParaRPr sz="2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4350" dirty="0">
                <a:solidFill>
                  <a:srgbClr val="262626"/>
                </a:solidFill>
                <a:latin typeface="Arial MT"/>
                <a:cs typeface="Arial MT"/>
              </a:rPr>
              <a:t>Bilateral</a:t>
            </a:r>
            <a:r>
              <a:rPr sz="4350" spc="10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4350" spc="-10" dirty="0">
                <a:solidFill>
                  <a:srgbClr val="282828"/>
                </a:solidFill>
                <a:latin typeface="Arial MT"/>
                <a:cs typeface="Arial MT"/>
              </a:rPr>
              <a:t>Filter</a:t>
            </a:r>
            <a:endParaRPr sz="4350">
              <a:latin typeface="Arial MT"/>
              <a:cs typeface="Arial MT"/>
            </a:endParaRPr>
          </a:p>
          <a:p>
            <a:pPr marL="22860">
              <a:lnSpc>
                <a:spcPts val="2975"/>
              </a:lnSpc>
              <a:spcBef>
                <a:spcPts val="930"/>
              </a:spcBef>
            </a:pPr>
            <a:r>
              <a:rPr sz="2750" spc="-50" dirty="0">
                <a:latin typeface="Arial MT"/>
                <a:cs typeface="Arial MT"/>
              </a:rPr>
              <a:t>Considers</a:t>
            </a:r>
            <a:r>
              <a:rPr sz="2750" spc="-5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distance</a:t>
            </a:r>
            <a:r>
              <a:rPr sz="2750" spc="-150" dirty="0">
                <a:latin typeface="Arial MT"/>
                <a:cs typeface="Arial MT"/>
              </a:rPr>
              <a:t> </a:t>
            </a:r>
            <a:r>
              <a:rPr sz="2750" spc="-25" dirty="0">
                <a:latin typeface="Arial MT"/>
                <a:cs typeface="Arial MT"/>
              </a:rPr>
              <a:t>AND</a:t>
            </a:r>
            <a:endParaRPr sz="2750">
              <a:latin typeface="Arial MT"/>
              <a:cs typeface="Arial MT"/>
            </a:endParaRPr>
          </a:p>
          <a:p>
            <a:pPr marL="14604">
              <a:lnSpc>
                <a:spcPts val="3335"/>
              </a:lnSpc>
            </a:pPr>
            <a:r>
              <a:rPr sz="3050" spc="-135" dirty="0">
                <a:latin typeface="Arial MT"/>
                <a:cs typeface="Arial MT"/>
              </a:rPr>
              <a:t>intensity</a:t>
            </a:r>
            <a:r>
              <a:rPr sz="3050" spc="-45" dirty="0">
                <a:latin typeface="Arial MT"/>
                <a:cs typeface="Arial MT"/>
              </a:rPr>
              <a:t> </a:t>
            </a:r>
            <a:r>
              <a:rPr sz="3050" spc="-80" dirty="0">
                <a:latin typeface="Arial MT"/>
                <a:cs typeface="Arial MT"/>
              </a:rPr>
              <a:t>difference.</a:t>
            </a:r>
            <a:endParaRPr sz="3050">
              <a:latin typeface="Arial MT"/>
              <a:cs typeface="Arial MT"/>
            </a:endParaRPr>
          </a:p>
          <a:p>
            <a:pPr marL="26670" marR="5080" indent="-2540">
              <a:lnSpc>
                <a:spcPts val="2900"/>
              </a:lnSpc>
              <a:spcBef>
                <a:spcPts val="2920"/>
              </a:spcBef>
            </a:pPr>
            <a:r>
              <a:rPr sz="2750" spc="-55" dirty="0">
                <a:latin typeface="Arial MT"/>
                <a:cs typeface="Arial MT"/>
              </a:rPr>
              <a:t>Superpower:</a:t>
            </a:r>
            <a:r>
              <a:rPr sz="2750" spc="-75" dirty="0">
                <a:latin typeface="Arial MT"/>
                <a:cs typeface="Arial MT"/>
              </a:rPr>
              <a:t> </a:t>
            </a:r>
            <a:r>
              <a:rPr sz="2750" spc="-70" dirty="0">
                <a:latin typeface="Arial MT"/>
                <a:cs typeface="Arial MT"/>
              </a:rPr>
              <a:t>Preserves</a:t>
            </a:r>
            <a:r>
              <a:rPr sz="2750" spc="-100" dirty="0">
                <a:latin typeface="Arial MT"/>
                <a:cs typeface="Arial MT"/>
              </a:rPr>
              <a:t> </a:t>
            </a:r>
            <a:r>
              <a:rPr sz="2750" spc="-110" dirty="0">
                <a:latin typeface="Arial MT"/>
                <a:cs typeface="Arial MT"/>
              </a:rPr>
              <a:t>Edges </a:t>
            </a:r>
            <a:r>
              <a:rPr sz="2750" spc="-10" dirty="0">
                <a:latin typeface="Arial MT"/>
                <a:cs typeface="Arial MT"/>
              </a:rPr>
              <a:t>while</a:t>
            </a:r>
            <a:r>
              <a:rPr sz="2750" spc="-160" dirty="0">
                <a:latin typeface="Arial MT"/>
                <a:cs typeface="Arial MT"/>
              </a:rPr>
              <a:t> </a:t>
            </a:r>
            <a:r>
              <a:rPr sz="2750" spc="-25" dirty="0">
                <a:latin typeface="Arial MT"/>
                <a:cs typeface="Arial MT"/>
              </a:rPr>
              <a:t>smoothing</a:t>
            </a:r>
            <a:r>
              <a:rPr sz="2750" spc="-14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textures.</a:t>
            </a:r>
            <a:endParaRPr sz="2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300" y="5029200"/>
            <a:ext cx="800100" cy="749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13100" y="5740400"/>
            <a:ext cx="965200" cy="749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89300" y="4394200"/>
            <a:ext cx="812800" cy="8001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36200" y="7874000"/>
            <a:ext cx="876300" cy="7112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29500" y="723900"/>
            <a:ext cx="558800" cy="53340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872066" y="9086850"/>
            <a:ext cx="4749800" cy="0"/>
          </a:xfrm>
          <a:custGeom>
            <a:avLst/>
            <a:gdLst/>
            <a:ahLst/>
            <a:cxnLst/>
            <a:rect l="l" t="t" r="r" b="b"/>
            <a:pathLst>
              <a:path w="4749800">
                <a:moveTo>
                  <a:pt x="0" y="0"/>
                </a:moveTo>
                <a:lnTo>
                  <a:pt x="47498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32000" y="5545670"/>
            <a:ext cx="702945" cy="55244"/>
          </a:xfrm>
          <a:custGeom>
            <a:avLst/>
            <a:gdLst/>
            <a:ahLst/>
            <a:cxnLst/>
            <a:rect l="l" t="t" r="r" b="b"/>
            <a:pathLst>
              <a:path w="702944" h="55245">
                <a:moveTo>
                  <a:pt x="702729" y="0"/>
                </a:moveTo>
                <a:lnTo>
                  <a:pt x="0" y="0"/>
                </a:lnTo>
                <a:lnTo>
                  <a:pt x="0" y="25400"/>
                </a:lnTo>
                <a:lnTo>
                  <a:pt x="0" y="29641"/>
                </a:lnTo>
                <a:lnTo>
                  <a:pt x="0" y="55041"/>
                </a:lnTo>
                <a:lnTo>
                  <a:pt x="702729" y="55041"/>
                </a:lnTo>
                <a:lnTo>
                  <a:pt x="702729" y="29641"/>
                </a:lnTo>
                <a:lnTo>
                  <a:pt x="702729" y="25400"/>
                </a:lnTo>
                <a:lnTo>
                  <a:pt x="702729" y="0"/>
                </a:lnTo>
                <a:close/>
              </a:path>
            </a:pathLst>
          </a:custGeom>
          <a:solidFill>
            <a:srgbClr val="2F383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2032000" y="5342466"/>
            <a:ext cx="702945" cy="55244"/>
            <a:chOff x="2032000" y="5342466"/>
            <a:chExt cx="702945" cy="55244"/>
          </a:xfrm>
        </p:grpSpPr>
        <p:sp>
          <p:nvSpPr>
            <p:cNvPr id="10" name="object 10"/>
            <p:cNvSpPr/>
            <p:nvPr/>
          </p:nvSpPr>
          <p:spPr>
            <a:xfrm>
              <a:off x="2044700" y="5382683"/>
              <a:ext cx="690245" cy="0"/>
            </a:xfrm>
            <a:custGeom>
              <a:avLst/>
              <a:gdLst/>
              <a:ahLst/>
              <a:cxnLst/>
              <a:rect l="l" t="t" r="r" b="b"/>
              <a:pathLst>
                <a:path w="690244">
                  <a:moveTo>
                    <a:pt x="0" y="0"/>
                  </a:moveTo>
                  <a:lnTo>
                    <a:pt x="690033" y="0"/>
                  </a:lnTo>
                </a:path>
              </a:pathLst>
            </a:custGeom>
            <a:ln w="29633">
              <a:solidFill>
                <a:srgbClr val="2F38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32000" y="5357283"/>
              <a:ext cx="702945" cy="0"/>
            </a:xfrm>
            <a:custGeom>
              <a:avLst/>
              <a:gdLst/>
              <a:ahLst/>
              <a:cxnLst/>
              <a:rect l="l" t="t" r="r" b="b"/>
              <a:pathLst>
                <a:path w="702944">
                  <a:moveTo>
                    <a:pt x="0" y="0"/>
                  </a:moveTo>
                  <a:lnTo>
                    <a:pt x="702733" y="0"/>
                  </a:lnTo>
                </a:path>
              </a:pathLst>
            </a:custGeom>
            <a:ln w="29633">
              <a:solidFill>
                <a:srgbClr val="2F38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3175000" y="5458883"/>
            <a:ext cx="1033144" cy="0"/>
          </a:xfrm>
          <a:custGeom>
            <a:avLst/>
            <a:gdLst/>
            <a:ahLst/>
            <a:cxnLst/>
            <a:rect l="l" t="t" r="r" b="b"/>
            <a:pathLst>
              <a:path w="1033145">
                <a:moveTo>
                  <a:pt x="0" y="0"/>
                </a:moveTo>
                <a:lnTo>
                  <a:pt x="1032933" y="0"/>
                </a:lnTo>
              </a:path>
            </a:pathLst>
          </a:custGeom>
          <a:ln w="29633">
            <a:solidFill>
              <a:srgbClr val="2328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89000" y="2296583"/>
            <a:ext cx="4741545" cy="0"/>
          </a:xfrm>
          <a:custGeom>
            <a:avLst/>
            <a:gdLst/>
            <a:ahLst/>
            <a:cxnLst/>
            <a:rect l="l" t="t" r="r" b="b"/>
            <a:pathLst>
              <a:path w="4741545">
                <a:moveTo>
                  <a:pt x="0" y="0"/>
                </a:moveTo>
                <a:lnTo>
                  <a:pt x="4741333" y="0"/>
                </a:lnTo>
              </a:path>
            </a:pathLst>
          </a:custGeom>
          <a:ln w="29633">
            <a:solidFill>
              <a:srgbClr val="2328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021916" y="2324100"/>
            <a:ext cx="0" cy="6777990"/>
          </a:xfrm>
          <a:custGeom>
            <a:avLst/>
            <a:gdLst/>
            <a:ahLst/>
            <a:cxnLst/>
            <a:rect l="l" t="t" r="r" b="b"/>
            <a:pathLst>
              <a:path h="6777990">
                <a:moveTo>
                  <a:pt x="0" y="6777566"/>
                </a:moveTo>
                <a:lnTo>
                  <a:pt x="0" y="0"/>
                </a:lnTo>
              </a:path>
            </a:pathLst>
          </a:custGeom>
          <a:ln w="21166">
            <a:solidFill>
              <a:srgbClr val="5467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6011333" y="2324100"/>
            <a:ext cx="5406390" cy="6777990"/>
            <a:chOff x="6011333" y="2324100"/>
            <a:chExt cx="5406390" cy="6777990"/>
          </a:xfrm>
        </p:grpSpPr>
        <p:sp>
          <p:nvSpPr>
            <p:cNvPr id="16" name="object 16"/>
            <p:cNvSpPr/>
            <p:nvPr/>
          </p:nvSpPr>
          <p:spPr>
            <a:xfrm>
              <a:off x="11406716" y="2324100"/>
              <a:ext cx="0" cy="6777990"/>
            </a:xfrm>
            <a:custGeom>
              <a:avLst/>
              <a:gdLst/>
              <a:ahLst/>
              <a:cxnLst/>
              <a:rect l="l" t="t" r="r" b="b"/>
              <a:pathLst>
                <a:path h="6777990">
                  <a:moveTo>
                    <a:pt x="0" y="6777566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5467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11333" y="2334683"/>
              <a:ext cx="5406390" cy="0"/>
            </a:xfrm>
            <a:custGeom>
              <a:avLst/>
              <a:gdLst/>
              <a:ahLst/>
              <a:cxnLst/>
              <a:rect l="l" t="t" r="r" b="b"/>
              <a:pathLst>
                <a:path w="5406390">
                  <a:moveTo>
                    <a:pt x="0" y="0"/>
                  </a:moveTo>
                  <a:lnTo>
                    <a:pt x="5405966" y="0"/>
                  </a:lnTo>
                </a:path>
              </a:pathLst>
            </a:custGeom>
            <a:ln w="21166">
              <a:solidFill>
                <a:srgbClr val="5467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11333" y="9091083"/>
              <a:ext cx="5406390" cy="0"/>
            </a:xfrm>
            <a:custGeom>
              <a:avLst/>
              <a:gdLst/>
              <a:ahLst/>
              <a:cxnLst/>
              <a:rect l="l" t="t" r="r" b="b"/>
              <a:pathLst>
                <a:path w="5406390">
                  <a:moveTo>
                    <a:pt x="0" y="0"/>
                  </a:moveTo>
                  <a:lnTo>
                    <a:pt x="5405966" y="0"/>
                  </a:lnTo>
                </a:path>
              </a:pathLst>
            </a:custGeom>
            <a:ln w="21166">
              <a:solidFill>
                <a:srgbClr val="5467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11849100" y="9086850"/>
            <a:ext cx="4749800" cy="0"/>
          </a:xfrm>
          <a:custGeom>
            <a:avLst/>
            <a:gdLst/>
            <a:ahLst/>
            <a:cxnLst/>
            <a:rect l="l" t="t" r="r" b="b"/>
            <a:pathLst>
              <a:path w="4749800">
                <a:moveTo>
                  <a:pt x="0" y="0"/>
                </a:moveTo>
                <a:lnTo>
                  <a:pt x="4749800" y="0"/>
                </a:lnTo>
              </a:path>
            </a:pathLst>
          </a:custGeom>
          <a:ln w="38100">
            <a:solidFill>
              <a:srgbClr val="1A1A1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1861800" y="2296583"/>
            <a:ext cx="4741545" cy="0"/>
          </a:xfrm>
          <a:custGeom>
            <a:avLst/>
            <a:gdLst/>
            <a:ahLst/>
            <a:cxnLst/>
            <a:rect l="l" t="t" r="r" b="b"/>
            <a:pathLst>
              <a:path w="4741544">
                <a:moveTo>
                  <a:pt x="0" y="0"/>
                </a:moveTo>
                <a:lnTo>
                  <a:pt x="4741333" y="0"/>
                </a:lnTo>
              </a:path>
            </a:pathLst>
          </a:custGeom>
          <a:ln w="29633">
            <a:solidFill>
              <a:srgbClr val="2328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859629" y="528813"/>
            <a:ext cx="6365240" cy="13957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6395"/>
              </a:lnSpc>
              <a:spcBef>
                <a:spcPts val="135"/>
              </a:spcBef>
            </a:pPr>
            <a:r>
              <a:rPr sz="5450" spc="70" dirty="0">
                <a:solidFill>
                  <a:srgbClr val="232323"/>
                </a:solidFill>
                <a:latin typeface="Arial MT"/>
                <a:cs typeface="Arial MT"/>
              </a:rPr>
              <a:t>Restoration</a:t>
            </a:r>
            <a:r>
              <a:rPr sz="5450" spc="13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5450" spc="165" dirty="0">
                <a:solidFill>
                  <a:srgbClr val="262626"/>
                </a:solidFill>
                <a:latin typeface="Arial MT"/>
                <a:cs typeface="Arial MT"/>
              </a:rPr>
              <a:t>Method</a:t>
            </a:r>
            <a:endParaRPr sz="5450">
              <a:latin typeface="Arial MT"/>
              <a:cs typeface="Arial MT"/>
            </a:endParaRPr>
          </a:p>
          <a:p>
            <a:pPr marL="27305">
              <a:lnSpc>
                <a:spcPts val="4355"/>
              </a:lnSpc>
            </a:pPr>
            <a:r>
              <a:rPr sz="3750" spc="60" dirty="0">
                <a:solidFill>
                  <a:srgbClr val="91522F"/>
                </a:solidFill>
              </a:rPr>
              <a:t>Hierarchy</a:t>
            </a:r>
            <a:r>
              <a:rPr sz="3750" spc="210" dirty="0">
                <a:solidFill>
                  <a:srgbClr val="91522F"/>
                </a:solidFill>
              </a:rPr>
              <a:t> </a:t>
            </a:r>
            <a:r>
              <a:rPr sz="3750" dirty="0">
                <a:solidFill>
                  <a:srgbClr val="824B2F"/>
                </a:solidFill>
              </a:rPr>
              <a:t>of</a:t>
            </a:r>
            <a:r>
              <a:rPr sz="3750" spc="185" dirty="0">
                <a:solidFill>
                  <a:srgbClr val="824B2F"/>
                </a:solidFill>
              </a:rPr>
              <a:t> </a:t>
            </a:r>
            <a:r>
              <a:rPr sz="3750" spc="50" dirty="0">
                <a:solidFill>
                  <a:srgbClr val="804F34"/>
                </a:solidFill>
              </a:rPr>
              <a:t>Techniques</a:t>
            </a:r>
            <a:endParaRPr sz="3750"/>
          </a:p>
        </p:txBody>
      </p:sp>
      <p:sp>
        <p:nvSpPr>
          <p:cNvPr id="22" name="object 22"/>
          <p:cNvSpPr txBox="1"/>
          <p:nvPr/>
        </p:nvSpPr>
        <p:spPr>
          <a:xfrm>
            <a:off x="8137743" y="528813"/>
            <a:ext cx="7254875" cy="8616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450" spc="95" dirty="0">
                <a:solidFill>
                  <a:srgbClr val="1F1F1F"/>
                </a:solidFill>
                <a:latin typeface="Arial MT"/>
                <a:cs typeface="Arial MT"/>
              </a:rPr>
              <a:t>Deblurring</a:t>
            </a:r>
            <a:r>
              <a:rPr sz="5450" spc="16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5450" spc="45" dirty="0">
                <a:solidFill>
                  <a:srgbClr val="212121"/>
                </a:solidFill>
                <a:latin typeface="Arial MT"/>
                <a:cs typeface="Arial MT"/>
              </a:rPr>
              <a:t>Techniques</a:t>
            </a:r>
            <a:endParaRPr sz="54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3298" y="2567869"/>
            <a:ext cx="4262120" cy="13982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5715"/>
              </a:lnSpc>
              <a:spcBef>
                <a:spcPts val="130"/>
              </a:spcBef>
            </a:pPr>
            <a:r>
              <a:rPr sz="4900" spc="-145" dirty="0">
                <a:solidFill>
                  <a:srgbClr val="242424"/>
                </a:solidFill>
                <a:latin typeface="Arial MT"/>
                <a:cs typeface="Arial MT"/>
              </a:rPr>
              <a:t>Inverse</a:t>
            </a:r>
            <a:r>
              <a:rPr sz="4900" spc="-18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4900" spc="-35" dirty="0">
                <a:solidFill>
                  <a:srgbClr val="1F1F1F"/>
                </a:solidFill>
                <a:latin typeface="Arial MT"/>
                <a:cs typeface="Arial MT"/>
              </a:rPr>
              <a:t>Filtering</a:t>
            </a:r>
            <a:endParaRPr sz="4900" dirty="0">
              <a:latin typeface="Arial MT"/>
              <a:cs typeface="Arial MT"/>
            </a:endParaRPr>
          </a:p>
          <a:p>
            <a:pPr marL="35560">
              <a:lnSpc>
                <a:spcPts val="5055"/>
              </a:lnSpc>
            </a:pPr>
            <a:r>
              <a:rPr lang="en-IN" sz="4350" spc="-625" dirty="0">
                <a:solidFill>
                  <a:srgbClr val="75482F"/>
                </a:solidFill>
                <a:latin typeface="Arial MT"/>
                <a:cs typeface="Arial MT"/>
              </a:rPr>
              <a:t> </a:t>
            </a:r>
            <a:r>
              <a:rPr sz="4350" spc="-625" dirty="0">
                <a:solidFill>
                  <a:srgbClr val="85492B"/>
                </a:solidFill>
                <a:latin typeface="Arial MT"/>
                <a:cs typeface="Arial MT"/>
              </a:rPr>
              <a:t>N</a:t>
            </a:r>
            <a:r>
              <a:rPr lang="en-IN" sz="4350" spc="-625" dirty="0">
                <a:solidFill>
                  <a:srgbClr val="85492B"/>
                </a:solidFill>
                <a:latin typeface="Arial MT"/>
                <a:cs typeface="Arial MT"/>
              </a:rPr>
              <a:t> </a:t>
            </a:r>
            <a:r>
              <a:rPr sz="4350" spc="-625" dirty="0">
                <a:solidFill>
                  <a:srgbClr val="85492B"/>
                </a:solidFill>
                <a:latin typeface="Arial MT"/>
                <a:cs typeface="Arial MT"/>
              </a:rPr>
              <a:t>a</a:t>
            </a:r>
            <a:r>
              <a:rPr lang="en-IN" sz="4350" spc="-625" dirty="0">
                <a:solidFill>
                  <a:srgbClr val="85492B"/>
                </a:solidFill>
                <a:latin typeface="Arial MT"/>
                <a:cs typeface="Arial MT"/>
              </a:rPr>
              <a:t> </a:t>
            </a:r>
            <a:r>
              <a:rPr sz="4350" spc="-625" dirty="0" err="1">
                <a:solidFill>
                  <a:srgbClr val="85492B"/>
                </a:solidFill>
                <a:latin typeface="Arial MT"/>
                <a:cs typeface="Arial MT"/>
              </a:rPr>
              <a:t>i</a:t>
            </a:r>
            <a:r>
              <a:rPr lang="en-IN" sz="4350" spc="-625" dirty="0">
                <a:solidFill>
                  <a:srgbClr val="85492B"/>
                </a:solidFill>
                <a:latin typeface="Arial MT"/>
                <a:cs typeface="Arial MT"/>
              </a:rPr>
              <a:t> </a:t>
            </a:r>
            <a:r>
              <a:rPr sz="4350" spc="-625" dirty="0" err="1">
                <a:solidFill>
                  <a:srgbClr val="85492B"/>
                </a:solidFill>
                <a:latin typeface="Arial MT"/>
                <a:cs typeface="Arial MT"/>
              </a:rPr>
              <a:t>ve</a:t>
            </a:r>
            <a:r>
              <a:rPr sz="4350" spc="-180" dirty="0">
                <a:solidFill>
                  <a:srgbClr val="85492B"/>
                </a:solidFill>
                <a:latin typeface="Arial MT"/>
                <a:cs typeface="Arial MT"/>
              </a:rPr>
              <a:t> </a:t>
            </a:r>
            <a:r>
              <a:rPr lang="en-IN" sz="4350" spc="-855" dirty="0">
                <a:solidFill>
                  <a:srgbClr val="7E492D"/>
                </a:solidFill>
                <a:latin typeface="Arial MT"/>
                <a:cs typeface="Arial MT"/>
              </a:rPr>
              <a:t>approach</a:t>
            </a:r>
            <a:endParaRPr sz="4350" dirty="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69520" y="2616127"/>
            <a:ext cx="4675505" cy="219964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5080">
              <a:lnSpc>
                <a:spcPct val="100000"/>
              </a:lnSpc>
              <a:spcBef>
                <a:spcPts val="850"/>
              </a:spcBef>
              <a:tabLst>
                <a:tab pos="1523365" algn="l"/>
              </a:tabLst>
            </a:pPr>
            <a:r>
              <a:rPr sz="4900" spc="-25" dirty="0">
                <a:solidFill>
                  <a:srgbClr val="262626"/>
                </a:solidFill>
                <a:latin typeface="Arial MT"/>
                <a:cs typeface="Arial MT"/>
              </a:rPr>
              <a:t>The</a:t>
            </a:r>
            <a:r>
              <a:rPr sz="4900" dirty="0">
                <a:solidFill>
                  <a:srgbClr val="262626"/>
                </a:solidFill>
                <a:latin typeface="Arial MT"/>
                <a:cs typeface="Arial MT"/>
              </a:rPr>
              <a:t>	</a:t>
            </a:r>
            <a:r>
              <a:rPr sz="4900" spc="635" dirty="0">
                <a:solidFill>
                  <a:srgbClr val="282828"/>
                </a:solidFill>
                <a:latin typeface="Arial MT"/>
                <a:cs typeface="Arial MT"/>
              </a:rPr>
              <a:t>Wiener</a:t>
            </a:r>
            <a:endParaRPr sz="4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r>
              <a:rPr sz="4350" spc="715" dirty="0">
                <a:solidFill>
                  <a:srgbClr val="282828"/>
                </a:solidFill>
                <a:latin typeface="Arial MT"/>
                <a:cs typeface="Arial MT"/>
              </a:rPr>
              <a:t>Filter</a:t>
            </a:r>
            <a:endParaRPr sz="4350">
              <a:latin typeface="Arial MT"/>
              <a:cs typeface="Arial MT"/>
            </a:endParaRPr>
          </a:p>
          <a:p>
            <a:pPr marL="3810">
              <a:lnSpc>
                <a:spcPct val="100000"/>
              </a:lnSpc>
              <a:spcBef>
                <a:spcPts val="630"/>
              </a:spcBef>
            </a:pPr>
            <a:r>
              <a:rPr sz="3300" spc="-120" dirty="0">
                <a:solidFill>
                  <a:srgbClr val="485669"/>
                </a:solidFill>
                <a:latin typeface="Calibri"/>
                <a:cs typeface="Calibri"/>
              </a:rPr>
              <a:t>The</a:t>
            </a:r>
            <a:r>
              <a:rPr sz="3300" spc="-60" dirty="0">
                <a:solidFill>
                  <a:srgbClr val="485669"/>
                </a:solidFill>
                <a:latin typeface="Calibri"/>
                <a:cs typeface="Calibri"/>
              </a:rPr>
              <a:t> </a:t>
            </a:r>
            <a:r>
              <a:rPr sz="3300" spc="-145" dirty="0">
                <a:solidFill>
                  <a:srgbClr val="4D5D70"/>
                </a:solidFill>
                <a:latin typeface="Calibri"/>
                <a:cs typeface="Calibri"/>
              </a:rPr>
              <a:t>Optimal</a:t>
            </a:r>
            <a:r>
              <a:rPr sz="3300" spc="-40" dirty="0">
                <a:solidFill>
                  <a:srgbClr val="4D5D70"/>
                </a:solidFill>
                <a:latin typeface="Calibri"/>
                <a:cs typeface="Calibri"/>
              </a:rPr>
              <a:t> </a:t>
            </a:r>
            <a:r>
              <a:rPr sz="3300" spc="-155" dirty="0">
                <a:solidFill>
                  <a:srgbClr val="3F5064"/>
                </a:solidFill>
                <a:latin typeface="Calibri"/>
                <a:cs typeface="Calibri"/>
              </a:rPr>
              <a:t>Approach</a:t>
            </a:r>
            <a:r>
              <a:rPr sz="3300" spc="40" dirty="0">
                <a:solidFill>
                  <a:srgbClr val="3F5064"/>
                </a:solidFill>
                <a:latin typeface="Calibri"/>
                <a:cs typeface="Calibri"/>
              </a:rPr>
              <a:t> </a:t>
            </a:r>
            <a:r>
              <a:rPr sz="3300" spc="-70" dirty="0">
                <a:solidFill>
                  <a:srgbClr val="3F4F60"/>
                </a:solidFill>
                <a:latin typeface="Calibri"/>
                <a:cs typeface="Calibri"/>
              </a:rPr>
              <a:t>(MSE).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040010" y="2567869"/>
            <a:ext cx="4277995" cy="2019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9050">
              <a:lnSpc>
                <a:spcPts val="5190"/>
              </a:lnSpc>
              <a:spcBef>
                <a:spcPts val="130"/>
              </a:spcBef>
            </a:pPr>
            <a:r>
              <a:rPr sz="4900" spc="-30" dirty="0">
                <a:solidFill>
                  <a:srgbClr val="212121"/>
                </a:solidFill>
                <a:latin typeface="Arial MT"/>
                <a:cs typeface="Arial MT"/>
              </a:rPr>
              <a:t>Constrained</a:t>
            </a:r>
            <a:endParaRPr sz="4900">
              <a:latin typeface="Arial MT"/>
              <a:cs typeface="Arial MT"/>
            </a:endParaRPr>
          </a:p>
          <a:p>
            <a:pPr marL="12700">
              <a:lnSpc>
                <a:spcPts val="5790"/>
              </a:lnSpc>
            </a:pPr>
            <a:r>
              <a:rPr sz="8100" baseline="1028" dirty="0">
                <a:solidFill>
                  <a:srgbClr val="232323"/>
                </a:solidFill>
                <a:latin typeface="Arial MT"/>
                <a:cs typeface="Arial MT"/>
              </a:rPr>
              <a:t>L</a:t>
            </a:r>
            <a:r>
              <a:rPr sz="4350" dirty="0">
                <a:solidFill>
                  <a:srgbClr val="232323"/>
                </a:solidFill>
                <a:latin typeface="Arial MT"/>
                <a:cs typeface="Arial MT"/>
              </a:rPr>
              <a:t>east </a:t>
            </a:r>
            <a:r>
              <a:rPr sz="4350" spc="80" dirty="0">
                <a:solidFill>
                  <a:srgbClr val="232323"/>
                </a:solidFill>
                <a:latin typeface="Arial MT"/>
                <a:cs typeface="Arial MT"/>
              </a:rPr>
              <a:t>Squares</a:t>
            </a:r>
            <a:endParaRPr sz="4350">
              <a:latin typeface="Arial MT"/>
              <a:cs typeface="Arial MT"/>
            </a:endParaRPr>
          </a:p>
          <a:p>
            <a:pPr marL="34290">
              <a:lnSpc>
                <a:spcPct val="100000"/>
              </a:lnSpc>
              <a:spcBef>
                <a:spcPts val="720"/>
              </a:spcBef>
            </a:pPr>
            <a:r>
              <a:rPr sz="3300" spc="-160" dirty="0">
                <a:solidFill>
                  <a:srgbClr val="876D5B"/>
                </a:solidFill>
                <a:latin typeface="Calibri"/>
                <a:cs typeface="Calibri"/>
              </a:rPr>
              <a:t>The</a:t>
            </a:r>
            <a:r>
              <a:rPr sz="3300" spc="-80" dirty="0">
                <a:solidFill>
                  <a:srgbClr val="876D5B"/>
                </a:solidFill>
                <a:latin typeface="Calibri"/>
                <a:cs typeface="Calibri"/>
              </a:rPr>
              <a:t> </a:t>
            </a:r>
            <a:r>
              <a:rPr sz="3300" spc="-95" dirty="0">
                <a:solidFill>
                  <a:srgbClr val="7C4121"/>
                </a:solidFill>
                <a:latin typeface="Calibri"/>
                <a:cs typeface="Calibri"/>
              </a:rPr>
              <a:t>Regularized</a:t>
            </a:r>
            <a:r>
              <a:rPr sz="3300" spc="10" dirty="0">
                <a:solidFill>
                  <a:srgbClr val="7C4121"/>
                </a:solidFill>
                <a:latin typeface="Calibri"/>
                <a:cs typeface="Calibri"/>
              </a:rPr>
              <a:t> </a:t>
            </a:r>
            <a:r>
              <a:rPr sz="3300" spc="-120" dirty="0">
                <a:solidFill>
                  <a:srgbClr val="804B2B"/>
                </a:solidFill>
                <a:latin typeface="Calibri"/>
                <a:cs typeface="Calibri"/>
              </a:rPr>
              <a:t>Approach.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30621" y="5163255"/>
            <a:ext cx="4594225" cy="35591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6670" marR="30480" indent="-1905">
              <a:lnSpc>
                <a:spcPct val="85800"/>
              </a:lnSpc>
              <a:spcBef>
                <a:spcPts val="640"/>
              </a:spcBef>
            </a:pPr>
            <a:r>
              <a:rPr sz="3200" dirty="0">
                <a:latin typeface="Calibri"/>
                <a:cs typeface="Calibri"/>
              </a:rPr>
              <a:t>Uses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statistical</a:t>
            </a:r>
            <a:r>
              <a:rPr sz="3200" spc="-145" dirty="0">
                <a:latin typeface="Calibri"/>
                <a:cs typeface="Calibri"/>
              </a:rPr>
              <a:t> </a:t>
            </a:r>
            <a:r>
              <a:rPr sz="3200" spc="-70" dirty="0">
                <a:latin typeface="Calibri"/>
                <a:cs typeface="Calibri"/>
              </a:rPr>
              <a:t>properties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of </a:t>
            </a:r>
            <a:r>
              <a:rPr sz="3200" spc="-60" dirty="0">
                <a:latin typeface="Calibri"/>
                <a:cs typeface="Calibri"/>
              </a:rPr>
              <a:t>the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noise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spc="-85" dirty="0">
                <a:latin typeface="Calibri"/>
                <a:cs typeface="Calibri"/>
              </a:rPr>
              <a:t>and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55" dirty="0">
                <a:latin typeface="Calibri"/>
                <a:cs typeface="Calibri"/>
              </a:rPr>
              <a:t>image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 </a:t>
            </a:r>
            <a:r>
              <a:rPr sz="3200" spc="-30" dirty="0">
                <a:latin typeface="Calibri"/>
                <a:cs typeface="Calibri"/>
              </a:rPr>
              <a:t>balance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80" dirty="0">
                <a:latin typeface="Calibri"/>
                <a:cs typeface="Calibri"/>
              </a:rPr>
              <a:t>deblurring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with </a:t>
            </a:r>
            <a:r>
              <a:rPr sz="3100" dirty="0">
                <a:latin typeface="Calibri"/>
                <a:cs typeface="Calibri"/>
              </a:rPr>
              <a:t>noise</a:t>
            </a:r>
            <a:r>
              <a:rPr sz="3100" spc="-100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suppression.</a:t>
            </a:r>
            <a:endParaRPr sz="3100">
              <a:latin typeface="Calibri"/>
              <a:cs typeface="Calibri"/>
            </a:endParaRPr>
          </a:p>
          <a:p>
            <a:pPr marL="36830">
              <a:lnSpc>
                <a:spcPct val="100000"/>
              </a:lnSpc>
              <a:spcBef>
                <a:spcPts val="480"/>
              </a:spcBef>
            </a:pPr>
            <a:r>
              <a:rPr sz="3225" spc="254" baseline="20671" dirty="0">
                <a:latin typeface="Calibri"/>
                <a:cs typeface="Calibri"/>
              </a:rPr>
              <a:t>S</a:t>
            </a:r>
            <a:r>
              <a:rPr sz="2050" spc="170" dirty="0">
                <a:latin typeface="Calibri"/>
                <a:cs typeface="Calibri"/>
              </a:rPr>
              <a:t>IJ</a:t>
            </a:r>
            <a:r>
              <a:rPr sz="2900" spc="170" dirty="0">
                <a:latin typeface="Calibri"/>
                <a:cs typeface="Calibri"/>
              </a:rPr>
              <a:t>pp</a:t>
            </a:r>
            <a:r>
              <a:rPr sz="2550" spc="254" baseline="26143" dirty="0">
                <a:latin typeface="Calibri"/>
                <a:cs typeface="Calibri"/>
              </a:rPr>
              <a:t>r£?S</a:t>
            </a:r>
            <a:r>
              <a:rPr sz="3225" spc="254" baseline="20671" dirty="0">
                <a:latin typeface="Calibri"/>
                <a:cs typeface="Calibri"/>
              </a:rPr>
              <a:t>S</a:t>
            </a:r>
            <a:r>
              <a:rPr sz="2900" spc="170" dirty="0">
                <a:latin typeface="Calibri"/>
                <a:cs typeface="Calibri"/>
              </a:rPr>
              <a:t>i</a:t>
            </a:r>
            <a:r>
              <a:rPr sz="3750" spc="254" baseline="17777" dirty="0">
                <a:latin typeface="Calibri"/>
                <a:cs typeface="Calibri"/>
              </a:rPr>
              <a:t>O</a:t>
            </a:r>
            <a:r>
              <a:rPr sz="2150" spc="170" dirty="0">
                <a:latin typeface="Calibri"/>
                <a:cs typeface="Calibri"/>
              </a:rPr>
              <a:t>’</a:t>
            </a:r>
            <a:r>
              <a:rPr sz="2300" spc="170" dirty="0">
                <a:latin typeface="Calibri"/>
                <a:cs typeface="Calibri"/>
              </a:rPr>
              <a:t>l</a:t>
            </a:r>
            <a:r>
              <a:rPr sz="2900" spc="170" dirty="0">
                <a:latin typeface="Calibri"/>
                <a:cs typeface="Calibri"/>
              </a:rPr>
              <a:t>•</a:t>
            </a:r>
            <a:endParaRPr sz="2900">
              <a:latin typeface="Calibri"/>
              <a:cs typeface="Calibri"/>
            </a:endParaRPr>
          </a:p>
          <a:p>
            <a:pPr marL="31750">
              <a:lnSpc>
                <a:spcPts val="4125"/>
              </a:lnSpc>
              <a:spcBef>
                <a:spcPts val="1870"/>
              </a:spcBef>
            </a:pPr>
            <a:r>
              <a:rPr sz="3750" spc="80" dirty="0">
                <a:solidFill>
                  <a:srgbClr val="A8542A"/>
                </a:solidFill>
                <a:latin typeface="Calibri"/>
                <a:cs typeface="Calibri"/>
              </a:rPr>
              <a:t>Minimizes</a:t>
            </a:r>
            <a:r>
              <a:rPr sz="3750" spc="165" dirty="0">
                <a:solidFill>
                  <a:srgbClr val="A8542A"/>
                </a:solidFill>
                <a:latin typeface="Calibri"/>
                <a:cs typeface="Calibri"/>
              </a:rPr>
              <a:t> </a:t>
            </a:r>
            <a:r>
              <a:rPr sz="3750" spc="215" dirty="0">
                <a:solidFill>
                  <a:srgbClr val="A1522D"/>
                </a:solidFill>
                <a:latin typeface="Calibri"/>
                <a:cs typeface="Calibri"/>
              </a:rPr>
              <a:t>Nean</a:t>
            </a:r>
            <a:endParaRPr sz="3750">
              <a:latin typeface="Calibri"/>
              <a:cs typeface="Calibri"/>
            </a:endParaRPr>
          </a:p>
          <a:p>
            <a:pPr marL="41910">
              <a:lnSpc>
                <a:spcPts val="4245"/>
              </a:lnSpc>
            </a:pPr>
            <a:r>
              <a:rPr sz="3850" spc="85" dirty="0">
                <a:solidFill>
                  <a:srgbClr val="A5542F"/>
                </a:solidFill>
                <a:latin typeface="Calibri"/>
                <a:cs typeface="Calibri"/>
              </a:rPr>
              <a:t>Square</a:t>
            </a:r>
            <a:r>
              <a:rPr sz="3850" spc="80" dirty="0">
                <a:solidFill>
                  <a:srgbClr val="A5542F"/>
                </a:solidFill>
                <a:latin typeface="Calibri"/>
                <a:cs typeface="Calibri"/>
              </a:rPr>
              <a:t> </a:t>
            </a:r>
            <a:r>
              <a:rPr sz="3850" spc="-10" dirty="0">
                <a:solidFill>
                  <a:srgbClr val="9E4F2D"/>
                </a:solidFill>
                <a:latin typeface="Calibri"/>
                <a:cs typeface="Calibri"/>
              </a:rPr>
              <a:t>Error.</a:t>
            </a:r>
            <a:endParaRPr sz="38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7418" y="6944783"/>
            <a:ext cx="4447540" cy="171196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7780" marR="5080" indent="-5715">
              <a:lnSpc>
                <a:spcPct val="91500"/>
              </a:lnSpc>
              <a:spcBef>
                <a:spcPts val="409"/>
              </a:spcBef>
            </a:pPr>
            <a:r>
              <a:rPr sz="2900" dirty="0">
                <a:latin typeface="Calibri"/>
                <a:cs typeface="Calibri"/>
              </a:rPr>
              <a:t>Verdict:</a:t>
            </a:r>
            <a:r>
              <a:rPr sz="2900" spc="305" dirty="0">
                <a:latin typeface="Calibri"/>
                <a:cs typeface="Calibri"/>
              </a:rPr>
              <a:t> </a:t>
            </a:r>
            <a:r>
              <a:rPr sz="2900" spc="55" dirty="0">
                <a:latin typeface="Calibri"/>
                <a:cs typeface="Calibri"/>
              </a:rPr>
              <a:t>Catastrophic</a:t>
            </a:r>
            <a:r>
              <a:rPr sz="2900" spc="27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failure </a:t>
            </a:r>
            <a:r>
              <a:rPr sz="2950" dirty="0">
                <a:latin typeface="Arial MT"/>
                <a:cs typeface="Arial MT"/>
              </a:rPr>
              <a:t>in</a:t>
            </a:r>
            <a:r>
              <a:rPr sz="2950" spc="-245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the</a:t>
            </a:r>
            <a:r>
              <a:rPr sz="2950" spc="-210" dirty="0">
                <a:latin typeface="Arial MT"/>
                <a:cs typeface="Arial MT"/>
              </a:rPr>
              <a:t> </a:t>
            </a:r>
            <a:r>
              <a:rPr sz="2950" spc="-75" dirty="0">
                <a:latin typeface="Arial MT"/>
                <a:cs typeface="Arial MT"/>
              </a:rPr>
              <a:t>presence</a:t>
            </a:r>
            <a:r>
              <a:rPr sz="2950" spc="-11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of</a:t>
            </a:r>
            <a:r>
              <a:rPr sz="2950" spc="-55" dirty="0">
                <a:latin typeface="Arial MT"/>
                <a:cs typeface="Arial MT"/>
              </a:rPr>
              <a:t> </a:t>
            </a:r>
            <a:r>
              <a:rPr sz="2950" spc="-90" dirty="0">
                <a:latin typeface="Arial MT"/>
                <a:cs typeface="Arial MT"/>
              </a:rPr>
              <a:t>noise.</a:t>
            </a:r>
            <a:r>
              <a:rPr sz="2950" spc="-204" dirty="0">
                <a:latin typeface="Arial MT"/>
                <a:cs typeface="Arial MT"/>
              </a:rPr>
              <a:t> </a:t>
            </a:r>
            <a:r>
              <a:rPr sz="2950" spc="-25" dirty="0">
                <a:latin typeface="Arial MT"/>
                <a:cs typeface="Arial MT"/>
              </a:rPr>
              <a:t>It </a:t>
            </a:r>
            <a:r>
              <a:rPr sz="2900" dirty="0">
                <a:latin typeface="Arial MT"/>
                <a:cs typeface="Arial MT"/>
              </a:rPr>
              <a:t>amplifies</a:t>
            </a:r>
            <a:r>
              <a:rPr sz="2900" spc="9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the</a:t>
            </a:r>
            <a:r>
              <a:rPr sz="2900" spc="-120" dirty="0">
                <a:latin typeface="Arial MT"/>
                <a:cs typeface="Arial MT"/>
              </a:rPr>
              <a:t> </a:t>
            </a:r>
            <a:r>
              <a:rPr sz="2900" spc="-70" dirty="0">
                <a:latin typeface="Arial MT"/>
                <a:cs typeface="Arial MT"/>
              </a:rPr>
              <a:t>noise</a:t>
            </a:r>
            <a:r>
              <a:rPr sz="2900" spc="-8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term</a:t>
            </a:r>
            <a:r>
              <a:rPr sz="2900" spc="-114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to </a:t>
            </a:r>
            <a:r>
              <a:rPr sz="3050" spc="-10" dirty="0">
                <a:latin typeface="Arial MT"/>
                <a:cs typeface="Arial MT"/>
              </a:rPr>
              <a:t>infinity.</a:t>
            </a:r>
            <a:endParaRPr sz="305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043626" y="4998155"/>
            <a:ext cx="4307205" cy="178244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5240" marR="5080" indent="-3175">
              <a:lnSpc>
                <a:spcPct val="88700"/>
              </a:lnSpc>
              <a:spcBef>
                <a:spcPts val="525"/>
              </a:spcBef>
            </a:pPr>
            <a:r>
              <a:rPr sz="3200" spc="-45" dirty="0">
                <a:latin typeface="Calibri"/>
                <a:cs typeface="Calibri"/>
              </a:rPr>
              <a:t>Imposes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1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“smoothness" </a:t>
            </a:r>
            <a:r>
              <a:rPr sz="3100" spc="-20" dirty="0">
                <a:latin typeface="Calibri"/>
                <a:cs typeface="Calibri"/>
              </a:rPr>
              <a:t>constraint</a:t>
            </a:r>
            <a:r>
              <a:rPr sz="3100" spc="25" dirty="0">
                <a:latin typeface="Calibri"/>
                <a:cs typeface="Calibri"/>
              </a:rPr>
              <a:t> </a:t>
            </a:r>
            <a:r>
              <a:rPr sz="3100" spc="-35" dirty="0">
                <a:latin typeface="Calibri"/>
                <a:cs typeface="Calibri"/>
              </a:rPr>
              <a:t>on</a:t>
            </a:r>
            <a:r>
              <a:rPr sz="3100" spc="-140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the</a:t>
            </a:r>
            <a:r>
              <a:rPr sz="3100" spc="-100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solution </a:t>
            </a:r>
            <a:r>
              <a:rPr sz="3100" spc="-90" dirty="0">
                <a:latin typeface="Calibri"/>
                <a:cs typeface="Calibri"/>
              </a:rPr>
              <a:t>to</a:t>
            </a:r>
            <a:r>
              <a:rPr sz="3100" spc="-120" dirty="0">
                <a:latin typeface="Calibri"/>
                <a:cs typeface="Calibri"/>
              </a:rPr>
              <a:t> </a:t>
            </a:r>
            <a:r>
              <a:rPr sz="3100" spc="-25" dirty="0">
                <a:latin typeface="Calibri"/>
                <a:cs typeface="Calibri"/>
              </a:rPr>
              <a:t>prevent</a:t>
            </a:r>
            <a:r>
              <a:rPr sz="3100" spc="-95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oscillating</a:t>
            </a:r>
            <a:r>
              <a:rPr sz="3100" spc="-20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noise </a:t>
            </a:r>
            <a:r>
              <a:rPr sz="3200" spc="-10" dirty="0">
                <a:latin typeface="Calibri"/>
                <a:cs typeface="Calibri"/>
              </a:rPr>
              <a:t>artifacts.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700" y="4470400"/>
            <a:ext cx="5232400" cy="635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65900" y="3670300"/>
            <a:ext cx="4343400" cy="26162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03000" y="4038600"/>
            <a:ext cx="1803400" cy="18034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74618" y="671688"/>
            <a:ext cx="13526135" cy="9569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solidFill>
                  <a:srgbClr val="2B2B2B"/>
                </a:solidFill>
              </a:rPr>
              <a:t>Restoration</a:t>
            </a:r>
            <a:r>
              <a:rPr spc="-345" dirty="0">
                <a:solidFill>
                  <a:srgbClr val="2B2B2B"/>
                </a:solidFill>
              </a:rPr>
              <a:t> </a:t>
            </a:r>
            <a:r>
              <a:rPr spc="-55" dirty="0">
                <a:solidFill>
                  <a:srgbClr val="2A2A2A"/>
                </a:solidFill>
              </a:rPr>
              <a:t>Metbo4</a:t>
            </a:r>
            <a:r>
              <a:rPr spc="5" dirty="0">
                <a:solidFill>
                  <a:srgbClr val="2A2A2A"/>
                </a:solidFill>
              </a:rPr>
              <a:t> </a:t>
            </a:r>
            <a:r>
              <a:rPr spc="135" dirty="0">
                <a:solidFill>
                  <a:srgbClr val="2A2A2A"/>
                </a:solidFill>
              </a:rPr>
              <a:t>3:</a:t>
            </a:r>
            <a:r>
              <a:rPr spc="-500" dirty="0">
                <a:solidFill>
                  <a:srgbClr val="2A2A2A"/>
                </a:solidFill>
              </a:rPr>
              <a:t> </a:t>
            </a:r>
            <a:r>
              <a:rPr dirty="0">
                <a:solidFill>
                  <a:srgbClr val="2A2A2A"/>
                </a:solidFill>
              </a:rPr>
              <a:t>Blind</a:t>
            </a:r>
            <a:r>
              <a:rPr spc="-350" dirty="0">
                <a:solidFill>
                  <a:srgbClr val="2A2A2A"/>
                </a:solidFill>
              </a:rPr>
              <a:t> </a:t>
            </a:r>
            <a:r>
              <a:rPr spc="-10" dirty="0">
                <a:solidFill>
                  <a:srgbClr val="282828"/>
                </a:solidFill>
              </a:rPr>
              <a:t>Deconvolution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5389" y="1539169"/>
            <a:ext cx="8576310" cy="15932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900" dirty="0">
                <a:solidFill>
                  <a:srgbClr val="A8592F"/>
                </a:solidFill>
                <a:latin typeface="Calibri"/>
                <a:cs typeface="Calibri"/>
              </a:rPr>
              <a:t>Solving</a:t>
            </a:r>
            <a:r>
              <a:rPr sz="4900" spc="-185" dirty="0">
                <a:solidFill>
                  <a:srgbClr val="A8592F"/>
                </a:solidFill>
                <a:latin typeface="Calibri"/>
                <a:cs typeface="Calibri"/>
              </a:rPr>
              <a:t> </a:t>
            </a:r>
            <a:r>
              <a:rPr sz="4900" spc="-60" dirty="0">
                <a:solidFill>
                  <a:srgbClr val="A8592D"/>
                </a:solidFill>
                <a:latin typeface="Calibri"/>
                <a:cs typeface="Calibri"/>
              </a:rPr>
              <a:t>for</a:t>
            </a:r>
            <a:r>
              <a:rPr sz="4900" spc="-40" dirty="0">
                <a:solidFill>
                  <a:srgbClr val="A8592D"/>
                </a:solidFill>
                <a:latin typeface="Calibri"/>
                <a:cs typeface="Calibri"/>
              </a:rPr>
              <a:t> </a:t>
            </a:r>
            <a:r>
              <a:rPr sz="4900" spc="-260" dirty="0">
                <a:solidFill>
                  <a:srgbClr val="A1572D"/>
                </a:solidFill>
                <a:latin typeface="Calibri"/>
                <a:cs typeface="Calibri"/>
              </a:rPr>
              <a:t>Two</a:t>
            </a:r>
            <a:r>
              <a:rPr sz="4900" spc="-20" dirty="0">
                <a:solidFill>
                  <a:srgbClr val="A1572D"/>
                </a:solidFill>
                <a:latin typeface="Calibri"/>
                <a:cs typeface="Calibri"/>
              </a:rPr>
              <a:t> </a:t>
            </a:r>
            <a:r>
              <a:rPr sz="4900" spc="-10" dirty="0">
                <a:solidFill>
                  <a:srgbClr val="A75224"/>
                </a:solidFill>
                <a:latin typeface="Calibri"/>
                <a:cs typeface="Calibri"/>
              </a:rPr>
              <a:t>Unknowns</a:t>
            </a:r>
            <a:endParaRPr sz="49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2770"/>
              </a:spcBef>
            </a:pPr>
            <a:r>
              <a:rPr sz="3050" dirty="0">
                <a:latin typeface="Calibri"/>
                <a:cs typeface="Calibri"/>
              </a:rPr>
              <a:t>Black</a:t>
            </a:r>
            <a:r>
              <a:rPr sz="3050" spc="85" dirty="0">
                <a:latin typeface="Calibri"/>
                <a:cs typeface="Calibri"/>
              </a:rPr>
              <a:t> </a:t>
            </a:r>
            <a:r>
              <a:rPr sz="3050" spc="-25" dirty="0">
                <a:latin typeface="Calibri"/>
                <a:cs typeface="Calibri"/>
              </a:rPr>
              <a:t>Box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7487" y="4337755"/>
            <a:ext cx="465455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70" dirty="0">
                <a:latin typeface="Calibri"/>
                <a:cs typeface="Calibri"/>
              </a:rPr>
              <a:t>Observed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60" dirty="0">
                <a:latin typeface="Calibri"/>
                <a:cs typeface="Calibri"/>
              </a:rPr>
              <a:t>Blurry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Image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g(x,y)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61716" y="3680883"/>
            <a:ext cx="3467100" cy="685800"/>
          </a:xfrm>
          <a:prstGeom prst="rect">
            <a:avLst/>
          </a:prstGeom>
          <a:ln w="21166">
            <a:solidFill>
              <a:srgbClr val="A0603B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219075">
              <a:lnSpc>
                <a:spcPct val="100000"/>
              </a:lnSpc>
              <a:spcBef>
                <a:spcPts val="315"/>
              </a:spcBef>
            </a:pPr>
            <a:r>
              <a:rPr sz="3050" spc="-35" dirty="0">
                <a:latin typeface="Calibri"/>
                <a:cs typeface="Calibri"/>
              </a:rPr>
              <a:t>Estimate</a:t>
            </a:r>
            <a:r>
              <a:rPr sz="3050" spc="-95" dirty="0">
                <a:latin typeface="Calibri"/>
                <a:cs typeface="Calibri"/>
              </a:rPr>
              <a:t> </a:t>
            </a:r>
            <a:r>
              <a:rPr sz="3050" spc="-25" dirty="0">
                <a:latin typeface="Calibri"/>
                <a:cs typeface="Calibri"/>
              </a:rPr>
              <a:t>Blur</a:t>
            </a:r>
            <a:r>
              <a:rPr sz="3050" spc="-135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Kernel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36216" y="3249083"/>
            <a:ext cx="5143500" cy="3505200"/>
          </a:xfrm>
          <a:prstGeom prst="rect">
            <a:avLst/>
          </a:prstGeom>
          <a:ln w="21166">
            <a:solidFill>
              <a:srgbClr val="576B8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850">
              <a:latin typeface="Times New Roman"/>
              <a:cs typeface="Times New Roman"/>
            </a:endParaRPr>
          </a:p>
          <a:p>
            <a:pPr marL="2786380">
              <a:lnSpc>
                <a:spcPts val="3260"/>
              </a:lnSpc>
            </a:pPr>
            <a:r>
              <a:rPr sz="2850" spc="-10" dirty="0">
                <a:solidFill>
                  <a:srgbClr val="A55223"/>
                </a:solidFill>
                <a:latin typeface="Calibri"/>
                <a:cs typeface="Calibri"/>
              </a:rPr>
              <a:t>Iterative</a:t>
            </a:r>
            <a:endParaRPr sz="2850">
              <a:latin typeface="Calibri"/>
              <a:cs typeface="Calibri"/>
            </a:endParaRPr>
          </a:p>
          <a:p>
            <a:pPr marL="2797810">
              <a:lnSpc>
                <a:spcPts val="3379"/>
              </a:lnSpc>
            </a:pPr>
            <a:r>
              <a:rPr sz="2950" spc="-10" dirty="0">
                <a:solidFill>
                  <a:srgbClr val="A85B34"/>
                </a:solidFill>
                <a:latin typeface="Calibri"/>
                <a:cs typeface="Calibri"/>
              </a:rPr>
              <a:t>Refinement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61716" y="5649383"/>
            <a:ext cx="3467100" cy="677545"/>
          </a:xfrm>
          <a:prstGeom prst="rect">
            <a:avLst/>
          </a:prstGeom>
          <a:ln w="21166">
            <a:solidFill>
              <a:srgbClr val="A0603B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574040">
              <a:lnSpc>
                <a:spcPct val="100000"/>
              </a:lnSpc>
              <a:spcBef>
                <a:spcPts val="165"/>
              </a:spcBef>
            </a:pPr>
            <a:r>
              <a:rPr sz="3100" spc="-85" dirty="0">
                <a:latin typeface="Calibri"/>
                <a:cs typeface="Calibri"/>
              </a:rPr>
              <a:t>Estimate</a:t>
            </a:r>
            <a:r>
              <a:rPr sz="3100" spc="-50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Image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25462" y="3889375"/>
            <a:ext cx="2985135" cy="501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100" spc="-25" dirty="0">
                <a:solidFill>
                  <a:srgbClr val="596979"/>
                </a:solidFill>
                <a:latin typeface="Calibri"/>
                <a:cs typeface="Calibri"/>
              </a:rPr>
              <a:t>Recovered</a:t>
            </a:r>
            <a:r>
              <a:rPr sz="3100" spc="85" dirty="0">
                <a:solidFill>
                  <a:srgbClr val="59697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7C90A3"/>
                </a:solidFill>
                <a:latin typeface="Calibri"/>
                <a:cs typeface="Calibri"/>
              </a:rPr>
              <a:t>Image</a:t>
            </a:r>
            <a:r>
              <a:rPr sz="3100" spc="-95" dirty="0">
                <a:solidFill>
                  <a:srgbClr val="7C90A3"/>
                </a:solidFill>
                <a:latin typeface="Calibri"/>
                <a:cs typeface="Calibri"/>
              </a:rPr>
              <a:t> </a:t>
            </a:r>
            <a:r>
              <a:rPr sz="3100" spc="-50" dirty="0">
                <a:solidFill>
                  <a:srgbClr val="597085"/>
                </a:solidFill>
                <a:latin typeface="Calibri"/>
                <a:cs typeface="Calibri"/>
              </a:rPr>
              <a:t>I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225462" y="5407025"/>
            <a:ext cx="3114675" cy="501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100" spc="-20" dirty="0">
                <a:solidFill>
                  <a:srgbClr val="5D6977"/>
                </a:solidFill>
                <a:latin typeface="Calibri"/>
                <a:cs typeface="Calibri"/>
              </a:rPr>
              <a:t>Recovered</a:t>
            </a:r>
            <a:r>
              <a:rPr sz="3100" spc="110" dirty="0">
                <a:solidFill>
                  <a:srgbClr val="5D6977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728090"/>
                </a:solidFill>
                <a:latin typeface="Calibri"/>
                <a:cs typeface="Calibri"/>
              </a:rPr>
              <a:t>Kernel</a:t>
            </a:r>
            <a:r>
              <a:rPr sz="3100" spc="-130" dirty="0">
                <a:solidFill>
                  <a:srgbClr val="728090"/>
                </a:solidFill>
                <a:latin typeface="Calibri"/>
                <a:cs typeface="Calibri"/>
              </a:rPr>
              <a:t> </a:t>
            </a:r>
            <a:r>
              <a:rPr sz="3100" spc="-50" dirty="0">
                <a:solidFill>
                  <a:srgbClr val="6E7E8E"/>
                </a:solidFill>
                <a:latin typeface="Calibri"/>
                <a:cs typeface="Calibri"/>
              </a:rPr>
              <a:t>h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8499" y="7301089"/>
            <a:ext cx="15417165" cy="162877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7145" marR="5080" indent="-5080">
              <a:lnSpc>
                <a:spcPct val="90900"/>
              </a:lnSpc>
              <a:spcBef>
                <a:spcPts val="505"/>
              </a:spcBef>
              <a:tabLst>
                <a:tab pos="2625725" algn="l"/>
              </a:tabLst>
            </a:pPr>
            <a:r>
              <a:rPr sz="3600" spc="85" dirty="0">
                <a:solidFill>
                  <a:srgbClr val="080808"/>
                </a:solidFill>
                <a:latin typeface="Calibri"/>
                <a:cs typeface="Calibri"/>
              </a:rPr>
              <a:t>Scenario:</a:t>
            </a:r>
            <a:r>
              <a:rPr sz="3600" spc="320" dirty="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C0C0C"/>
                </a:solidFill>
                <a:latin typeface="Calibri"/>
                <a:cs typeface="Calibri"/>
              </a:rPr>
              <a:t>We</a:t>
            </a:r>
            <a:r>
              <a:rPr sz="3600" spc="14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don't</a:t>
            </a:r>
            <a:r>
              <a:rPr sz="3600" spc="325" dirty="0"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E0E0E"/>
                </a:solidFill>
                <a:latin typeface="Calibri"/>
                <a:cs typeface="Calibri"/>
              </a:rPr>
              <a:t>know</a:t>
            </a:r>
            <a:r>
              <a:rPr sz="3600" spc="20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C0C0C"/>
                </a:solidFill>
                <a:latin typeface="Calibri"/>
                <a:cs typeface="Calibri"/>
              </a:rPr>
              <a:t>the</a:t>
            </a:r>
            <a:r>
              <a:rPr sz="3600" spc="204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80808"/>
                </a:solidFill>
                <a:latin typeface="Calibri"/>
                <a:cs typeface="Calibri"/>
              </a:rPr>
              <a:t>blur</a:t>
            </a:r>
            <a:r>
              <a:rPr sz="3600" spc="105" dirty="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80808"/>
                </a:solidFill>
                <a:latin typeface="Calibri"/>
                <a:cs typeface="Calibri"/>
              </a:rPr>
              <a:t>function</a:t>
            </a:r>
            <a:r>
              <a:rPr sz="3600" spc="280" dirty="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sz="3600" spc="55" dirty="0">
                <a:solidFill>
                  <a:srgbClr val="0F0F0F"/>
                </a:solidFill>
                <a:latin typeface="Calibri"/>
                <a:cs typeface="Calibri"/>
              </a:rPr>
              <a:t>(h).</a:t>
            </a:r>
            <a:r>
              <a:rPr sz="3600" spc="6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3600" spc="60" dirty="0">
                <a:solidFill>
                  <a:srgbClr val="0A0A0A"/>
                </a:solidFill>
                <a:latin typeface="Calibri"/>
                <a:cs typeface="Calibri"/>
              </a:rPr>
              <a:t>Common</a:t>
            </a:r>
            <a:r>
              <a:rPr sz="3600" spc="420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0F0F0F"/>
                </a:solidFill>
                <a:latin typeface="Calibri"/>
                <a:cs typeface="Calibri"/>
              </a:rPr>
              <a:t>in</a:t>
            </a:r>
            <a:r>
              <a:rPr sz="3600" spc="17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0C0C0C"/>
                </a:solidFill>
                <a:latin typeface="Calibri"/>
                <a:cs typeface="Calibri"/>
              </a:rPr>
              <a:t>handhetd </a:t>
            </a:r>
            <a:r>
              <a:rPr sz="3800" spc="-10" dirty="0">
                <a:solidFill>
                  <a:srgbClr val="080808"/>
                </a:solidFill>
                <a:latin typeface="Calibri"/>
                <a:cs typeface="Calibri"/>
              </a:rPr>
              <a:t>photography</a:t>
            </a:r>
            <a:r>
              <a:rPr sz="3800" dirty="0">
                <a:solidFill>
                  <a:srgbClr val="080808"/>
                </a:solidFill>
                <a:latin typeface="Calibri"/>
                <a:cs typeface="Calibri"/>
              </a:rPr>
              <a:t>	(camera</a:t>
            </a:r>
            <a:r>
              <a:rPr sz="3800" spc="-170" dirty="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A0A0A"/>
                </a:solidFill>
                <a:latin typeface="Calibri"/>
                <a:cs typeface="Calibri"/>
              </a:rPr>
              <a:t>shake).</a:t>
            </a:r>
            <a:r>
              <a:rPr sz="3800" spc="190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A0A0A"/>
                </a:solidFill>
                <a:latin typeface="Calibri"/>
                <a:cs typeface="Calibri"/>
              </a:rPr>
              <a:t>The</a:t>
            </a:r>
            <a:r>
              <a:rPr sz="3800" spc="-85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algorithm</a:t>
            </a:r>
            <a:r>
              <a:rPr sz="3800" spc="240" dirty="0"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E0E0E"/>
                </a:solidFill>
                <a:latin typeface="Calibri"/>
                <a:cs typeface="Calibri"/>
              </a:rPr>
              <a:t>must</a:t>
            </a:r>
            <a:r>
              <a:rPr sz="3800" spc="7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80808"/>
                </a:solidFill>
                <a:latin typeface="Calibri"/>
                <a:cs typeface="Calibri"/>
              </a:rPr>
              <a:t>guess</a:t>
            </a:r>
            <a:r>
              <a:rPr sz="3800" spc="30" dirty="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E0E0E"/>
                </a:solidFill>
                <a:latin typeface="Calibri"/>
                <a:cs typeface="Calibri"/>
              </a:rPr>
              <a:t>the</a:t>
            </a:r>
            <a:r>
              <a:rPr sz="3800" spc="-5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F0F0F"/>
                </a:solidFill>
                <a:latin typeface="Calibri"/>
                <a:cs typeface="Calibri"/>
              </a:rPr>
              <a:t>shake</a:t>
            </a:r>
            <a:r>
              <a:rPr sz="3800" spc="7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3800" spc="-35" dirty="0">
                <a:solidFill>
                  <a:srgbClr val="080808"/>
                </a:solidFill>
                <a:latin typeface="Calibri"/>
                <a:cs typeface="Calibri"/>
              </a:rPr>
              <a:t>pattern</a:t>
            </a:r>
            <a:r>
              <a:rPr sz="3800" spc="10" dirty="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latin typeface="Calibri"/>
                <a:cs typeface="Calibri"/>
              </a:rPr>
              <a:t>and </a:t>
            </a:r>
            <a:r>
              <a:rPr sz="3800" spc="-20" dirty="0">
                <a:solidFill>
                  <a:srgbClr val="131313"/>
                </a:solidFill>
                <a:latin typeface="Calibri"/>
                <a:cs typeface="Calibri"/>
              </a:rPr>
              <a:t>the</a:t>
            </a:r>
            <a:r>
              <a:rPr sz="3800" spc="-13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A0A0A"/>
                </a:solidFill>
                <a:latin typeface="Calibri"/>
                <a:cs typeface="Calibri"/>
              </a:rPr>
              <a:t>image</a:t>
            </a:r>
            <a:r>
              <a:rPr sz="3800" spc="-80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50505"/>
                </a:solidFill>
                <a:latin typeface="Calibri"/>
                <a:cs typeface="Calibri"/>
              </a:rPr>
              <a:t>simultaneously.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" y="8928100"/>
            <a:ext cx="7874000" cy="228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3100" y="1689100"/>
            <a:ext cx="7823200" cy="139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100" y="8966200"/>
            <a:ext cx="7861300" cy="1905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53500" y="1689100"/>
            <a:ext cx="7810500" cy="12700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662516" y="1811867"/>
            <a:ext cx="0" cy="7116445"/>
          </a:xfrm>
          <a:custGeom>
            <a:avLst/>
            <a:gdLst/>
            <a:ahLst/>
            <a:cxnLst/>
            <a:rect l="l" t="t" r="r" b="b"/>
            <a:pathLst>
              <a:path h="7116445">
                <a:moveTo>
                  <a:pt x="0" y="7116233"/>
                </a:moveTo>
                <a:lnTo>
                  <a:pt x="0" y="0"/>
                </a:lnTo>
              </a:path>
            </a:pathLst>
          </a:custGeom>
          <a:ln w="4233">
            <a:solidFill>
              <a:srgbClr val="9364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523816" y="1761067"/>
            <a:ext cx="0" cy="7268845"/>
          </a:xfrm>
          <a:custGeom>
            <a:avLst/>
            <a:gdLst/>
            <a:ahLst/>
            <a:cxnLst/>
            <a:rect l="l" t="t" r="r" b="b"/>
            <a:pathLst>
              <a:path h="7268845">
                <a:moveTo>
                  <a:pt x="0" y="7268633"/>
                </a:moveTo>
                <a:lnTo>
                  <a:pt x="0" y="0"/>
                </a:lnTo>
              </a:path>
            </a:pathLst>
          </a:custGeom>
          <a:ln w="4233">
            <a:solidFill>
              <a:srgbClr val="9364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04900" y="5242983"/>
            <a:ext cx="7002145" cy="0"/>
          </a:xfrm>
          <a:custGeom>
            <a:avLst/>
            <a:gdLst/>
            <a:ahLst/>
            <a:cxnLst/>
            <a:rect l="l" t="t" r="r" b="b"/>
            <a:pathLst>
              <a:path w="7002145">
                <a:moveTo>
                  <a:pt x="0" y="0"/>
                </a:moveTo>
                <a:lnTo>
                  <a:pt x="7001933" y="0"/>
                </a:lnTo>
              </a:path>
            </a:pathLst>
          </a:custGeom>
          <a:ln w="4233">
            <a:solidFill>
              <a:srgbClr val="A077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04900" y="4150783"/>
            <a:ext cx="7002145" cy="0"/>
          </a:xfrm>
          <a:custGeom>
            <a:avLst/>
            <a:gdLst/>
            <a:ahLst/>
            <a:cxnLst/>
            <a:rect l="l" t="t" r="r" b="b"/>
            <a:pathLst>
              <a:path w="7002145">
                <a:moveTo>
                  <a:pt x="0" y="0"/>
                </a:moveTo>
                <a:lnTo>
                  <a:pt x="7001933" y="0"/>
                </a:lnTo>
              </a:path>
            </a:pathLst>
          </a:custGeom>
          <a:ln w="4233">
            <a:solidFill>
              <a:srgbClr val="A074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42916" y="1799167"/>
            <a:ext cx="0" cy="7167245"/>
          </a:xfrm>
          <a:custGeom>
            <a:avLst/>
            <a:gdLst/>
            <a:ahLst/>
            <a:cxnLst/>
            <a:rect l="l" t="t" r="r" b="b"/>
            <a:pathLst>
              <a:path h="7167245">
                <a:moveTo>
                  <a:pt x="0" y="7167033"/>
                </a:moveTo>
                <a:lnTo>
                  <a:pt x="0" y="0"/>
                </a:lnTo>
              </a:path>
            </a:pathLst>
          </a:custGeom>
          <a:ln w="4233">
            <a:solidFill>
              <a:srgbClr val="5767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791516" y="1761067"/>
            <a:ext cx="0" cy="7281545"/>
          </a:xfrm>
          <a:custGeom>
            <a:avLst/>
            <a:gdLst/>
            <a:ahLst/>
            <a:cxnLst/>
            <a:rect l="l" t="t" r="r" b="b"/>
            <a:pathLst>
              <a:path h="7281545">
                <a:moveTo>
                  <a:pt x="0" y="7281333"/>
                </a:moveTo>
                <a:lnTo>
                  <a:pt x="0" y="0"/>
                </a:lnTo>
              </a:path>
            </a:pathLst>
          </a:custGeom>
          <a:ln w="4233">
            <a:solidFill>
              <a:srgbClr val="5767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842316" y="1888067"/>
            <a:ext cx="0" cy="7052945"/>
          </a:xfrm>
          <a:custGeom>
            <a:avLst/>
            <a:gdLst/>
            <a:ahLst/>
            <a:cxnLst/>
            <a:rect l="l" t="t" r="r" b="b"/>
            <a:pathLst>
              <a:path h="7052945">
                <a:moveTo>
                  <a:pt x="0" y="7052733"/>
                </a:moveTo>
                <a:lnTo>
                  <a:pt x="0" y="0"/>
                </a:lnTo>
              </a:path>
            </a:pathLst>
          </a:custGeom>
          <a:ln w="4233">
            <a:solidFill>
              <a:srgbClr val="5767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398000" y="6805083"/>
            <a:ext cx="6989445" cy="0"/>
          </a:xfrm>
          <a:custGeom>
            <a:avLst/>
            <a:gdLst/>
            <a:ahLst/>
            <a:cxnLst/>
            <a:rect l="l" t="t" r="r" b="b"/>
            <a:pathLst>
              <a:path w="6989444">
                <a:moveTo>
                  <a:pt x="0" y="0"/>
                </a:moveTo>
                <a:lnTo>
                  <a:pt x="6989233" y="0"/>
                </a:lnTo>
              </a:path>
            </a:pathLst>
          </a:custGeom>
          <a:ln w="4233">
            <a:solidFill>
              <a:srgbClr val="677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398000" y="5242983"/>
            <a:ext cx="6989445" cy="0"/>
          </a:xfrm>
          <a:custGeom>
            <a:avLst/>
            <a:gdLst/>
            <a:ahLst/>
            <a:cxnLst/>
            <a:rect l="l" t="t" r="r" b="b"/>
            <a:pathLst>
              <a:path w="6989444">
                <a:moveTo>
                  <a:pt x="0" y="0"/>
                </a:moveTo>
                <a:lnTo>
                  <a:pt x="6989233" y="0"/>
                </a:lnTo>
              </a:path>
            </a:pathLst>
          </a:custGeom>
          <a:ln w="4233">
            <a:solidFill>
              <a:srgbClr val="677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398000" y="4150783"/>
            <a:ext cx="6989445" cy="0"/>
          </a:xfrm>
          <a:custGeom>
            <a:avLst/>
            <a:gdLst/>
            <a:ahLst/>
            <a:cxnLst/>
            <a:rect l="l" t="t" r="r" b="b"/>
            <a:pathLst>
              <a:path w="6989444">
                <a:moveTo>
                  <a:pt x="0" y="0"/>
                </a:moveTo>
                <a:lnTo>
                  <a:pt x="6989233" y="0"/>
                </a:lnTo>
              </a:path>
            </a:pathLst>
          </a:custGeom>
          <a:ln w="4233">
            <a:solidFill>
              <a:srgbClr val="6470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635325" y="394405"/>
            <a:ext cx="11668125" cy="8934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66000" algn="l"/>
              </a:tabLst>
            </a:pPr>
            <a:r>
              <a:rPr sz="5700" dirty="0">
                <a:solidFill>
                  <a:srgbClr val="0F0F0F"/>
                </a:solidFill>
              </a:rPr>
              <a:t>Synthesis:</a:t>
            </a:r>
            <a:r>
              <a:rPr sz="5700" spc="175" dirty="0">
                <a:solidFill>
                  <a:srgbClr val="0F0F0F"/>
                </a:solidFill>
              </a:rPr>
              <a:t> </a:t>
            </a:r>
            <a:r>
              <a:rPr sz="5700" spc="-10" dirty="0">
                <a:solidFill>
                  <a:srgbClr val="0F0F0F"/>
                </a:solidFill>
              </a:rPr>
              <a:t>Enhancement</a:t>
            </a:r>
            <a:r>
              <a:rPr sz="5700" dirty="0">
                <a:solidFill>
                  <a:srgbClr val="0F0F0F"/>
                </a:solidFill>
              </a:rPr>
              <a:t>	</a:t>
            </a:r>
            <a:r>
              <a:rPr sz="5700" dirty="0"/>
              <a:t>vs.</a:t>
            </a:r>
            <a:r>
              <a:rPr sz="5700" spc="15" dirty="0"/>
              <a:t> </a:t>
            </a:r>
            <a:r>
              <a:rPr sz="5700" spc="-75" dirty="0">
                <a:solidFill>
                  <a:srgbClr val="0F0F0F"/>
                </a:solidFill>
              </a:rPr>
              <a:t>Restoration</a:t>
            </a:r>
            <a:endParaRPr sz="5700"/>
          </a:p>
        </p:txBody>
      </p:sp>
      <p:sp>
        <p:nvSpPr>
          <p:cNvPr id="17" name="object 17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90"/>
              </a:spcBef>
            </a:pPr>
            <a:r>
              <a:rPr spc="-30" dirty="0">
                <a:solidFill>
                  <a:srgbClr val="C36238"/>
                </a:solidFill>
              </a:rPr>
              <a:t>Image</a:t>
            </a:r>
            <a:r>
              <a:rPr spc="-240" dirty="0">
                <a:solidFill>
                  <a:srgbClr val="C36238"/>
                </a:solidFill>
              </a:rPr>
              <a:t> </a:t>
            </a:r>
            <a:r>
              <a:rPr spc="-265" dirty="0"/>
              <a:t>Enhancement</a:t>
            </a:r>
          </a:p>
          <a:p>
            <a:pPr marL="445770" indent="-433070">
              <a:lnSpc>
                <a:spcPct val="100000"/>
              </a:lnSpc>
              <a:spcBef>
                <a:spcPts val="4390"/>
              </a:spcBef>
              <a:buClr>
                <a:srgbClr val="CF663B"/>
              </a:buClr>
              <a:buChar char="•"/>
              <a:tabLst>
                <a:tab pos="445770" algn="l"/>
              </a:tabLst>
            </a:pPr>
            <a:r>
              <a:rPr sz="3600" spc="-55" dirty="0">
                <a:solidFill>
                  <a:srgbClr val="000000"/>
                </a:solidFill>
              </a:rPr>
              <a:t>Subjective</a:t>
            </a:r>
            <a:r>
              <a:rPr sz="3600" spc="-90" dirty="0">
                <a:solidFill>
                  <a:srgbClr val="000000"/>
                </a:solidFill>
              </a:rPr>
              <a:t> </a:t>
            </a:r>
            <a:r>
              <a:rPr sz="3600" spc="-35" dirty="0">
                <a:solidFill>
                  <a:srgbClr val="000000"/>
                </a:solidFill>
              </a:rPr>
              <a:t>(Visual</a:t>
            </a:r>
            <a:r>
              <a:rPr sz="3600" spc="-180" dirty="0">
                <a:solidFill>
                  <a:srgbClr val="000000"/>
                </a:solidFill>
              </a:rPr>
              <a:t> </a:t>
            </a:r>
            <a:r>
              <a:rPr sz="3600" spc="-10" dirty="0">
                <a:solidFill>
                  <a:srgbClr val="000000"/>
                </a:solidFill>
              </a:rPr>
              <a:t>Appeal)</a:t>
            </a:r>
            <a:endParaRPr sz="3600"/>
          </a:p>
          <a:p>
            <a:pPr>
              <a:lnSpc>
                <a:spcPct val="100000"/>
              </a:lnSpc>
              <a:spcBef>
                <a:spcPts val="35"/>
              </a:spcBef>
              <a:buFont typeface="Calibri"/>
              <a:buChar char="•"/>
            </a:pPr>
            <a:endParaRPr sz="3600"/>
          </a:p>
          <a:p>
            <a:pPr marL="436880" indent="-423545">
              <a:lnSpc>
                <a:spcPct val="100000"/>
              </a:lnSpc>
              <a:buClr>
                <a:srgbClr val="CF693B"/>
              </a:buClr>
              <a:buChar char="•"/>
              <a:tabLst>
                <a:tab pos="436880" algn="l"/>
              </a:tabLst>
            </a:pPr>
            <a:r>
              <a:rPr sz="3550" spc="-30" dirty="0">
                <a:solidFill>
                  <a:srgbClr val="000000"/>
                </a:solidFill>
              </a:rPr>
              <a:t>Heuristic</a:t>
            </a:r>
            <a:r>
              <a:rPr sz="3550" spc="-145" dirty="0">
                <a:solidFill>
                  <a:srgbClr val="000000"/>
                </a:solidFill>
              </a:rPr>
              <a:t> </a:t>
            </a:r>
            <a:r>
              <a:rPr sz="3550" spc="-75" dirty="0">
                <a:solidFill>
                  <a:srgbClr val="000000"/>
                </a:solidFill>
              </a:rPr>
              <a:t>I*Iethods</a:t>
            </a:r>
            <a:endParaRPr sz="3550"/>
          </a:p>
          <a:p>
            <a:pPr>
              <a:lnSpc>
                <a:spcPct val="100000"/>
              </a:lnSpc>
              <a:spcBef>
                <a:spcPts val="105"/>
              </a:spcBef>
              <a:buFont typeface="Calibri"/>
              <a:buChar char="•"/>
            </a:pPr>
            <a:endParaRPr sz="3550"/>
          </a:p>
          <a:p>
            <a:pPr marL="436880" indent="-423545">
              <a:lnSpc>
                <a:spcPct val="100000"/>
              </a:lnSpc>
              <a:buClr>
                <a:srgbClr val="D1663A"/>
              </a:buClr>
              <a:buChar char="•"/>
              <a:tabLst>
                <a:tab pos="436880" algn="l"/>
              </a:tabLst>
            </a:pPr>
            <a:r>
              <a:rPr sz="3550" spc="-75" dirty="0">
                <a:solidFill>
                  <a:srgbClr val="000000"/>
                </a:solidFill>
              </a:rPr>
              <a:t>No</a:t>
            </a:r>
            <a:r>
              <a:rPr sz="3550" spc="-125" dirty="0">
                <a:solidFill>
                  <a:srgbClr val="000000"/>
                </a:solidFill>
              </a:rPr>
              <a:t> </a:t>
            </a:r>
            <a:r>
              <a:rPr sz="3550" spc="-20" dirty="0">
                <a:solidFill>
                  <a:srgbClr val="000000"/>
                </a:solidFill>
              </a:rPr>
              <a:t>physical</a:t>
            </a:r>
            <a:r>
              <a:rPr sz="3550" spc="-110" dirty="0">
                <a:solidFill>
                  <a:srgbClr val="000000"/>
                </a:solidFill>
              </a:rPr>
              <a:t> </a:t>
            </a:r>
            <a:r>
              <a:rPr sz="3550" spc="-85" dirty="0">
                <a:solidFill>
                  <a:srgbClr val="000000"/>
                </a:solidFill>
              </a:rPr>
              <a:t>model</a:t>
            </a:r>
            <a:r>
              <a:rPr sz="3550" spc="-150" dirty="0">
                <a:solidFill>
                  <a:srgbClr val="000000"/>
                </a:solidFill>
              </a:rPr>
              <a:t> </a:t>
            </a:r>
            <a:r>
              <a:rPr sz="3550" spc="-105" dirty="0">
                <a:solidFill>
                  <a:srgbClr val="000000"/>
                </a:solidFill>
              </a:rPr>
              <a:t>of</a:t>
            </a:r>
            <a:r>
              <a:rPr sz="3550" spc="-50" dirty="0">
                <a:solidFill>
                  <a:srgbClr val="000000"/>
                </a:solidFill>
              </a:rPr>
              <a:t> </a:t>
            </a:r>
            <a:r>
              <a:rPr sz="3550" spc="-150" dirty="0">
                <a:solidFill>
                  <a:srgbClr val="000000"/>
                </a:solidFill>
              </a:rPr>
              <a:t>de;¿radation</a:t>
            </a:r>
            <a:endParaRPr sz="3550"/>
          </a:p>
          <a:p>
            <a:pPr>
              <a:lnSpc>
                <a:spcPct val="100000"/>
              </a:lnSpc>
              <a:spcBef>
                <a:spcPts val="1210"/>
              </a:spcBef>
              <a:buFont typeface="Calibri"/>
              <a:buChar char="•"/>
            </a:pPr>
            <a:endParaRPr sz="3550"/>
          </a:p>
          <a:p>
            <a:pPr marL="436880" indent="-423545">
              <a:lnSpc>
                <a:spcPct val="100000"/>
              </a:lnSpc>
              <a:buClr>
                <a:srgbClr val="CC6438"/>
              </a:buClr>
              <a:buChar char="•"/>
              <a:tabLst>
                <a:tab pos="436880" algn="l"/>
              </a:tabLst>
            </a:pPr>
            <a:r>
              <a:rPr sz="3550" spc="-35" dirty="0">
                <a:solidFill>
                  <a:srgbClr val="000000"/>
                </a:solidFill>
              </a:rPr>
              <a:t>Example:</a:t>
            </a:r>
            <a:r>
              <a:rPr sz="3550" spc="-140" dirty="0">
                <a:solidFill>
                  <a:srgbClr val="000000"/>
                </a:solidFill>
              </a:rPr>
              <a:t> </a:t>
            </a:r>
            <a:r>
              <a:rPr sz="3550" spc="-60" dirty="0">
                <a:solidFill>
                  <a:srgbClr val="000000"/>
                </a:solidFill>
              </a:rPr>
              <a:t>Histogram</a:t>
            </a:r>
            <a:r>
              <a:rPr sz="3550" spc="-135" dirty="0">
                <a:solidFill>
                  <a:srgbClr val="000000"/>
                </a:solidFill>
              </a:rPr>
              <a:t> </a:t>
            </a:r>
            <a:r>
              <a:rPr sz="3550" spc="-10" dirty="0">
                <a:solidFill>
                  <a:srgbClr val="000000"/>
                </a:solidFill>
              </a:rPr>
              <a:t>Equalization</a:t>
            </a:r>
            <a:endParaRPr sz="3550"/>
          </a:p>
        </p:txBody>
      </p:sp>
      <p:sp>
        <p:nvSpPr>
          <p:cNvPr id="18" name="object 18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85" dirty="0">
                <a:solidFill>
                  <a:srgbClr val="5B7095"/>
                </a:solidFill>
              </a:rPr>
              <a:t>Image</a:t>
            </a:r>
            <a:r>
              <a:rPr spc="45" dirty="0">
                <a:solidFill>
                  <a:srgbClr val="5B7095"/>
                </a:solidFill>
              </a:rPr>
              <a:t> </a:t>
            </a:r>
            <a:r>
              <a:rPr spc="-10" dirty="0"/>
              <a:t>Restoration</a:t>
            </a:r>
          </a:p>
          <a:p>
            <a:pPr marL="457834" indent="-408305">
              <a:lnSpc>
                <a:spcPct val="100000"/>
              </a:lnSpc>
              <a:spcBef>
                <a:spcPts val="4659"/>
              </a:spcBef>
              <a:buClr>
                <a:srgbClr val="5B7299"/>
              </a:buClr>
              <a:buChar char="•"/>
              <a:tabLst>
                <a:tab pos="457834" algn="l"/>
              </a:tabLst>
            </a:pPr>
            <a:r>
              <a:rPr sz="3400" spc="-140" dirty="0">
                <a:solidFill>
                  <a:srgbClr val="000000"/>
                </a:solidFill>
                <a:latin typeface="Arial MT"/>
                <a:cs typeface="Arial MT"/>
              </a:rPr>
              <a:t>Objective</a:t>
            </a:r>
            <a:r>
              <a:rPr sz="340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400" spc="-120" dirty="0">
                <a:solidFill>
                  <a:srgbClr val="000000"/>
                </a:solidFill>
                <a:latin typeface="Arial MT"/>
                <a:cs typeface="Arial MT"/>
              </a:rPr>
              <a:t>(Truth</a:t>
            </a:r>
            <a:r>
              <a:rPr sz="3400" spc="-114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400" spc="-120" dirty="0">
                <a:solidFill>
                  <a:srgbClr val="000000"/>
                </a:solidFill>
                <a:latin typeface="Arial MT"/>
                <a:cs typeface="Arial MT"/>
              </a:rPr>
              <a:t>Recovery)</a:t>
            </a:r>
            <a:endParaRPr sz="3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5"/>
              </a:spcBef>
              <a:buFont typeface="Arial MT"/>
              <a:buChar char="•"/>
            </a:pPr>
            <a:endParaRPr sz="3400">
              <a:latin typeface="Arial MT"/>
              <a:cs typeface="Arial MT"/>
            </a:endParaRPr>
          </a:p>
          <a:p>
            <a:pPr marL="461009" indent="-410845">
              <a:lnSpc>
                <a:spcPct val="100000"/>
              </a:lnSpc>
              <a:spcBef>
                <a:spcPts val="5"/>
              </a:spcBef>
              <a:buClr>
                <a:srgbClr val="5D7499"/>
              </a:buClr>
              <a:buChar char="•"/>
              <a:tabLst>
                <a:tab pos="461009" algn="l"/>
              </a:tabLst>
            </a:pPr>
            <a:r>
              <a:rPr sz="3250" spc="-40" dirty="0">
                <a:solidFill>
                  <a:srgbClr val="000000"/>
                </a:solidFill>
                <a:latin typeface="Arial MT"/>
                <a:cs typeface="Arial MT"/>
              </a:rPr>
              <a:t>Mathematical</a:t>
            </a:r>
            <a:r>
              <a:rPr sz="3250" spc="-1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50" spc="-105" dirty="0">
                <a:solidFill>
                  <a:srgbClr val="000000"/>
                </a:solidFill>
                <a:latin typeface="Arial MT"/>
                <a:cs typeface="Arial MT"/>
              </a:rPr>
              <a:t>I*1ethods</a:t>
            </a:r>
            <a:endParaRPr sz="32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9"/>
              </a:spcBef>
              <a:buFont typeface="Arial MT"/>
              <a:buChar char="•"/>
            </a:pPr>
            <a:endParaRPr sz="3250">
              <a:latin typeface="Arial MT"/>
              <a:cs typeface="Arial MT"/>
            </a:endParaRPr>
          </a:p>
          <a:p>
            <a:pPr marL="454659" indent="-423545">
              <a:lnSpc>
                <a:spcPts val="4045"/>
              </a:lnSpc>
              <a:buClr>
                <a:srgbClr val="5B7595"/>
              </a:buClr>
              <a:buChar char="•"/>
              <a:tabLst>
                <a:tab pos="454659" algn="l"/>
              </a:tabLst>
            </a:pPr>
            <a:r>
              <a:rPr sz="3450" dirty="0">
                <a:solidFill>
                  <a:srgbClr val="000000"/>
                </a:solidFill>
              </a:rPr>
              <a:t>Relies</a:t>
            </a:r>
            <a:r>
              <a:rPr sz="3450" spc="-35" dirty="0">
                <a:solidFill>
                  <a:srgbClr val="000000"/>
                </a:solidFill>
              </a:rPr>
              <a:t> </a:t>
            </a:r>
            <a:r>
              <a:rPr sz="3450" spc="-90" dirty="0">
                <a:solidFill>
                  <a:srgbClr val="000000"/>
                </a:solidFill>
              </a:rPr>
              <a:t>on</a:t>
            </a:r>
            <a:r>
              <a:rPr sz="3450" spc="-105" dirty="0">
                <a:solidFill>
                  <a:srgbClr val="000000"/>
                </a:solidFill>
              </a:rPr>
              <a:t> </a:t>
            </a:r>
            <a:r>
              <a:rPr sz="3450" spc="-40" dirty="0">
                <a:solidFill>
                  <a:srgbClr val="000000"/>
                </a:solidFill>
              </a:rPr>
              <a:t>Degradation</a:t>
            </a:r>
            <a:r>
              <a:rPr sz="3450" spc="225" dirty="0">
                <a:solidFill>
                  <a:srgbClr val="000000"/>
                </a:solidFill>
              </a:rPr>
              <a:t> </a:t>
            </a:r>
            <a:r>
              <a:rPr sz="3450" spc="-55" dirty="0">
                <a:solidFill>
                  <a:srgbClr val="000000"/>
                </a:solidFill>
              </a:rPr>
              <a:t>Model</a:t>
            </a:r>
            <a:endParaRPr sz="3450"/>
          </a:p>
          <a:p>
            <a:pPr marL="448945">
              <a:lnSpc>
                <a:spcPts val="4225"/>
              </a:lnSpc>
            </a:pPr>
            <a:r>
              <a:rPr sz="3600" dirty="0">
                <a:solidFill>
                  <a:srgbClr val="000000"/>
                </a:solidFill>
              </a:rPr>
              <a:t>(Blur</a:t>
            </a:r>
            <a:r>
              <a:rPr sz="3600" spc="-155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+</a:t>
            </a:r>
            <a:r>
              <a:rPr sz="3600" spc="-200" dirty="0">
                <a:solidFill>
                  <a:srgbClr val="000000"/>
                </a:solidFill>
              </a:rPr>
              <a:t> </a:t>
            </a:r>
            <a:r>
              <a:rPr sz="3600" spc="-10" dirty="0">
                <a:solidFill>
                  <a:srgbClr val="000000"/>
                </a:solidFill>
              </a:rPr>
              <a:t>Noise)</a:t>
            </a:r>
            <a:endParaRPr sz="3600"/>
          </a:p>
          <a:p>
            <a:pPr marL="452755" indent="-423545">
              <a:lnSpc>
                <a:spcPct val="100000"/>
              </a:lnSpc>
              <a:spcBef>
                <a:spcPts val="3829"/>
              </a:spcBef>
              <a:buClr>
                <a:srgbClr val="5D7599"/>
              </a:buClr>
              <a:buChar char="•"/>
              <a:tabLst>
                <a:tab pos="452755" algn="l"/>
              </a:tabLst>
            </a:pPr>
            <a:r>
              <a:rPr sz="3600" spc="-55" dirty="0">
                <a:solidFill>
                  <a:srgbClr val="000000"/>
                </a:solidFill>
              </a:rPr>
              <a:t>Example:</a:t>
            </a:r>
            <a:r>
              <a:rPr sz="3600" spc="-114" dirty="0">
                <a:solidFill>
                  <a:srgbClr val="000000"/>
                </a:solidFill>
              </a:rPr>
              <a:t> </a:t>
            </a:r>
            <a:r>
              <a:rPr sz="3600" spc="-165" dirty="0">
                <a:solidFill>
                  <a:srgbClr val="000000"/>
                </a:solidFill>
              </a:rPr>
              <a:t>Wiener</a:t>
            </a:r>
            <a:r>
              <a:rPr sz="3600" spc="-40" dirty="0">
                <a:solidFill>
                  <a:srgbClr val="000000"/>
                </a:solidFill>
              </a:rPr>
              <a:t> </a:t>
            </a:r>
            <a:r>
              <a:rPr sz="3600" spc="-10" dirty="0">
                <a:solidFill>
                  <a:srgbClr val="000000"/>
                </a:solidFill>
              </a:rPr>
              <a:t>Filter</a:t>
            </a:r>
            <a:endParaRPr sz="3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300" y="8813800"/>
            <a:ext cx="3302000" cy="5207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49300" y="457200"/>
            <a:ext cx="16192500" cy="8343900"/>
            <a:chOff x="749300" y="457200"/>
            <a:chExt cx="16192500" cy="83439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9300" y="457200"/>
              <a:ext cx="16192500" cy="1651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51416" y="2103967"/>
              <a:ext cx="0" cy="6697345"/>
            </a:xfrm>
            <a:custGeom>
              <a:avLst/>
              <a:gdLst/>
              <a:ahLst/>
              <a:cxnLst/>
              <a:rect l="l" t="t" r="r" b="b"/>
              <a:pathLst>
                <a:path h="6697345">
                  <a:moveTo>
                    <a:pt x="0" y="66971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7764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71116" y="2142067"/>
              <a:ext cx="0" cy="6481445"/>
            </a:xfrm>
            <a:custGeom>
              <a:avLst/>
              <a:gdLst/>
              <a:ahLst/>
              <a:cxnLst/>
              <a:rect l="l" t="t" r="r" b="b"/>
              <a:pathLst>
                <a:path h="6481445">
                  <a:moveTo>
                    <a:pt x="0" y="64812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7764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521016" y="2129367"/>
              <a:ext cx="0" cy="6494145"/>
            </a:xfrm>
            <a:custGeom>
              <a:avLst/>
              <a:gdLst/>
              <a:ahLst/>
              <a:cxnLst/>
              <a:rect l="l" t="t" r="r" b="b"/>
              <a:pathLst>
                <a:path h="6494145">
                  <a:moveTo>
                    <a:pt x="0" y="64939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7764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459316" y="7691966"/>
            <a:ext cx="0" cy="1109345"/>
          </a:xfrm>
          <a:custGeom>
            <a:avLst/>
            <a:gdLst/>
            <a:ahLst/>
            <a:cxnLst/>
            <a:rect l="l" t="t" r="r" b="b"/>
            <a:pathLst>
              <a:path h="1109345">
                <a:moveTo>
                  <a:pt x="0" y="1109133"/>
                </a:moveTo>
                <a:lnTo>
                  <a:pt x="0" y="0"/>
                </a:lnTo>
              </a:path>
            </a:pathLst>
          </a:custGeom>
          <a:ln w="4233">
            <a:solidFill>
              <a:srgbClr val="7764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766116" y="2307167"/>
            <a:ext cx="0" cy="1579245"/>
          </a:xfrm>
          <a:custGeom>
            <a:avLst/>
            <a:gdLst/>
            <a:ahLst/>
            <a:cxnLst/>
            <a:rect l="l" t="t" r="r" b="b"/>
            <a:pathLst>
              <a:path h="1579245">
                <a:moveTo>
                  <a:pt x="0" y="1579033"/>
                </a:moveTo>
                <a:lnTo>
                  <a:pt x="0" y="0"/>
                </a:lnTo>
              </a:path>
            </a:pathLst>
          </a:custGeom>
          <a:ln w="4233">
            <a:solidFill>
              <a:srgbClr val="7764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880416" y="2446867"/>
            <a:ext cx="0" cy="652145"/>
          </a:xfrm>
          <a:custGeom>
            <a:avLst/>
            <a:gdLst/>
            <a:ahLst/>
            <a:cxnLst/>
            <a:rect l="l" t="t" r="r" b="b"/>
            <a:pathLst>
              <a:path h="652144">
                <a:moveTo>
                  <a:pt x="0" y="651933"/>
                </a:moveTo>
                <a:lnTo>
                  <a:pt x="0" y="0"/>
                </a:lnTo>
              </a:path>
            </a:pathLst>
          </a:custGeom>
          <a:ln w="4233">
            <a:solidFill>
              <a:srgbClr val="7764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918516" y="922867"/>
            <a:ext cx="0" cy="1249045"/>
          </a:xfrm>
          <a:custGeom>
            <a:avLst/>
            <a:gdLst/>
            <a:ahLst/>
            <a:cxnLst/>
            <a:rect l="l" t="t" r="r" b="b"/>
            <a:pathLst>
              <a:path h="1249045">
                <a:moveTo>
                  <a:pt x="0" y="1248833"/>
                </a:moveTo>
                <a:lnTo>
                  <a:pt x="0" y="0"/>
                </a:lnTo>
              </a:path>
            </a:pathLst>
          </a:custGeom>
          <a:ln w="4233">
            <a:solidFill>
              <a:srgbClr val="7764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1400" y="3263900"/>
            <a:ext cx="355600" cy="2032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1400" y="5130800"/>
            <a:ext cx="355600" cy="20320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41400" y="6578600"/>
            <a:ext cx="355600" cy="20320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9900" y="6883400"/>
            <a:ext cx="152400" cy="53340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69900" y="7467600"/>
            <a:ext cx="914400" cy="355600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678" rIns="0" bIns="0" rtlCol="0">
            <a:spAutoFit/>
          </a:bodyPr>
          <a:lstStyle/>
          <a:p>
            <a:pPr marL="346710">
              <a:lnSpc>
                <a:spcPct val="100000"/>
              </a:lnSpc>
              <a:spcBef>
                <a:spcPts val="110"/>
              </a:spcBef>
            </a:pPr>
            <a:r>
              <a:rPr spc="70" dirty="0"/>
              <a:t>Executive</a:t>
            </a:r>
            <a:r>
              <a:rPr spc="625" dirty="0"/>
              <a:t> </a:t>
            </a:r>
            <a:r>
              <a:rPr dirty="0">
                <a:solidFill>
                  <a:srgbClr val="212121"/>
                </a:solidFill>
              </a:rPr>
              <a:t>Summary</a:t>
            </a:r>
            <a:r>
              <a:rPr spc="630" dirty="0">
                <a:solidFill>
                  <a:srgbClr val="212121"/>
                </a:solidFill>
              </a:rPr>
              <a:t> </a:t>
            </a:r>
            <a:r>
              <a:rPr spc="-670" dirty="0">
                <a:solidFill>
                  <a:srgbClr val="2A2A2A"/>
                </a:solidFill>
              </a:rPr>
              <a:t>&amp;</a:t>
            </a:r>
            <a:r>
              <a:rPr spc="155" dirty="0">
                <a:solidFill>
                  <a:srgbClr val="2A2A2A"/>
                </a:solidFill>
              </a:rPr>
              <a:t> </a:t>
            </a:r>
            <a:r>
              <a:rPr spc="105" dirty="0">
                <a:solidFill>
                  <a:srgbClr val="1F1F1F"/>
                </a:solidFill>
              </a:rPr>
              <a:t>Cheat</a:t>
            </a:r>
            <a:r>
              <a:rPr spc="465" dirty="0">
                <a:solidFill>
                  <a:srgbClr val="1F1F1F"/>
                </a:solidFill>
              </a:rPr>
              <a:t> </a:t>
            </a:r>
            <a:r>
              <a:rPr spc="90" dirty="0">
                <a:solidFill>
                  <a:srgbClr val="1A1A1A"/>
                </a:solidFill>
              </a:rPr>
              <a:t>Sheet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058976" y="2113844"/>
            <a:ext cx="4674235" cy="6243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300" spc="140" dirty="0">
                <a:solidFill>
                  <a:srgbClr val="212121"/>
                </a:solidFill>
                <a:latin typeface="Calibri"/>
                <a:cs typeface="Calibri"/>
              </a:rPr>
              <a:t>Key</a:t>
            </a:r>
            <a:r>
              <a:rPr sz="4300" spc="7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151515"/>
                </a:solidFill>
                <a:latin typeface="Calibri"/>
                <a:cs typeface="Calibri"/>
              </a:rPr>
              <a:t>Definitions</a:t>
            </a:r>
            <a:endParaRPr sz="4300">
              <a:latin typeface="Calibri"/>
              <a:cs typeface="Calibri"/>
            </a:endParaRPr>
          </a:p>
          <a:p>
            <a:pPr marL="524510">
              <a:lnSpc>
                <a:spcPct val="100000"/>
              </a:lnSpc>
              <a:spcBef>
                <a:spcPts val="2840"/>
              </a:spcBef>
            </a:pPr>
            <a:r>
              <a:rPr sz="2700" spc="200" dirty="0">
                <a:latin typeface="Calibri"/>
                <a:cs typeface="Calibri"/>
              </a:rPr>
              <a:t>CDF:</a:t>
            </a:r>
            <a:endParaRPr sz="2700">
              <a:latin typeface="Calibri"/>
              <a:cs typeface="Calibri"/>
            </a:endParaRPr>
          </a:p>
          <a:p>
            <a:pPr marL="523240" marR="560070" indent="13335">
              <a:lnSpc>
                <a:spcPts val="3300"/>
              </a:lnSpc>
              <a:spcBef>
                <a:spcPts val="120"/>
              </a:spcBef>
            </a:pPr>
            <a:r>
              <a:rPr sz="2750" spc="55" dirty="0">
                <a:latin typeface="Calibri"/>
                <a:cs typeface="Calibri"/>
              </a:rPr>
              <a:t>Cumulative</a:t>
            </a:r>
            <a:r>
              <a:rPr sz="2750" spc="315" dirty="0">
                <a:latin typeface="Calibri"/>
                <a:cs typeface="Calibri"/>
              </a:rPr>
              <a:t> </a:t>
            </a:r>
            <a:r>
              <a:rPr sz="2750" spc="40" dirty="0">
                <a:latin typeface="Calibri"/>
                <a:cs typeface="Calibri"/>
              </a:rPr>
              <a:t>Distribution </a:t>
            </a:r>
            <a:r>
              <a:rPr sz="2750" spc="65" dirty="0">
                <a:latin typeface="Calibri"/>
                <a:cs typeface="Calibri"/>
              </a:rPr>
              <a:t>Function,</a:t>
            </a:r>
            <a:r>
              <a:rPr sz="2750" spc="135" dirty="0">
                <a:latin typeface="Calibri"/>
                <a:cs typeface="Calibri"/>
              </a:rPr>
              <a:t> </a:t>
            </a:r>
            <a:r>
              <a:rPr sz="2750" spc="114" dirty="0">
                <a:latin typeface="Calibri"/>
                <a:cs typeface="Calibri"/>
              </a:rPr>
              <a:t>used</a:t>
            </a:r>
            <a:r>
              <a:rPr sz="2750" spc="110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for </a:t>
            </a:r>
            <a:r>
              <a:rPr sz="2850" spc="-10" dirty="0">
                <a:latin typeface="Calibri"/>
                <a:cs typeface="Calibri"/>
              </a:rPr>
              <a:t>Equalization.</a:t>
            </a:r>
            <a:endParaRPr sz="2850">
              <a:latin typeface="Calibri"/>
              <a:cs typeface="Calibri"/>
            </a:endParaRPr>
          </a:p>
          <a:p>
            <a:pPr marL="518795" marR="5080">
              <a:lnSpc>
                <a:spcPct val="82400"/>
              </a:lnSpc>
              <a:spcBef>
                <a:spcPts val="1675"/>
              </a:spcBef>
            </a:pPr>
            <a:r>
              <a:rPr sz="3250" spc="-105" dirty="0">
                <a:latin typeface="Calibri"/>
                <a:cs typeface="Calibri"/>
              </a:rPr>
              <a:t>Histogram</a:t>
            </a:r>
            <a:r>
              <a:rPr sz="3250" spc="-3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Equalization: </a:t>
            </a:r>
            <a:r>
              <a:rPr sz="3250" spc="-175" dirty="0">
                <a:latin typeface="Calibri"/>
                <a:cs typeface="Calibri"/>
              </a:rPr>
              <a:t>Non-</a:t>
            </a:r>
            <a:r>
              <a:rPr sz="3250" spc="-100" dirty="0">
                <a:latin typeface="Calibri"/>
                <a:cs typeface="Calibri"/>
              </a:rPr>
              <a:t>linear</a:t>
            </a:r>
            <a:r>
              <a:rPr sz="3250" spc="-35" dirty="0">
                <a:latin typeface="Calibri"/>
                <a:cs typeface="Calibri"/>
              </a:rPr>
              <a:t> </a:t>
            </a:r>
            <a:r>
              <a:rPr sz="3250" spc="-150" dirty="0">
                <a:latin typeface="Calibri"/>
                <a:cs typeface="Calibri"/>
              </a:rPr>
              <a:t>flattening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spc="-185" dirty="0">
                <a:latin typeface="Calibri"/>
                <a:cs typeface="Calibri"/>
              </a:rPr>
              <a:t>of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145" dirty="0">
                <a:latin typeface="Calibri"/>
                <a:cs typeface="Calibri"/>
              </a:rPr>
              <a:t>the </a:t>
            </a:r>
            <a:r>
              <a:rPr sz="3400" spc="-135" dirty="0">
                <a:latin typeface="Calibri"/>
                <a:cs typeface="Calibri"/>
              </a:rPr>
              <a:t>histogram.</a:t>
            </a:r>
            <a:endParaRPr sz="3400">
              <a:latin typeface="Calibri"/>
              <a:cs typeface="Calibri"/>
            </a:endParaRPr>
          </a:p>
          <a:p>
            <a:pPr marL="518795" marR="712470" indent="1905">
              <a:lnSpc>
                <a:spcPts val="3300"/>
              </a:lnSpc>
              <a:spcBef>
                <a:spcPts val="1530"/>
              </a:spcBef>
            </a:pPr>
            <a:r>
              <a:rPr sz="3250" spc="-70" dirty="0">
                <a:latin typeface="Calibri"/>
                <a:cs typeface="Calibri"/>
              </a:rPr>
              <a:t>Contrast</a:t>
            </a:r>
            <a:r>
              <a:rPr sz="3250" spc="-9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Stretching: </a:t>
            </a:r>
            <a:r>
              <a:rPr sz="3250" spc="-120" dirty="0">
                <a:latin typeface="Calibri"/>
                <a:cs typeface="Calibri"/>
              </a:rPr>
              <a:t>Linear</a:t>
            </a:r>
            <a:r>
              <a:rPr sz="3250" spc="-30" dirty="0">
                <a:latin typeface="Calibri"/>
                <a:cs typeface="Calibri"/>
              </a:rPr>
              <a:t> </a:t>
            </a:r>
            <a:r>
              <a:rPr sz="3250" spc="-80" dirty="0">
                <a:latin typeface="Calibri"/>
                <a:cs typeface="Calibri"/>
              </a:rPr>
              <a:t>scaling</a:t>
            </a:r>
            <a:r>
              <a:rPr sz="3250" spc="-45" dirty="0">
                <a:latin typeface="Calibri"/>
                <a:cs typeface="Calibri"/>
              </a:rPr>
              <a:t> </a:t>
            </a:r>
            <a:r>
              <a:rPr sz="3250" spc="-85" dirty="0">
                <a:latin typeface="Calibri"/>
                <a:cs typeface="Calibri"/>
              </a:rPr>
              <a:t>(0-</a:t>
            </a:r>
            <a:r>
              <a:rPr sz="3250" spc="-75" dirty="0">
                <a:latin typeface="Calibri"/>
                <a:cs typeface="Calibri"/>
              </a:rPr>
              <a:t>255).</a:t>
            </a:r>
            <a:endParaRPr sz="3250">
              <a:latin typeface="Calibri"/>
              <a:cs typeface="Calibri"/>
            </a:endParaRPr>
          </a:p>
          <a:p>
            <a:pPr marL="530225" marR="1049020" indent="-11430">
              <a:lnSpc>
                <a:spcPts val="3250"/>
              </a:lnSpc>
              <a:spcBef>
                <a:spcPts val="1590"/>
              </a:spcBef>
            </a:pPr>
            <a:r>
              <a:rPr sz="3250" spc="-105" dirty="0">
                <a:latin typeface="Calibri"/>
                <a:cs typeface="Calibri"/>
              </a:rPr>
              <a:t>Degradation</a:t>
            </a:r>
            <a:r>
              <a:rPr sz="3250" spc="-45" dirty="0">
                <a:latin typeface="Calibri"/>
                <a:cs typeface="Calibri"/>
              </a:rPr>
              <a:t> </a:t>
            </a:r>
            <a:r>
              <a:rPr sz="3250" spc="-100" dirty="0">
                <a:latin typeface="Calibri"/>
                <a:cs typeface="Calibri"/>
              </a:rPr>
              <a:t>Nodef: </a:t>
            </a:r>
            <a:r>
              <a:rPr sz="3250" dirty="0">
                <a:latin typeface="Calibri"/>
                <a:cs typeface="Calibri"/>
              </a:rPr>
              <a:t>g</a:t>
            </a:r>
            <a:r>
              <a:rPr sz="3250" spc="-18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=</a:t>
            </a:r>
            <a:r>
              <a:rPr sz="3250" spc="-18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f*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h</a:t>
            </a:r>
            <a:r>
              <a:rPr sz="3250" spc="-150" dirty="0">
                <a:latin typeface="Calibri"/>
                <a:cs typeface="Calibri"/>
              </a:rPr>
              <a:t> </a:t>
            </a:r>
            <a:r>
              <a:rPr sz="3250" spc="-260" dirty="0">
                <a:latin typeface="Calibri"/>
                <a:cs typeface="Calibri"/>
              </a:rPr>
              <a:t>+</a:t>
            </a:r>
            <a:r>
              <a:rPr sz="3250" spc="65" dirty="0">
                <a:latin typeface="Calibri"/>
                <a:cs typeface="Calibri"/>
              </a:rPr>
              <a:t> </a:t>
            </a:r>
            <a:r>
              <a:rPr sz="3250" spc="-25" dirty="0">
                <a:latin typeface="Calibri"/>
                <a:cs typeface="Calibri"/>
              </a:rPr>
              <a:t>n.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45993" y="2113844"/>
            <a:ext cx="3672204" cy="21215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300" spc="105" dirty="0">
                <a:solidFill>
                  <a:srgbClr val="131313"/>
                </a:solidFill>
                <a:latin typeface="Calibri"/>
                <a:cs typeface="Calibri"/>
              </a:rPr>
              <a:t>The</a:t>
            </a:r>
            <a:r>
              <a:rPr sz="4300" spc="30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181818"/>
                </a:solidFill>
                <a:latin typeface="Calibri"/>
                <a:cs typeface="Calibri"/>
              </a:rPr>
              <a:t>Toolkit</a:t>
            </a:r>
            <a:endParaRPr sz="4300">
              <a:latin typeface="Calibri"/>
              <a:cs typeface="Calibri"/>
            </a:endParaRPr>
          </a:p>
          <a:p>
            <a:pPr marL="924560" marR="5080" indent="-426720">
              <a:lnSpc>
                <a:spcPct val="145500"/>
              </a:lnSpc>
              <a:spcBef>
                <a:spcPts val="1030"/>
              </a:spcBef>
            </a:pPr>
            <a:r>
              <a:rPr sz="2950" dirty="0">
                <a:latin typeface="Calibri"/>
                <a:cs typeface="Calibri"/>
              </a:rPr>
              <a:t>Salt</a:t>
            </a:r>
            <a:r>
              <a:rPr sz="2950" spc="85" dirty="0">
                <a:latin typeface="Calibri"/>
                <a:cs typeface="Calibri"/>
              </a:rPr>
              <a:t> </a:t>
            </a:r>
            <a:r>
              <a:rPr sz="2950" spc="-210" dirty="0">
                <a:latin typeface="Calibri"/>
                <a:cs typeface="Calibri"/>
              </a:rPr>
              <a:t>&amp;</a:t>
            </a:r>
            <a:r>
              <a:rPr sz="2950" spc="-60" dirty="0">
                <a:latin typeface="Calibri"/>
                <a:cs typeface="Calibri"/>
              </a:rPr>
              <a:t> </a:t>
            </a:r>
            <a:r>
              <a:rPr sz="2950" dirty="0">
                <a:latin typeface="Calibri"/>
                <a:cs typeface="Calibri"/>
              </a:rPr>
              <a:t>Pepper</a:t>
            </a:r>
            <a:r>
              <a:rPr sz="2950" spc="145" dirty="0">
                <a:latin typeface="Calibri"/>
                <a:cs typeface="Calibri"/>
              </a:rPr>
              <a:t> </a:t>
            </a:r>
            <a:r>
              <a:rPr sz="2950" spc="-10" dirty="0">
                <a:latin typeface="Calibri"/>
                <a:cs typeface="Calibri"/>
              </a:rPr>
              <a:t>Noise </a:t>
            </a:r>
            <a:r>
              <a:rPr sz="2950" dirty="0">
                <a:latin typeface="Calibri"/>
                <a:cs typeface="Calibri"/>
              </a:rPr>
              <a:t>Use</a:t>
            </a:r>
            <a:r>
              <a:rPr sz="2950" spc="-70" dirty="0">
                <a:latin typeface="Calibri"/>
                <a:cs typeface="Calibri"/>
              </a:rPr>
              <a:t> </a:t>
            </a:r>
            <a:r>
              <a:rPr sz="2950" spc="-55" dirty="0">
                <a:latin typeface="Calibri"/>
                <a:cs typeface="Calibri"/>
              </a:rPr>
              <a:t>Median</a:t>
            </a:r>
            <a:r>
              <a:rPr sz="2950" spc="105" dirty="0">
                <a:latin typeface="Calibri"/>
                <a:cs typeface="Calibri"/>
              </a:rPr>
              <a:t> </a:t>
            </a:r>
            <a:r>
              <a:rPr sz="2950" spc="-30" dirty="0">
                <a:latin typeface="Calibri"/>
                <a:cs typeface="Calibri"/>
              </a:rPr>
              <a:t>Filter.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879376" y="2113844"/>
            <a:ext cx="3876040" cy="681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300" spc="110" dirty="0">
                <a:solidFill>
                  <a:srgbClr val="151515"/>
                </a:solidFill>
                <a:latin typeface="Calibri"/>
                <a:cs typeface="Calibri"/>
              </a:rPr>
              <a:t>Exam </a:t>
            </a:r>
            <a:r>
              <a:rPr sz="4300" spc="45" dirty="0">
                <a:solidFill>
                  <a:srgbClr val="111111"/>
                </a:solidFill>
                <a:latin typeface="Calibri"/>
                <a:cs typeface="Calibri"/>
              </a:rPr>
              <a:t>Reminders</a:t>
            </a:r>
            <a:endParaRPr sz="43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25784" y="4354688"/>
            <a:ext cx="4311015" cy="277812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860"/>
              </a:spcBef>
            </a:pPr>
            <a:r>
              <a:rPr sz="3200" spc="-105" dirty="0">
                <a:latin typeface="Calibri"/>
                <a:cs typeface="Calibri"/>
              </a:rPr>
              <a:t>Gaussian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Noise</a:t>
            </a:r>
            <a:endParaRPr sz="3200">
              <a:latin typeface="Calibri"/>
              <a:cs typeface="Calibri"/>
            </a:endParaRPr>
          </a:p>
          <a:p>
            <a:pPr marL="442595">
              <a:lnSpc>
                <a:spcPts val="3495"/>
              </a:lnSpc>
              <a:spcBef>
                <a:spcPts val="760"/>
              </a:spcBef>
            </a:pPr>
            <a:r>
              <a:rPr sz="3200" spc="-60" dirty="0">
                <a:latin typeface="Calibri"/>
                <a:cs typeface="Calibri"/>
              </a:rPr>
              <a:t>Use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0" dirty="0">
                <a:latin typeface="Calibri"/>
                <a:cs typeface="Calibri"/>
              </a:rPr>
              <a:t>Gaussian/Mean</a:t>
            </a:r>
            <a:endParaRPr sz="3200">
              <a:latin typeface="Calibri"/>
              <a:cs typeface="Calibri"/>
            </a:endParaRPr>
          </a:p>
          <a:p>
            <a:pPr marL="456565">
              <a:lnSpc>
                <a:spcPts val="3315"/>
              </a:lnSpc>
            </a:pPr>
            <a:r>
              <a:rPr sz="3050" spc="-10" dirty="0">
                <a:latin typeface="Calibri"/>
                <a:cs typeface="Calibri"/>
              </a:rPr>
              <a:t>Filter.</a:t>
            </a:r>
            <a:endParaRPr sz="3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3050" spc="-90" dirty="0">
                <a:latin typeface="Calibri"/>
                <a:cs typeface="Calibri"/>
              </a:rPr>
              <a:t>Unknown</a:t>
            </a:r>
            <a:r>
              <a:rPr sz="3050" spc="-50" dirty="0">
                <a:latin typeface="Calibri"/>
                <a:cs typeface="Calibri"/>
              </a:rPr>
              <a:t> </a:t>
            </a:r>
            <a:r>
              <a:rPr sz="3050" spc="-20" dirty="0">
                <a:latin typeface="Calibri"/>
                <a:cs typeface="Calibri"/>
              </a:rPr>
              <a:t>Blur</a:t>
            </a:r>
            <a:endParaRPr sz="3050">
              <a:latin typeface="Calibri"/>
              <a:cs typeface="Calibri"/>
            </a:endParaRPr>
          </a:p>
          <a:p>
            <a:pPr marL="444500">
              <a:lnSpc>
                <a:spcPct val="100000"/>
              </a:lnSpc>
              <a:spcBef>
                <a:spcPts val="940"/>
              </a:spcBef>
            </a:pPr>
            <a:r>
              <a:rPr sz="3050" dirty="0">
                <a:latin typeface="Calibri"/>
                <a:cs typeface="Calibri"/>
              </a:rPr>
              <a:t>Use</a:t>
            </a:r>
            <a:r>
              <a:rPr sz="3050" spc="-114" dirty="0">
                <a:latin typeface="Calibri"/>
                <a:cs typeface="Calibri"/>
              </a:rPr>
              <a:t> </a:t>
            </a:r>
            <a:r>
              <a:rPr sz="3050" dirty="0">
                <a:latin typeface="Calibri"/>
                <a:cs typeface="Calibri"/>
              </a:rPr>
              <a:t>Blind</a:t>
            </a:r>
            <a:r>
              <a:rPr sz="3050" spc="-45" dirty="0">
                <a:latin typeface="Calibri"/>
                <a:cs typeface="Calibri"/>
              </a:rPr>
              <a:t> </a:t>
            </a:r>
            <a:r>
              <a:rPr sz="3050" spc="-55" dirty="0">
                <a:latin typeface="Calibri"/>
                <a:cs typeface="Calibri"/>
              </a:rPr>
              <a:t>Deconvolution.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848969" y="3076575"/>
            <a:ext cx="4200525" cy="3878579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466725" marR="497205" indent="-454025">
              <a:lnSpc>
                <a:spcPts val="3300"/>
              </a:lnSpc>
              <a:spcBef>
                <a:spcPts val="585"/>
              </a:spcBef>
              <a:buChar char="•"/>
              <a:tabLst>
                <a:tab pos="466725" algn="l"/>
                <a:tab pos="474345" algn="l"/>
              </a:tabLst>
            </a:pPr>
            <a:r>
              <a:rPr sz="3100" dirty="0">
                <a:solidFill>
                  <a:srgbClr val="2F2F2F"/>
                </a:solidFill>
                <a:latin typeface="Calibri"/>
                <a:cs typeface="Calibri"/>
              </a:rPr>
              <a:t>	</a:t>
            </a:r>
            <a:r>
              <a:rPr sz="3100" spc="-75" dirty="0">
                <a:solidFill>
                  <a:srgbClr val="A16B4F"/>
                </a:solidFill>
                <a:latin typeface="Calibri"/>
                <a:cs typeface="Calibri"/>
              </a:rPr>
              <a:t>Equalization</a:t>
            </a:r>
            <a:r>
              <a:rPr sz="3100" spc="60" dirty="0">
                <a:solidFill>
                  <a:srgbClr val="A16B4F"/>
                </a:solidFill>
                <a:latin typeface="Calibri"/>
                <a:cs typeface="Calibri"/>
              </a:rPr>
              <a:t> </a:t>
            </a:r>
            <a:r>
              <a:rPr sz="3100" spc="-35" dirty="0">
                <a:latin typeface="Calibri"/>
                <a:cs typeface="Calibri"/>
              </a:rPr>
              <a:t>changes </a:t>
            </a:r>
            <a:r>
              <a:rPr sz="2950" dirty="0">
                <a:latin typeface="Calibri"/>
                <a:cs typeface="Calibri"/>
              </a:rPr>
              <a:t>histogram</a:t>
            </a:r>
            <a:r>
              <a:rPr sz="2950" spc="-20" dirty="0">
                <a:latin typeface="Calibri"/>
                <a:cs typeface="Calibri"/>
              </a:rPr>
              <a:t> </a:t>
            </a:r>
            <a:r>
              <a:rPr sz="2950" spc="-10" dirty="0">
                <a:latin typeface="Calibri"/>
                <a:cs typeface="Calibri"/>
              </a:rPr>
              <a:t>shape; </a:t>
            </a:r>
            <a:r>
              <a:rPr sz="2900" dirty="0">
                <a:latin typeface="Calibri"/>
                <a:cs typeface="Calibri"/>
              </a:rPr>
              <a:t>Stretching</a:t>
            </a:r>
            <a:r>
              <a:rPr sz="2900" spc="29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does</a:t>
            </a:r>
            <a:r>
              <a:rPr sz="2900" spc="165" dirty="0">
                <a:latin typeface="Calibri"/>
                <a:cs typeface="Calibri"/>
              </a:rPr>
              <a:t> </a:t>
            </a:r>
            <a:r>
              <a:rPr sz="2900" spc="-20" dirty="0">
                <a:latin typeface="Calibri"/>
                <a:cs typeface="Calibri"/>
              </a:rPr>
              <a:t>not.</a:t>
            </a:r>
            <a:endParaRPr sz="2900">
              <a:latin typeface="Calibri"/>
              <a:cs typeface="Calibri"/>
            </a:endParaRPr>
          </a:p>
          <a:p>
            <a:pPr marL="461009" marR="1329690" indent="-448945" algn="just">
              <a:lnSpc>
                <a:spcPct val="90300"/>
              </a:lnSpc>
              <a:spcBef>
                <a:spcPts val="1610"/>
              </a:spcBef>
              <a:buClr>
                <a:srgbClr val="2F2F2F"/>
              </a:buClr>
              <a:buChar char="•"/>
              <a:tabLst>
                <a:tab pos="474980" algn="l"/>
              </a:tabLst>
            </a:pPr>
            <a:r>
              <a:rPr sz="3200" spc="-55" dirty="0">
                <a:latin typeface="Calibri"/>
                <a:cs typeface="Calibri"/>
              </a:rPr>
              <a:t>Inverse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20" dirty="0">
                <a:latin typeface="Calibri"/>
                <a:cs typeface="Calibri"/>
              </a:rPr>
              <a:t>filtering 	</a:t>
            </a:r>
            <a:r>
              <a:rPr sz="3200" spc="-60" dirty="0">
                <a:latin typeface="Calibri"/>
                <a:cs typeface="Calibri"/>
              </a:rPr>
              <a:t>fails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95" dirty="0">
                <a:latin typeface="Calibri"/>
                <a:cs typeface="Calibri"/>
              </a:rPr>
              <a:t>because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85" dirty="0">
                <a:latin typeface="Calibri"/>
                <a:cs typeface="Calibri"/>
              </a:rPr>
              <a:t>of 	</a:t>
            </a:r>
            <a:r>
              <a:rPr sz="3050" spc="-10" dirty="0">
                <a:latin typeface="Calibri"/>
                <a:cs typeface="Calibri"/>
              </a:rPr>
              <a:t>Noise.</a:t>
            </a:r>
            <a:endParaRPr sz="3050">
              <a:latin typeface="Calibri"/>
              <a:cs typeface="Calibri"/>
            </a:endParaRPr>
          </a:p>
          <a:p>
            <a:pPr marL="466090" marR="5080" indent="-452120">
              <a:lnSpc>
                <a:spcPts val="3200"/>
              </a:lnSpc>
              <a:spcBef>
                <a:spcPts val="1730"/>
              </a:spcBef>
              <a:buChar char="•"/>
              <a:tabLst>
                <a:tab pos="466090" algn="l"/>
                <a:tab pos="476884" algn="l"/>
              </a:tabLst>
            </a:pPr>
            <a:r>
              <a:rPr sz="305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3050" dirty="0">
                <a:latin typeface="Calibri"/>
                <a:cs typeface="Calibri"/>
              </a:rPr>
              <a:t>CLAHE</a:t>
            </a:r>
            <a:r>
              <a:rPr sz="3050" spc="-120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limits</a:t>
            </a:r>
            <a:r>
              <a:rPr sz="3050" spc="-110" dirty="0">
                <a:latin typeface="Calibri"/>
                <a:cs typeface="Calibri"/>
              </a:rPr>
              <a:t> </a:t>
            </a:r>
            <a:r>
              <a:rPr sz="3050" spc="-25" dirty="0">
                <a:latin typeface="Calibri"/>
                <a:cs typeface="Calibri"/>
              </a:rPr>
              <a:t>contrast</a:t>
            </a:r>
            <a:r>
              <a:rPr sz="3050" spc="35" dirty="0">
                <a:latin typeface="Calibri"/>
                <a:cs typeface="Calibri"/>
              </a:rPr>
              <a:t> </a:t>
            </a:r>
            <a:r>
              <a:rPr sz="3050" spc="-80" dirty="0">
                <a:latin typeface="Calibri"/>
                <a:cs typeface="Calibri"/>
              </a:rPr>
              <a:t>to </a:t>
            </a:r>
            <a:r>
              <a:rPr sz="3050" spc="-65" dirty="0">
                <a:latin typeface="Calibri"/>
                <a:cs typeface="Calibri"/>
              </a:rPr>
              <a:t>prevent</a:t>
            </a:r>
            <a:r>
              <a:rPr sz="3050" spc="-50" dirty="0">
                <a:latin typeface="Calibri"/>
                <a:cs typeface="Calibri"/>
              </a:rPr>
              <a:t> </a:t>
            </a:r>
            <a:r>
              <a:rPr sz="3050" spc="-25" dirty="0">
                <a:latin typeface="Calibri"/>
                <a:cs typeface="Calibri"/>
              </a:rPr>
              <a:t>noise</a:t>
            </a:r>
            <a:r>
              <a:rPr sz="3050" spc="-140" dirty="0">
                <a:latin typeface="Calibri"/>
                <a:cs typeface="Calibri"/>
              </a:rPr>
              <a:t> </a:t>
            </a:r>
            <a:r>
              <a:rPr sz="3050" spc="-35" dirty="0">
                <a:latin typeface="Calibri"/>
                <a:cs typeface="Calibri"/>
              </a:rPr>
              <a:t>explosion.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24668" y="7238631"/>
            <a:ext cx="3155950" cy="117538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R="121920" algn="ctr">
              <a:lnSpc>
                <a:spcPct val="100000"/>
              </a:lnSpc>
              <a:spcBef>
                <a:spcPts val="1000"/>
              </a:spcBef>
            </a:pPr>
            <a:r>
              <a:rPr sz="3100" spc="-85" dirty="0">
                <a:latin typeface="Calibri"/>
                <a:cs typeface="Calibri"/>
              </a:rPr>
              <a:t>Known</a:t>
            </a:r>
            <a:r>
              <a:rPr sz="3100" spc="-90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Blur</a:t>
            </a:r>
            <a:r>
              <a:rPr sz="3100" spc="-90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+</a:t>
            </a:r>
            <a:r>
              <a:rPr sz="3100" spc="-80" dirty="0">
                <a:latin typeface="Calibri"/>
                <a:cs typeface="Calibri"/>
              </a:rPr>
              <a:t> </a:t>
            </a:r>
            <a:r>
              <a:rPr sz="3100" spc="-20" dirty="0">
                <a:latin typeface="Calibri"/>
                <a:cs typeface="Calibri"/>
              </a:rPr>
              <a:t>Noise</a:t>
            </a:r>
            <a:endParaRPr sz="3100">
              <a:latin typeface="Calibri"/>
              <a:cs typeface="Calibri"/>
            </a:endParaRPr>
          </a:p>
          <a:p>
            <a:pPr marL="433070" algn="ctr">
              <a:lnSpc>
                <a:spcPct val="100000"/>
              </a:lnSpc>
              <a:spcBef>
                <a:spcPts val="880"/>
              </a:spcBef>
            </a:pPr>
            <a:r>
              <a:rPr sz="2950" dirty="0">
                <a:latin typeface="Calibri"/>
                <a:cs typeface="Calibri"/>
              </a:rPr>
              <a:t>Use</a:t>
            </a:r>
            <a:r>
              <a:rPr sz="2950" spc="-105" dirty="0">
                <a:latin typeface="Calibri"/>
                <a:cs typeface="Calibri"/>
              </a:rPr>
              <a:t> </a:t>
            </a:r>
            <a:r>
              <a:rPr sz="2950" spc="-25" dirty="0">
                <a:latin typeface="Calibri"/>
                <a:cs typeface="Calibri"/>
              </a:rPr>
              <a:t>Wiener</a:t>
            </a:r>
            <a:r>
              <a:rPr sz="2950" spc="25" dirty="0">
                <a:latin typeface="Calibri"/>
                <a:cs typeface="Calibri"/>
              </a:rPr>
              <a:t> </a:t>
            </a:r>
            <a:r>
              <a:rPr sz="2950" spc="-10" dirty="0">
                <a:latin typeface="Calibri"/>
                <a:cs typeface="Calibri"/>
              </a:rPr>
              <a:t>Filter.</a:t>
            </a:r>
            <a:endParaRPr sz="2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1197</Words>
  <Application>Microsoft Office PowerPoint</Application>
  <PresentationFormat>Custom</PresentationFormat>
  <Paragraphs>237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Arial MT</vt:lpstr>
      <vt:lpstr>Calibri</vt:lpstr>
      <vt:lpstr>Cambria</vt:lpstr>
      <vt:lpstr>Consolas</vt:lpstr>
      <vt:lpstr>Courier New</vt:lpstr>
      <vt:lpstr>Times New Roman</vt:lpstr>
      <vt:lpstr>Office Theme</vt:lpstr>
      <vt:lpstr>Image Enhancement &amp;  Image Restorationn</vt:lpstr>
      <vt:lpstr>The Three Pillars of Image Processing</vt:lpstr>
      <vt:lpstr>Pillar 1: Histogram Equalization The Concept: Reshaping the Data</vt:lpstr>
      <vt:lpstr>The Math of Equalization Inside the Black Box: The Cumulative Distribution Function (CDF)</vt:lpstr>
      <vt:lpstr>Methods &amp; Limitations Why Global Equalization isn't always enough.</vt:lpstr>
      <vt:lpstr>Pillar Contrast Stretching The Linear Approach</vt:lpstr>
      <vt:lpstr>Variants of Linear Stretching Understanding Transfer Functions in IBN Plex Sans</vt:lpstr>
      <vt:lpstr>The Showdown: Equatization vs. Stretching</vt:lpstr>
      <vt:lpstr>Pillar 3: The Science of Image Restoration</vt:lpstr>
      <vt:lpstr>The Restoration Math Model The Forensic Puzzle</vt:lpstr>
      <vt:lpstr>Restoration Method</vt:lpstr>
      <vt:lpstr>Restoration Method Hierarchy of Techniques</vt:lpstr>
      <vt:lpstr>Restoration Metbo4 3: Blind Deconvolution</vt:lpstr>
      <vt:lpstr>Synthesis: Enhancement vs. Restoration</vt:lpstr>
      <vt:lpstr>Executive Summary &amp; Cheat Sheet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Anjali T</cp:lastModifiedBy>
  <cp:revision>8</cp:revision>
  <dcterms:created xsi:type="dcterms:W3CDTF">2026-02-06T04:09:40Z</dcterms:created>
  <dcterms:modified xsi:type="dcterms:W3CDTF">2026-02-13T04:18:47Z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2026-02-06T00:00:00Z</vt:filetime>
  </property>
  <property fmtid="{D5CDD505-2E9C-101B-9397-08002B2CF9AE}" pid="3" name="LastSaved">
    <vt:filetime>2026-02-06T00:00:00Z</vt:filetime>
  </property>
</Properties>
</file>