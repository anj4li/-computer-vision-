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0" r:id="rId18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9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850" b="0" i="0">
                <a:solidFill>
                  <a:srgbClr val="2D2D2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50" b="0" i="0">
                <a:solidFill>
                  <a:srgbClr val="2D2D2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50" b="0" i="0">
                <a:solidFill>
                  <a:srgbClr val="2D2D2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50" b="0" i="0">
                <a:solidFill>
                  <a:srgbClr val="2D2D2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6754" y="386593"/>
            <a:ext cx="12494260" cy="1419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850" b="0" i="0">
                <a:solidFill>
                  <a:srgbClr val="2D2D2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34823" y="3590219"/>
            <a:ext cx="7254875" cy="3511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g"/><Relationship Id="rId5" Type="http://schemas.openxmlformats.org/officeDocument/2006/relationships/image" Target="../media/image28.png"/><Relationship Id="rId4" Type="http://schemas.openxmlformats.org/officeDocument/2006/relationships/image" Target="../media/image27.jpg"/><Relationship Id="rId9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jpg"/><Relationship Id="rId4" Type="http://schemas.openxmlformats.org/officeDocument/2006/relationships/image" Target="../media/image3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jpg"/><Relationship Id="rId4" Type="http://schemas.openxmlformats.org/officeDocument/2006/relationships/image" Target="../media/image4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63ACD98-2912-CB99-1429-D613AC053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400" y="1143000"/>
            <a:ext cx="10820400" cy="67055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0600" y="2832100"/>
            <a:ext cx="4140200" cy="27305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312400" y="2933700"/>
            <a:ext cx="5562600" cy="2514600"/>
            <a:chOff x="10312400" y="2933700"/>
            <a:chExt cx="5562600" cy="25146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61800" y="2933700"/>
              <a:ext cx="40132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12400" y="3581400"/>
              <a:ext cx="2159000" cy="12446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256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5000" spc="95" dirty="0">
                <a:solidFill>
                  <a:srgbClr val="1A1A1A"/>
                </a:solidFill>
              </a:rPr>
              <a:t>How</a:t>
            </a:r>
            <a:r>
              <a:rPr sz="5000" spc="-155" dirty="0">
                <a:solidFill>
                  <a:srgbClr val="1A1A1A"/>
                </a:solidFill>
              </a:rPr>
              <a:t> </a:t>
            </a:r>
            <a:r>
              <a:rPr sz="5000" spc="105" dirty="0">
                <a:solidFill>
                  <a:srgbClr val="1C1C1C"/>
                </a:solidFill>
              </a:rPr>
              <a:t>do</a:t>
            </a:r>
            <a:r>
              <a:rPr sz="5000" spc="-305" dirty="0">
                <a:solidFill>
                  <a:srgbClr val="1C1C1C"/>
                </a:solidFill>
              </a:rPr>
              <a:t> </a:t>
            </a:r>
            <a:r>
              <a:rPr sz="5000" spc="155" dirty="0">
                <a:solidFill>
                  <a:srgbClr val="1C1C1C"/>
                </a:solidFill>
              </a:rPr>
              <a:t>we</a:t>
            </a:r>
            <a:r>
              <a:rPr sz="5000" spc="-400" dirty="0">
                <a:solidFill>
                  <a:srgbClr val="1C1C1C"/>
                </a:solidFill>
              </a:rPr>
              <a:t> </a:t>
            </a:r>
            <a:r>
              <a:rPr sz="5000" spc="55" dirty="0">
                <a:solidFill>
                  <a:srgbClr val="1A1A1A"/>
                </a:solidFill>
              </a:rPr>
              <a:t>really</a:t>
            </a:r>
            <a:r>
              <a:rPr sz="5000" spc="-170" dirty="0">
                <a:solidFill>
                  <a:srgbClr val="1A1A1A"/>
                </a:solidFill>
              </a:rPr>
              <a:t> </a:t>
            </a:r>
            <a:r>
              <a:rPr sz="5000" spc="55" dirty="0">
                <a:solidFill>
                  <a:srgbClr val="1C1C1C"/>
                </a:solidFill>
              </a:rPr>
              <a:t>‘see’</a:t>
            </a:r>
            <a:r>
              <a:rPr sz="5000" spc="-235" dirty="0">
                <a:solidFill>
                  <a:srgbClr val="1C1C1C"/>
                </a:solidFill>
              </a:rPr>
              <a:t> </a:t>
            </a:r>
            <a:r>
              <a:rPr sz="5000" spc="-40" dirty="0">
                <a:solidFill>
                  <a:srgbClr val="1C1C1C"/>
                </a:solidFill>
              </a:rPr>
              <a:t>an</a:t>
            </a:r>
            <a:r>
              <a:rPr sz="5000" spc="-340" dirty="0">
                <a:solidFill>
                  <a:srgbClr val="1C1C1C"/>
                </a:solidFill>
              </a:rPr>
              <a:t> </a:t>
            </a:r>
            <a:r>
              <a:rPr sz="5000" spc="-10" dirty="0">
                <a:solidFill>
                  <a:srgbClr val="1A1A1A"/>
                </a:solidFill>
              </a:rPr>
              <a:t>image?</a:t>
            </a:r>
            <a:endParaRPr sz="5000"/>
          </a:p>
        </p:txBody>
      </p:sp>
      <p:sp>
        <p:nvSpPr>
          <p:cNvPr id="7" name="object 7"/>
          <p:cNvSpPr txBox="1"/>
          <p:nvPr/>
        </p:nvSpPr>
        <p:spPr>
          <a:xfrm>
            <a:off x="3184972" y="1820333"/>
            <a:ext cx="2441575" cy="6604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150" spc="-10" dirty="0">
                <a:solidFill>
                  <a:srgbClr val="083DAA"/>
                </a:solidFill>
                <a:latin typeface="Arial MT"/>
                <a:cs typeface="Arial MT"/>
              </a:rPr>
              <a:t>Pixel</a:t>
            </a:r>
            <a:r>
              <a:rPr sz="4150" spc="-250" dirty="0">
                <a:solidFill>
                  <a:srgbClr val="083DAA"/>
                </a:solidFill>
                <a:latin typeface="Arial MT"/>
                <a:cs typeface="Arial MT"/>
              </a:rPr>
              <a:t> </a:t>
            </a:r>
            <a:r>
              <a:rPr sz="4150" spc="-20" dirty="0">
                <a:solidFill>
                  <a:srgbClr val="01389C"/>
                </a:solidFill>
                <a:latin typeface="Arial MT"/>
                <a:cs typeface="Arial MT"/>
              </a:rPr>
              <a:t>View</a:t>
            </a:r>
            <a:endParaRPr sz="41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70090" y="5875161"/>
            <a:ext cx="4479925" cy="115189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04800" marR="5080" indent="-292735">
              <a:lnSpc>
                <a:spcPts val="4200"/>
              </a:lnSpc>
              <a:spcBef>
                <a:spcPts val="625"/>
              </a:spcBef>
            </a:pPr>
            <a:r>
              <a:rPr sz="3850" spc="-40" dirty="0">
                <a:latin typeface="Cambria"/>
                <a:cs typeface="Cambria"/>
              </a:rPr>
              <a:t>Standard</a:t>
            </a:r>
            <a:r>
              <a:rPr sz="3850" spc="-45" dirty="0">
                <a:latin typeface="Cambria"/>
                <a:cs typeface="Cambria"/>
              </a:rPr>
              <a:t> </a:t>
            </a:r>
            <a:r>
              <a:rPr sz="3850" spc="-60" dirty="0">
                <a:latin typeface="Cambria"/>
                <a:cs typeface="Cambria"/>
              </a:rPr>
              <a:t>Perspective: </a:t>
            </a:r>
            <a:r>
              <a:rPr sz="3850" dirty="0">
                <a:latin typeface="Cambria"/>
                <a:cs typeface="Cambria"/>
              </a:rPr>
              <a:t>A</a:t>
            </a:r>
            <a:r>
              <a:rPr sz="3850" spc="-30" dirty="0">
                <a:latin typeface="Cambria"/>
                <a:cs typeface="Cambria"/>
              </a:rPr>
              <a:t> </a:t>
            </a:r>
            <a:r>
              <a:rPr sz="3850" dirty="0">
                <a:latin typeface="Cambria"/>
                <a:cs typeface="Cambria"/>
              </a:rPr>
              <a:t>grid</a:t>
            </a:r>
            <a:r>
              <a:rPr sz="3850" spc="10" dirty="0">
                <a:latin typeface="Cambria"/>
                <a:cs typeface="Cambria"/>
              </a:rPr>
              <a:t> </a:t>
            </a:r>
            <a:r>
              <a:rPr sz="3850" dirty="0">
                <a:latin typeface="Cambria"/>
                <a:cs typeface="Cambria"/>
              </a:rPr>
              <a:t>of</a:t>
            </a:r>
            <a:r>
              <a:rPr sz="3850" spc="-70" dirty="0">
                <a:latin typeface="Cambria"/>
                <a:cs typeface="Cambria"/>
              </a:rPr>
              <a:t> </a:t>
            </a:r>
            <a:r>
              <a:rPr sz="3850" spc="-10" dirty="0">
                <a:latin typeface="Cambria"/>
                <a:cs typeface="Cambria"/>
              </a:rPr>
              <a:t>positions.</a:t>
            </a:r>
            <a:endParaRPr sz="38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603938" y="1831622"/>
            <a:ext cx="2973705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dirty="0">
                <a:solidFill>
                  <a:srgbClr val="FB4D03"/>
                </a:solidFill>
                <a:latin typeface="Arial MT"/>
                <a:cs typeface="Arial MT"/>
              </a:rPr>
              <a:t>Fourier</a:t>
            </a:r>
            <a:r>
              <a:rPr sz="4000" spc="440" dirty="0">
                <a:solidFill>
                  <a:srgbClr val="FB4D03"/>
                </a:solidFill>
                <a:latin typeface="Arial MT"/>
                <a:cs typeface="Arial MT"/>
              </a:rPr>
              <a:t> </a:t>
            </a:r>
            <a:r>
              <a:rPr sz="4000" spc="-20" dirty="0">
                <a:solidFill>
                  <a:srgbClr val="F94D01"/>
                </a:solidFill>
                <a:latin typeface="Arial MT"/>
                <a:cs typeface="Arial MT"/>
              </a:rPr>
              <a:t>View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53875" y="5883980"/>
            <a:ext cx="4892040" cy="114109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 indent="36195">
              <a:lnSpc>
                <a:spcPts val="4200"/>
              </a:lnSpc>
              <a:spcBef>
                <a:spcPts val="560"/>
              </a:spcBef>
            </a:pPr>
            <a:r>
              <a:rPr sz="3800" dirty="0">
                <a:latin typeface="Cambria"/>
                <a:cs typeface="Cambria"/>
              </a:rPr>
              <a:t>Frequency</a:t>
            </a:r>
            <a:r>
              <a:rPr sz="3800" spc="-45" dirty="0">
                <a:latin typeface="Cambria"/>
                <a:cs typeface="Cambria"/>
              </a:rPr>
              <a:t> </a:t>
            </a:r>
            <a:r>
              <a:rPr sz="3800" spc="-10" dirty="0">
                <a:latin typeface="Cambria"/>
                <a:cs typeface="Cambria"/>
              </a:rPr>
              <a:t>Perspective: </a:t>
            </a:r>
            <a:r>
              <a:rPr sz="3800" dirty="0">
                <a:latin typeface="Cambria"/>
                <a:cs typeface="Cambria"/>
              </a:rPr>
              <a:t>A</a:t>
            </a:r>
            <a:r>
              <a:rPr sz="3800" spc="-80" dirty="0">
                <a:latin typeface="Cambria"/>
                <a:cs typeface="Cambria"/>
              </a:rPr>
              <a:t> </a:t>
            </a:r>
            <a:r>
              <a:rPr sz="3800" dirty="0">
                <a:latin typeface="Cambria"/>
                <a:cs typeface="Cambria"/>
              </a:rPr>
              <a:t>collection</a:t>
            </a:r>
            <a:r>
              <a:rPr sz="3800" spc="210" dirty="0">
                <a:latin typeface="Cambria"/>
                <a:cs typeface="Cambria"/>
              </a:rPr>
              <a:t> </a:t>
            </a:r>
            <a:r>
              <a:rPr sz="3800" spc="105" dirty="0">
                <a:latin typeface="Cambria"/>
                <a:cs typeface="Cambria"/>
              </a:rPr>
              <a:t>of</a:t>
            </a:r>
            <a:r>
              <a:rPr sz="3800" spc="-95" dirty="0">
                <a:latin typeface="Cambria"/>
                <a:cs typeface="Cambria"/>
              </a:rPr>
              <a:t> </a:t>
            </a:r>
            <a:r>
              <a:rPr sz="3800" spc="-10" dirty="0">
                <a:latin typeface="Cambria"/>
                <a:cs typeface="Cambria"/>
              </a:rPr>
              <a:t>changes.</a:t>
            </a:r>
            <a:endParaRPr sz="38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4764" y="7560380"/>
            <a:ext cx="16694150" cy="1687641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9050" marR="698500" indent="-6985">
              <a:lnSpc>
                <a:spcPts val="4200"/>
              </a:lnSpc>
              <a:spcBef>
                <a:spcPts val="560"/>
              </a:spcBef>
              <a:tabLst>
                <a:tab pos="10184765" algn="l"/>
              </a:tabLst>
            </a:pPr>
            <a:r>
              <a:rPr sz="3800" dirty="0">
                <a:latin typeface="Cambria"/>
                <a:cs typeface="Cambria"/>
              </a:rPr>
              <a:t>The</a:t>
            </a:r>
            <a:r>
              <a:rPr sz="3800" spc="-25" dirty="0">
                <a:latin typeface="Cambria"/>
                <a:cs typeface="Cambria"/>
              </a:rPr>
              <a:t> </a:t>
            </a:r>
            <a:r>
              <a:rPr sz="3800" dirty="0">
                <a:solidFill>
                  <a:srgbClr val="073699"/>
                </a:solidFill>
                <a:latin typeface="Cambria"/>
                <a:cs typeface="Cambria"/>
              </a:rPr>
              <a:t>Fourier</a:t>
            </a:r>
            <a:r>
              <a:rPr sz="3800" spc="114" dirty="0">
                <a:solidFill>
                  <a:srgbClr val="073699"/>
                </a:solidFill>
                <a:latin typeface="Cambria"/>
                <a:cs typeface="Cambria"/>
              </a:rPr>
              <a:t> </a:t>
            </a:r>
            <a:r>
              <a:rPr sz="3800" dirty="0">
                <a:solidFill>
                  <a:srgbClr val="083AA1"/>
                </a:solidFill>
                <a:latin typeface="Cambria"/>
                <a:cs typeface="Cambria"/>
              </a:rPr>
              <a:t>Transform</a:t>
            </a:r>
            <a:r>
              <a:rPr sz="3800" spc="100" dirty="0">
                <a:solidFill>
                  <a:srgbClr val="083AA1"/>
                </a:solidFill>
                <a:latin typeface="Cambria"/>
                <a:cs typeface="Cambria"/>
              </a:rPr>
              <a:t> </a:t>
            </a:r>
            <a:r>
              <a:rPr sz="3800" dirty="0">
                <a:latin typeface="Cambria"/>
                <a:cs typeface="Cambria"/>
              </a:rPr>
              <a:t>changes</a:t>
            </a:r>
            <a:r>
              <a:rPr sz="3800" spc="210" dirty="0">
                <a:latin typeface="Cambria"/>
                <a:cs typeface="Cambria"/>
              </a:rPr>
              <a:t> </a:t>
            </a:r>
            <a:r>
              <a:rPr sz="3800" dirty="0">
                <a:latin typeface="Cambria"/>
                <a:cs typeface="Cambria"/>
              </a:rPr>
              <a:t>our</a:t>
            </a:r>
            <a:r>
              <a:rPr sz="3800" spc="75" dirty="0">
                <a:latin typeface="Cambria"/>
                <a:cs typeface="Cambria"/>
              </a:rPr>
              <a:t> </a:t>
            </a:r>
            <a:r>
              <a:rPr sz="3800" spc="-10" dirty="0">
                <a:latin typeface="Cambria"/>
                <a:cs typeface="Cambria"/>
              </a:rPr>
              <a:t>perspective.</a:t>
            </a:r>
            <a:r>
              <a:rPr sz="3800" dirty="0">
                <a:latin typeface="Cambria"/>
                <a:cs typeface="Cambria"/>
              </a:rPr>
              <a:t>	It</a:t>
            </a:r>
            <a:r>
              <a:rPr sz="3800" spc="30" dirty="0">
                <a:latin typeface="Cambria"/>
                <a:cs typeface="Cambria"/>
              </a:rPr>
              <a:t> </a:t>
            </a:r>
            <a:r>
              <a:rPr sz="3800" dirty="0">
                <a:latin typeface="Cambria"/>
                <a:cs typeface="Cambria"/>
              </a:rPr>
              <a:t>helps</a:t>
            </a:r>
            <a:r>
              <a:rPr sz="3800" spc="-10" dirty="0">
                <a:latin typeface="Cambria"/>
                <a:cs typeface="Cambria"/>
              </a:rPr>
              <a:t> </a:t>
            </a:r>
            <a:r>
              <a:rPr sz="3800" dirty="0">
                <a:latin typeface="Cambria"/>
                <a:cs typeface="Cambria"/>
              </a:rPr>
              <a:t>us</a:t>
            </a:r>
            <a:r>
              <a:rPr sz="3800" spc="-95" dirty="0">
                <a:latin typeface="Cambria"/>
                <a:cs typeface="Cambria"/>
              </a:rPr>
              <a:t> </a:t>
            </a:r>
            <a:r>
              <a:rPr sz="3800" dirty="0">
                <a:latin typeface="Cambria"/>
                <a:cs typeface="Cambria"/>
              </a:rPr>
              <a:t>see</a:t>
            </a:r>
            <a:r>
              <a:rPr sz="3800" spc="95" dirty="0">
                <a:latin typeface="Cambria"/>
                <a:cs typeface="Cambria"/>
              </a:rPr>
              <a:t> </a:t>
            </a:r>
            <a:r>
              <a:rPr sz="3800" dirty="0">
                <a:latin typeface="Cambria"/>
                <a:cs typeface="Cambria"/>
              </a:rPr>
              <a:t>an</a:t>
            </a:r>
            <a:r>
              <a:rPr sz="3800" spc="-20" dirty="0">
                <a:latin typeface="Cambria"/>
                <a:cs typeface="Cambria"/>
              </a:rPr>
              <a:t> </a:t>
            </a:r>
            <a:r>
              <a:rPr sz="3800" dirty="0">
                <a:latin typeface="Cambria"/>
                <a:cs typeface="Cambria"/>
              </a:rPr>
              <a:t>image</a:t>
            </a:r>
            <a:r>
              <a:rPr sz="3800" spc="30" dirty="0">
                <a:latin typeface="Cambria"/>
                <a:cs typeface="Cambria"/>
              </a:rPr>
              <a:t> </a:t>
            </a:r>
            <a:r>
              <a:rPr sz="3800" spc="45" dirty="0">
                <a:latin typeface="Cambria"/>
                <a:cs typeface="Cambria"/>
              </a:rPr>
              <a:t>in </a:t>
            </a:r>
            <a:r>
              <a:rPr sz="3800" dirty="0">
                <a:latin typeface="Cambria"/>
                <a:cs typeface="Cambria"/>
              </a:rPr>
              <a:t>terms</a:t>
            </a:r>
            <a:r>
              <a:rPr sz="3800" spc="100" dirty="0">
                <a:latin typeface="Cambria"/>
                <a:cs typeface="Cambria"/>
              </a:rPr>
              <a:t> </a:t>
            </a:r>
            <a:r>
              <a:rPr sz="3800" spc="60" dirty="0">
                <a:latin typeface="Cambria"/>
                <a:cs typeface="Cambria"/>
              </a:rPr>
              <a:t>of</a:t>
            </a:r>
            <a:r>
              <a:rPr sz="3800" spc="5" dirty="0">
                <a:latin typeface="Cambria"/>
                <a:cs typeface="Cambria"/>
              </a:rPr>
              <a:t> </a:t>
            </a:r>
            <a:r>
              <a:rPr sz="3800" dirty="0">
                <a:solidFill>
                  <a:srgbClr val="E65011"/>
                </a:solidFill>
                <a:latin typeface="Cambria"/>
                <a:cs typeface="Cambria"/>
              </a:rPr>
              <a:t>smooth</a:t>
            </a:r>
            <a:r>
              <a:rPr sz="3800" spc="150" dirty="0">
                <a:solidFill>
                  <a:srgbClr val="E65011"/>
                </a:solidFill>
                <a:latin typeface="Cambria"/>
                <a:cs typeface="Cambria"/>
              </a:rPr>
              <a:t> </a:t>
            </a:r>
            <a:r>
              <a:rPr sz="3800" dirty="0">
                <a:solidFill>
                  <a:srgbClr val="DD4D11"/>
                </a:solidFill>
                <a:latin typeface="Cambria"/>
                <a:cs typeface="Cambria"/>
              </a:rPr>
              <a:t>areas</a:t>
            </a:r>
            <a:r>
              <a:rPr sz="3800" spc="85" dirty="0">
                <a:solidFill>
                  <a:srgbClr val="DD4D11"/>
                </a:solidFill>
                <a:latin typeface="Cambria"/>
                <a:cs typeface="Cambria"/>
              </a:rPr>
              <a:t> </a:t>
            </a:r>
            <a:r>
              <a:rPr sz="3800" dirty="0">
                <a:latin typeface="Cambria"/>
                <a:cs typeface="Cambria"/>
              </a:rPr>
              <a:t>and</a:t>
            </a:r>
            <a:r>
              <a:rPr sz="3800" spc="-5" dirty="0">
                <a:latin typeface="Cambria"/>
                <a:cs typeface="Cambria"/>
              </a:rPr>
              <a:t> </a:t>
            </a:r>
            <a:r>
              <a:rPr sz="3800" dirty="0">
                <a:solidFill>
                  <a:srgbClr val="F24F0F"/>
                </a:solidFill>
                <a:latin typeface="Cambria"/>
                <a:cs typeface="Cambria"/>
              </a:rPr>
              <a:t>edges</a:t>
            </a:r>
            <a:r>
              <a:rPr sz="3800" spc="65" dirty="0">
                <a:solidFill>
                  <a:srgbClr val="F24F0F"/>
                </a:solidFill>
                <a:latin typeface="Cambria"/>
                <a:cs typeface="Cambria"/>
              </a:rPr>
              <a:t> </a:t>
            </a:r>
            <a:r>
              <a:rPr sz="3800" spc="-10" dirty="0">
                <a:latin typeface="Cambria"/>
                <a:cs typeface="Cambria"/>
              </a:rPr>
              <a:t>instead</a:t>
            </a:r>
            <a:r>
              <a:rPr sz="3800" spc="140" dirty="0">
                <a:latin typeface="Cambria"/>
                <a:cs typeface="Cambria"/>
              </a:rPr>
              <a:t> </a:t>
            </a:r>
            <a:r>
              <a:rPr sz="3800" spc="100" dirty="0">
                <a:latin typeface="Cambria"/>
                <a:cs typeface="Cambria"/>
              </a:rPr>
              <a:t>ofjust</a:t>
            </a:r>
            <a:r>
              <a:rPr sz="3800" spc="150" dirty="0">
                <a:latin typeface="Cambria"/>
                <a:cs typeface="Cambria"/>
              </a:rPr>
              <a:t> </a:t>
            </a:r>
            <a:r>
              <a:rPr sz="3800" spc="70" dirty="0">
                <a:latin typeface="Cambria"/>
                <a:cs typeface="Cambria"/>
              </a:rPr>
              <a:t>a</a:t>
            </a:r>
            <a:r>
              <a:rPr sz="3800" spc="-105" dirty="0">
                <a:latin typeface="Cambria"/>
                <a:cs typeface="Cambria"/>
              </a:rPr>
              <a:t> </a:t>
            </a:r>
            <a:r>
              <a:rPr sz="3800" dirty="0">
                <a:latin typeface="Cambria"/>
                <a:cs typeface="Cambria"/>
              </a:rPr>
              <a:t>grid</a:t>
            </a:r>
            <a:r>
              <a:rPr sz="3800" spc="5" dirty="0">
                <a:latin typeface="Cambria"/>
                <a:cs typeface="Cambria"/>
              </a:rPr>
              <a:t> </a:t>
            </a:r>
            <a:r>
              <a:rPr sz="3800" spc="60" dirty="0">
                <a:latin typeface="Cambria"/>
                <a:cs typeface="Cambria"/>
              </a:rPr>
              <a:t>of</a:t>
            </a:r>
            <a:r>
              <a:rPr sz="3800" spc="-50" dirty="0">
                <a:latin typeface="Cambria"/>
                <a:cs typeface="Cambria"/>
              </a:rPr>
              <a:t> </a:t>
            </a:r>
            <a:r>
              <a:rPr sz="3800" dirty="0">
                <a:latin typeface="Cambria"/>
                <a:cs typeface="Cambria"/>
              </a:rPr>
              <a:t>pixels.</a:t>
            </a:r>
            <a:r>
              <a:rPr sz="3800" spc="45" dirty="0">
                <a:latin typeface="Cambria"/>
                <a:cs typeface="Cambria"/>
              </a:rPr>
              <a:t> </a:t>
            </a:r>
            <a:r>
              <a:rPr sz="3800" dirty="0">
                <a:latin typeface="Cambria"/>
                <a:cs typeface="Cambria"/>
              </a:rPr>
              <a:t>It</a:t>
            </a:r>
            <a:r>
              <a:rPr sz="3800" spc="10" dirty="0">
                <a:latin typeface="Cambria"/>
                <a:cs typeface="Cambria"/>
              </a:rPr>
              <a:t> </a:t>
            </a:r>
            <a:r>
              <a:rPr sz="3800" dirty="0">
                <a:latin typeface="Cambria"/>
                <a:cs typeface="Cambria"/>
              </a:rPr>
              <a:t>is</a:t>
            </a:r>
            <a:r>
              <a:rPr sz="3800" spc="-95" dirty="0">
                <a:latin typeface="Cambria"/>
                <a:cs typeface="Cambria"/>
              </a:rPr>
              <a:t> </a:t>
            </a:r>
            <a:r>
              <a:rPr sz="3800" spc="185" dirty="0">
                <a:latin typeface="Cambria"/>
                <a:cs typeface="Cambria"/>
              </a:rPr>
              <a:t>a</a:t>
            </a:r>
            <a:r>
              <a:rPr sz="3800" spc="-160" dirty="0">
                <a:latin typeface="Cambria"/>
                <a:cs typeface="Cambria"/>
              </a:rPr>
              <a:t> </a:t>
            </a:r>
            <a:r>
              <a:rPr sz="3800" dirty="0">
                <a:latin typeface="Cambria"/>
                <a:cs typeface="Cambria"/>
              </a:rPr>
              <a:t>tool</a:t>
            </a:r>
            <a:r>
              <a:rPr sz="3800" spc="25" dirty="0">
                <a:latin typeface="Cambria"/>
                <a:cs typeface="Cambria"/>
              </a:rPr>
              <a:t> </a:t>
            </a:r>
            <a:r>
              <a:rPr sz="3800" spc="-25" dirty="0">
                <a:latin typeface="Cambria"/>
                <a:cs typeface="Cambria"/>
              </a:rPr>
              <a:t>for </a:t>
            </a:r>
            <a:r>
              <a:rPr sz="3800" dirty="0">
                <a:latin typeface="Cambria"/>
                <a:cs typeface="Cambria"/>
              </a:rPr>
              <a:t>analyzing</a:t>
            </a:r>
            <a:r>
              <a:rPr sz="3800" spc="90" dirty="0">
                <a:latin typeface="Cambria"/>
                <a:cs typeface="Cambria"/>
              </a:rPr>
              <a:t> </a:t>
            </a:r>
            <a:r>
              <a:rPr sz="3800" spc="65" dirty="0">
                <a:latin typeface="Cambria"/>
                <a:cs typeface="Cambria"/>
              </a:rPr>
              <a:t>change,</a:t>
            </a:r>
            <a:r>
              <a:rPr sz="3800" spc="90" dirty="0">
                <a:latin typeface="Cambria"/>
                <a:cs typeface="Cambria"/>
              </a:rPr>
              <a:t> </a:t>
            </a:r>
            <a:r>
              <a:rPr sz="3800" dirty="0">
                <a:latin typeface="Cambria"/>
                <a:cs typeface="Cambria"/>
              </a:rPr>
              <a:t>not</a:t>
            </a:r>
            <a:r>
              <a:rPr sz="3800" spc="-25" dirty="0">
                <a:latin typeface="Cambria"/>
                <a:cs typeface="Cambria"/>
              </a:rPr>
              <a:t> </a:t>
            </a:r>
            <a:r>
              <a:rPr sz="3800" spc="-10" dirty="0">
                <a:latin typeface="Cambria"/>
                <a:cs typeface="Cambria"/>
              </a:rPr>
              <a:t>position.</a:t>
            </a:r>
            <a:endParaRPr sz="3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" y="1993900"/>
            <a:ext cx="15443200" cy="69977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55">
              <a:lnSpc>
                <a:spcPct val="100000"/>
              </a:lnSpc>
              <a:spcBef>
                <a:spcPts val="105"/>
              </a:spcBef>
            </a:pPr>
            <a:r>
              <a:rPr sz="5200" spc="204" dirty="0">
                <a:solidFill>
                  <a:srgbClr val="1F1F1F"/>
                </a:solidFill>
                <a:latin typeface="Calibri"/>
                <a:cs typeface="Calibri"/>
              </a:rPr>
              <a:t>The</a:t>
            </a:r>
            <a:r>
              <a:rPr sz="5200" spc="-114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5200" dirty="0">
                <a:solidFill>
                  <a:srgbClr val="1A1A1A"/>
                </a:solidFill>
                <a:latin typeface="Calibri"/>
                <a:cs typeface="Calibri"/>
              </a:rPr>
              <a:t>‘Normal’</a:t>
            </a:r>
            <a:r>
              <a:rPr sz="5200" spc="5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5200" spc="110" dirty="0">
                <a:solidFill>
                  <a:srgbClr val="1C1C1C"/>
                </a:solidFill>
                <a:latin typeface="Calibri"/>
                <a:cs typeface="Calibri"/>
              </a:rPr>
              <a:t>View:</a:t>
            </a:r>
            <a:r>
              <a:rPr sz="5200" spc="114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5200" spc="229" dirty="0">
                <a:solidFill>
                  <a:srgbClr val="181818"/>
                </a:solidFill>
                <a:latin typeface="Calibri"/>
                <a:cs typeface="Calibri"/>
              </a:rPr>
              <a:t>The</a:t>
            </a:r>
            <a:r>
              <a:rPr sz="5200" spc="-114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5200" spc="155" dirty="0">
                <a:solidFill>
                  <a:srgbClr val="181818"/>
                </a:solidFill>
                <a:latin typeface="Calibri"/>
                <a:cs typeface="Calibri"/>
              </a:rPr>
              <a:t>Spatial</a:t>
            </a:r>
            <a:r>
              <a:rPr sz="5200" spc="-14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5200" spc="150" dirty="0">
                <a:solidFill>
                  <a:srgbClr val="1A1A1A"/>
                </a:solidFill>
                <a:latin typeface="Calibri"/>
                <a:cs typeface="Calibri"/>
              </a:rPr>
              <a:t>Domain</a:t>
            </a:r>
            <a:endParaRPr sz="5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05388" y="3412066"/>
            <a:ext cx="449580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-25" dirty="0">
                <a:solidFill>
                  <a:srgbClr val="110000"/>
                </a:solidFill>
                <a:latin typeface="Arial MT"/>
                <a:cs typeface="Arial MT"/>
              </a:rPr>
              <a:t>120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22368" y="6582127"/>
            <a:ext cx="433070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spc="-135" dirty="0">
                <a:solidFill>
                  <a:srgbClr val="56412B"/>
                </a:solidFill>
                <a:latin typeface="Cambria"/>
                <a:cs typeface="Cambria"/>
              </a:rPr>
              <a:t>107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40388" y="2777066"/>
            <a:ext cx="1083945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59765" algn="l"/>
              </a:tabLst>
            </a:pPr>
            <a:r>
              <a:rPr sz="2050" spc="-25" dirty="0">
                <a:solidFill>
                  <a:srgbClr val="111111"/>
                </a:solidFill>
                <a:latin typeface="Arial MT"/>
                <a:cs typeface="Arial MT"/>
              </a:rPr>
              <a:t>190</a:t>
            </a:r>
            <a:r>
              <a:rPr sz="2050" dirty="0">
                <a:solidFill>
                  <a:srgbClr val="111111"/>
                </a:solidFill>
                <a:latin typeface="Arial MT"/>
                <a:cs typeface="Arial MT"/>
              </a:rPr>
              <a:t>	</a:t>
            </a:r>
            <a:r>
              <a:rPr sz="2050" spc="-50" dirty="0">
                <a:solidFill>
                  <a:srgbClr val="212121"/>
                </a:solidFill>
                <a:latin typeface="Arial MT"/>
                <a:cs typeface="Arial MT"/>
              </a:rPr>
              <a:t>136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87128" y="7225947"/>
            <a:ext cx="43370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200" dirty="0">
                <a:solidFill>
                  <a:srgbClr val="5B4933"/>
                </a:solidFill>
                <a:latin typeface="Arial MT"/>
                <a:cs typeface="Arial MT"/>
              </a:rPr>
              <a:t>13B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25894" y="4694766"/>
            <a:ext cx="458470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75" dirty="0">
                <a:solidFill>
                  <a:srgbClr val="050505"/>
                </a:solidFill>
                <a:latin typeface="Times New Roman"/>
                <a:cs typeface="Times New Roman"/>
              </a:rPr>
              <a:t>132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90894" y="6599766"/>
            <a:ext cx="442595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35" dirty="0">
                <a:solidFill>
                  <a:srgbClr val="1C1C1C"/>
                </a:solidFill>
                <a:latin typeface="Times New Roman"/>
                <a:cs typeface="Times New Roman"/>
              </a:rPr>
              <a:t>162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733108" y="1842558"/>
            <a:ext cx="4236720" cy="628396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6510" marR="127000" indent="-1270">
              <a:lnSpc>
                <a:spcPct val="87600"/>
              </a:lnSpc>
              <a:spcBef>
                <a:spcPts val="620"/>
              </a:spcBef>
            </a:pPr>
            <a:r>
              <a:rPr sz="3550" spc="-225" dirty="0">
                <a:latin typeface="Cambria"/>
                <a:cs typeface="Cambria"/>
              </a:rPr>
              <a:t>To</a:t>
            </a:r>
            <a:r>
              <a:rPr sz="3550" spc="5" dirty="0">
                <a:latin typeface="Cambria"/>
                <a:cs typeface="Cambria"/>
              </a:rPr>
              <a:t> </a:t>
            </a:r>
            <a:r>
              <a:rPr sz="3550" spc="65" dirty="0">
                <a:latin typeface="Cambria"/>
                <a:cs typeface="Cambria"/>
              </a:rPr>
              <a:t>a</a:t>
            </a:r>
            <a:r>
              <a:rPr sz="3550" spc="-200" dirty="0">
                <a:latin typeface="Cambria"/>
                <a:cs typeface="Cambria"/>
              </a:rPr>
              <a:t> </a:t>
            </a:r>
            <a:r>
              <a:rPr sz="3550" spc="-90" dirty="0">
                <a:latin typeface="Cambria"/>
                <a:cs typeface="Cambria"/>
              </a:rPr>
              <a:t>computer,</a:t>
            </a:r>
            <a:r>
              <a:rPr sz="3550" spc="110" dirty="0">
                <a:latin typeface="Cambria"/>
                <a:cs typeface="Cambria"/>
              </a:rPr>
              <a:t> </a:t>
            </a:r>
            <a:r>
              <a:rPr sz="3550" spc="15" dirty="0">
                <a:latin typeface="Cambria"/>
                <a:cs typeface="Cambria"/>
              </a:rPr>
              <a:t>a </a:t>
            </a:r>
            <a:r>
              <a:rPr sz="3550" spc="-55" dirty="0">
                <a:latin typeface="Cambria"/>
                <a:cs typeface="Cambria"/>
              </a:rPr>
              <a:t>normal</a:t>
            </a:r>
            <a:r>
              <a:rPr sz="3550" spc="-145" dirty="0">
                <a:latin typeface="Cambria"/>
                <a:cs typeface="Cambria"/>
              </a:rPr>
              <a:t> </a:t>
            </a:r>
            <a:r>
              <a:rPr sz="3550" spc="-35" dirty="0">
                <a:latin typeface="Cambria"/>
                <a:cs typeface="Cambria"/>
              </a:rPr>
              <a:t>image</a:t>
            </a:r>
            <a:r>
              <a:rPr sz="3550" spc="-150" dirty="0">
                <a:latin typeface="Cambria"/>
                <a:cs typeface="Cambria"/>
              </a:rPr>
              <a:t> </a:t>
            </a:r>
            <a:r>
              <a:rPr sz="3550" spc="-35" dirty="0">
                <a:latin typeface="Cambria"/>
                <a:cs typeface="Cambria"/>
              </a:rPr>
              <a:t>is</a:t>
            </a:r>
            <a:r>
              <a:rPr sz="3550" spc="-330" dirty="0">
                <a:latin typeface="Cambria"/>
                <a:cs typeface="Cambria"/>
              </a:rPr>
              <a:t> </a:t>
            </a:r>
            <a:r>
              <a:rPr sz="3550" dirty="0">
                <a:latin typeface="Cambria"/>
                <a:cs typeface="Cambria"/>
              </a:rPr>
              <a:t>just</a:t>
            </a:r>
            <a:r>
              <a:rPr sz="3550" spc="-80" dirty="0">
                <a:latin typeface="Cambria"/>
                <a:cs typeface="Cambria"/>
              </a:rPr>
              <a:t> </a:t>
            </a:r>
            <a:r>
              <a:rPr sz="3550" spc="-50" dirty="0">
                <a:latin typeface="Cambria"/>
                <a:cs typeface="Cambria"/>
              </a:rPr>
              <a:t>a </a:t>
            </a:r>
            <a:r>
              <a:rPr sz="3550" spc="-40" dirty="0">
                <a:latin typeface="Cambria"/>
                <a:cs typeface="Cambria"/>
              </a:rPr>
              <a:t>grid</a:t>
            </a:r>
            <a:r>
              <a:rPr sz="3550" spc="-95" dirty="0">
                <a:latin typeface="Cambria"/>
                <a:cs typeface="Cambria"/>
              </a:rPr>
              <a:t> </a:t>
            </a:r>
            <a:r>
              <a:rPr sz="3550" dirty="0">
                <a:latin typeface="Cambria"/>
                <a:cs typeface="Cambria"/>
              </a:rPr>
              <a:t>of</a:t>
            </a:r>
            <a:r>
              <a:rPr sz="3550" spc="-160" dirty="0">
                <a:latin typeface="Cambria"/>
                <a:cs typeface="Cambria"/>
              </a:rPr>
              <a:t> </a:t>
            </a:r>
            <a:r>
              <a:rPr sz="3550" spc="-70" dirty="0">
                <a:latin typeface="Cambria"/>
                <a:cs typeface="Cambria"/>
              </a:rPr>
              <a:t>numbers</a:t>
            </a:r>
            <a:r>
              <a:rPr sz="3550" spc="15" dirty="0">
                <a:latin typeface="Cambria"/>
                <a:cs typeface="Cambria"/>
              </a:rPr>
              <a:t> </a:t>
            </a:r>
            <a:r>
              <a:rPr sz="3550" spc="-25" dirty="0">
                <a:latin typeface="Cambria"/>
                <a:cs typeface="Cambria"/>
              </a:rPr>
              <a:t>at </a:t>
            </a:r>
            <a:r>
              <a:rPr sz="3550" spc="-10" dirty="0">
                <a:latin typeface="Cambria"/>
                <a:cs typeface="Cambria"/>
              </a:rPr>
              <a:t>specific</a:t>
            </a:r>
            <a:r>
              <a:rPr sz="3550" spc="-80" dirty="0">
                <a:latin typeface="Cambria"/>
                <a:cs typeface="Cambria"/>
              </a:rPr>
              <a:t> </a:t>
            </a:r>
            <a:r>
              <a:rPr sz="3550" spc="-10" dirty="0">
                <a:latin typeface="Cambria"/>
                <a:cs typeface="Cambria"/>
              </a:rPr>
              <a:t>positions.</a:t>
            </a:r>
            <a:endParaRPr sz="3550">
              <a:latin typeface="Cambria"/>
              <a:cs typeface="Cambria"/>
            </a:endParaRPr>
          </a:p>
          <a:p>
            <a:pPr marL="12700" marR="113030" indent="3810">
              <a:lnSpc>
                <a:spcPct val="87000"/>
              </a:lnSpc>
              <a:spcBef>
                <a:spcPts val="3590"/>
              </a:spcBef>
            </a:pPr>
            <a:r>
              <a:rPr sz="3550" dirty="0">
                <a:latin typeface="Times New Roman"/>
                <a:cs typeface="Times New Roman"/>
              </a:rPr>
              <a:t>The</a:t>
            </a:r>
            <a:r>
              <a:rPr sz="3550" spc="1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Problem:</a:t>
            </a:r>
            <a:r>
              <a:rPr sz="3550" spc="150" dirty="0">
                <a:latin typeface="Times New Roman"/>
                <a:cs typeface="Times New Roman"/>
              </a:rPr>
              <a:t> </a:t>
            </a:r>
            <a:r>
              <a:rPr sz="3550" spc="-45" dirty="0">
                <a:latin typeface="Times New Roman"/>
                <a:cs typeface="Times New Roman"/>
              </a:rPr>
              <a:t>Looking </a:t>
            </a:r>
            <a:r>
              <a:rPr sz="3650" dirty="0">
                <a:latin typeface="Times New Roman"/>
                <a:cs typeface="Times New Roman"/>
              </a:rPr>
              <a:t>at</a:t>
            </a:r>
            <a:r>
              <a:rPr sz="3650" spc="-114" dirty="0">
                <a:latin typeface="Times New Roman"/>
                <a:cs typeface="Times New Roman"/>
              </a:rPr>
              <a:t> </a:t>
            </a:r>
            <a:r>
              <a:rPr sz="3650" spc="-55" dirty="0">
                <a:latin typeface="Times New Roman"/>
                <a:cs typeface="Times New Roman"/>
              </a:rPr>
              <a:t>pixels</a:t>
            </a:r>
            <a:r>
              <a:rPr sz="3650" spc="-70" dirty="0">
                <a:latin typeface="Times New Roman"/>
                <a:cs typeface="Times New Roman"/>
              </a:rPr>
              <a:t> </a:t>
            </a:r>
            <a:r>
              <a:rPr sz="3650" dirty="0">
                <a:latin typeface="Times New Roman"/>
                <a:cs typeface="Times New Roman"/>
              </a:rPr>
              <a:t>one</a:t>
            </a:r>
            <a:r>
              <a:rPr sz="3650" spc="-60" dirty="0">
                <a:latin typeface="Times New Roman"/>
                <a:cs typeface="Times New Roman"/>
              </a:rPr>
              <a:t> </a:t>
            </a:r>
            <a:r>
              <a:rPr sz="3650" dirty="0">
                <a:latin typeface="Times New Roman"/>
                <a:cs typeface="Times New Roman"/>
              </a:rPr>
              <a:t>by</a:t>
            </a:r>
            <a:r>
              <a:rPr sz="3650" spc="-145" dirty="0">
                <a:latin typeface="Times New Roman"/>
                <a:cs typeface="Times New Roman"/>
              </a:rPr>
              <a:t> </a:t>
            </a:r>
            <a:r>
              <a:rPr sz="3650" spc="-25" dirty="0">
                <a:latin typeface="Times New Roman"/>
                <a:cs typeface="Times New Roman"/>
              </a:rPr>
              <a:t>one makes</a:t>
            </a:r>
            <a:r>
              <a:rPr sz="3650" spc="-110" dirty="0">
                <a:latin typeface="Times New Roman"/>
                <a:cs typeface="Times New Roman"/>
              </a:rPr>
              <a:t> </a:t>
            </a:r>
            <a:r>
              <a:rPr sz="3650" dirty="0">
                <a:latin typeface="Times New Roman"/>
                <a:cs typeface="Times New Roman"/>
              </a:rPr>
              <a:t>it</a:t>
            </a:r>
            <a:r>
              <a:rPr sz="3650" spc="-90" dirty="0">
                <a:latin typeface="Times New Roman"/>
                <a:cs typeface="Times New Roman"/>
              </a:rPr>
              <a:t> </a:t>
            </a:r>
            <a:r>
              <a:rPr sz="3650" dirty="0">
                <a:latin typeface="Times New Roman"/>
                <a:cs typeface="Times New Roman"/>
              </a:rPr>
              <a:t>hard</a:t>
            </a:r>
            <a:r>
              <a:rPr sz="3650" spc="75" dirty="0">
                <a:latin typeface="Times New Roman"/>
                <a:cs typeface="Times New Roman"/>
              </a:rPr>
              <a:t> </a:t>
            </a:r>
            <a:r>
              <a:rPr sz="3650" spc="-25" dirty="0">
                <a:latin typeface="Times New Roman"/>
                <a:cs typeface="Times New Roman"/>
              </a:rPr>
              <a:t>to </a:t>
            </a:r>
            <a:r>
              <a:rPr sz="3600" dirty="0">
                <a:latin typeface="Times New Roman"/>
                <a:cs typeface="Times New Roman"/>
              </a:rPr>
              <a:t>distinguish</a:t>
            </a:r>
            <a:r>
              <a:rPr sz="3600" spc="4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‘noise </a:t>
            </a:r>
            <a:r>
              <a:rPr sz="3600" dirty="0">
                <a:latin typeface="Times New Roman"/>
                <a:cs typeface="Times New Roman"/>
              </a:rPr>
              <a:t>from</a:t>
            </a:r>
            <a:r>
              <a:rPr sz="3600" spc="-170" dirty="0">
                <a:latin typeface="Times New Roman"/>
                <a:cs typeface="Times New Roman"/>
              </a:rPr>
              <a:t> </a:t>
            </a:r>
            <a:r>
              <a:rPr sz="3600" spc="-80" dirty="0">
                <a:latin typeface="Times New Roman"/>
                <a:cs typeface="Times New Roman"/>
              </a:rPr>
              <a:t>‘detail.’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It</a:t>
            </a:r>
            <a:r>
              <a:rPr sz="3600" spc="-1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is</a:t>
            </a:r>
            <a:r>
              <a:rPr sz="3600" spc="-185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like </a:t>
            </a:r>
            <a:r>
              <a:rPr sz="3600" dirty="0">
                <a:latin typeface="Times New Roman"/>
                <a:cs typeface="Times New Roman"/>
              </a:rPr>
              <a:t>looking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at</a:t>
            </a:r>
            <a:r>
              <a:rPr sz="3600" spc="-130" dirty="0">
                <a:latin typeface="Times New Roman"/>
                <a:cs typeface="Times New Roman"/>
              </a:rPr>
              <a:t> </a:t>
            </a:r>
            <a:r>
              <a:rPr sz="3600" spc="110" dirty="0">
                <a:latin typeface="Times New Roman"/>
                <a:cs typeface="Times New Roman"/>
              </a:rPr>
              <a:t>a</a:t>
            </a:r>
            <a:r>
              <a:rPr sz="3600" spc="-229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forest </a:t>
            </a:r>
            <a:r>
              <a:rPr sz="3650" spc="-25" dirty="0">
                <a:latin typeface="Times New Roman"/>
                <a:cs typeface="Times New Roman"/>
              </a:rPr>
              <a:t>tree-</a:t>
            </a:r>
            <a:r>
              <a:rPr sz="3650" spc="-30" dirty="0">
                <a:latin typeface="Times New Roman"/>
                <a:cs typeface="Times New Roman"/>
              </a:rPr>
              <a:t>by-</a:t>
            </a:r>
            <a:r>
              <a:rPr sz="3650" dirty="0">
                <a:latin typeface="Times New Roman"/>
                <a:cs typeface="Times New Roman"/>
              </a:rPr>
              <a:t>tree</a:t>
            </a:r>
            <a:r>
              <a:rPr sz="3650" spc="155" dirty="0">
                <a:latin typeface="Times New Roman"/>
                <a:cs typeface="Times New Roman"/>
              </a:rPr>
              <a:t> </a:t>
            </a:r>
            <a:r>
              <a:rPr sz="3650" spc="-25" dirty="0">
                <a:latin typeface="Times New Roman"/>
                <a:cs typeface="Times New Roman"/>
              </a:rPr>
              <a:t>but</a:t>
            </a:r>
            <a:endParaRPr sz="3650">
              <a:latin typeface="Times New Roman"/>
              <a:cs typeface="Times New Roman"/>
            </a:endParaRPr>
          </a:p>
          <a:p>
            <a:pPr marL="26034">
              <a:lnSpc>
                <a:spcPts val="3800"/>
              </a:lnSpc>
            </a:pPr>
            <a:r>
              <a:rPr sz="3650" spc="-10" dirty="0">
                <a:latin typeface="Times New Roman"/>
                <a:cs typeface="Times New Roman"/>
              </a:rPr>
              <a:t>missing</a:t>
            </a:r>
            <a:r>
              <a:rPr sz="3650" spc="-125" dirty="0">
                <a:latin typeface="Times New Roman"/>
                <a:cs typeface="Times New Roman"/>
              </a:rPr>
              <a:t> </a:t>
            </a:r>
            <a:r>
              <a:rPr sz="3650" spc="55" dirty="0">
                <a:latin typeface="Times New Roman"/>
                <a:cs typeface="Times New Roman"/>
              </a:rPr>
              <a:t>the</a:t>
            </a:r>
            <a:r>
              <a:rPr sz="3650" spc="-135" dirty="0">
                <a:latin typeface="Times New Roman"/>
                <a:cs typeface="Times New Roman"/>
              </a:rPr>
              <a:t> </a:t>
            </a:r>
            <a:r>
              <a:rPr sz="3650" spc="-10" dirty="0">
                <a:latin typeface="Times New Roman"/>
                <a:cs typeface="Times New Roman"/>
              </a:rPr>
              <a:t>landscape.</a:t>
            </a:r>
            <a:endParaRPr sz="36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97781" y="8721372"/>
            <a:ext cx="4257675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-50" dirty="0">
                <a:latin typeface="Arial MT"/>
                <a:cs typeface="Arial MT"/>
              </a:rPr>
              <a:t>Pixel</a:t>
            </a:r>
            <a:r>
              <a:rPr sz="2750" spc="-9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(x,</a:t>
            </a:r>
            <a:r>
              <a:rPr sz="2750" spc="-18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y)</a:t>
            </a:r>
            <a:r>
              <a:rPr sz="2750" spc="-6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=</a:t>
            </a:r>
            <a:r>
              <a:rPr sz="2750" spc="-13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Intensity</a:t>
            </a:r>
            <a:r>
              <a:rPr sz="2750" spc="15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Value</a:t>
            </a:r>
            <a:endParaRPr sz="2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2413000"/>
            <a:ext cx="7874000" cy="5562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15400" y="2413000"/>
            <a:ext cx="7861300" cy="5562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655"/>
              </a:spcBef>
            </a:pPr>
            <a:r>
              <a:rPr sz="5050" spc="130" dirty="0">
                <a:solidFill>
                  <a:srgbClr val="000000"/>
                </a:solidFill>
              </a:rPr>
              <a:t>A</a:t>
            </a:r>
            <a:r>
              <a:rPr sz="5050" spc="-405" dirty="0">
                <a:solidFill>
                  <a:srgbClr val="000000"/>
                </a:solidFill>
              </a:rPr>
              <a:t> </a:t>
            </a:r>
            <a:r>
              <a:rPr sz="5050" spc="60" dirty="0">
                <a:solidFill>
                  <a:srgbClr val="000000"/>
                </a:solidFill>
              </a:rPr>
              <a:t>New</a:t>
            </a:r>
            <a:r>
              <a:rPr sz="5050" spc="-225" dirty="0">
                <a:solidFill>
                  <a:srgbClr val="000000"/>
                </a:solidFill>
              </a:rPr>
              <a:t> </a:t>
            </a:r>
            <a:r>
              <a:rPr sz="5050" dirty="0">
                <a:solidFill>
                  <a:srgbClr val="000000"/>
                </a:solidFill>
              </a:rPr>
              <a:t>Perspective:</a:t>
            </a:r>
            <a:r>
              <a:rPr sz="5050" spc="-30" dirty="0">
                <a:solidFill>
                  <a:srgbClr val="000000"/>
                </a:solidFill>
              </a:rPr>
              <a:t> </a:t>
            </a:r>
            <a:r>
              <a:rPr sz="5050" dirty="0">
                <a:solidFill>
                  <a:srgbClr val="000000"/>
                </a:solidFill>
              </a:rPr>
              <a:t>The</a:t>
            </a:r>
            <a:r>
              <a:rPr sz="5050" spc="-220" dirty="0">
                <a:solidFill>
                  <a:srgbClr val="000000"/>
                </a:solidFill>
              </a:rPr>
              <a:t> </a:t>
            </a:r>
            <a:r>
              <a:rPr sz="5050" dirty="0">
                <a:solidFill>
                  <a:srgbClr val="000000"/>
                </a:solidFill>
              </a:rPr>
              <a:t>Frequency</a:t>
            </a:r>
            <a:r>
              <a:rPr sz="5050" spc="5" dirty="0">
                <a:solidFill>
                  <a:srgbClr val="000000"/>
                </a:solidFill>
              </a:rPr>
              <a:t> </a:t>
            </a:r>
            <a:r>
              <a:rPr sz="5050" spc="-10" dirty="0">
                <a:solidFill>
                  <a:srgbClr val="000000"/>
                </a:solidFill>
              </a:rPr>
              <a:t>Domain</a:t>
            </a:r>
            <a:endParaRPr sz="5050"/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3300" spc="-45" dirty="0">
                <a:solidFill>
                  <a:srgbClr val="000000"/>
                </a:solidFill>
                <a:latin typeface="Cambria"/>
                <a:cs typeface="Cambria"/>
              </a:rPr>
              <a:t>The</a:t>
            </a:r>
            <a:r>
              <a:rPr sz="3300" spc="-1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300" spc="-100" dirty="0">
                <a:solidFill>
                  <a:srgbClr val="000000"/>
                </a:solidFill>
                <a:latin typeface="Cambria"/>
                <a:cs typeface="Cambria"/>
              </a:rPr>
              <a:t>Pourier</a:t>
            </a:r>
            <a:r>
              <a:rPr sz="3300" spc="-80" dirty="0">
                <a:solidFill>
                  <a:srgbClr val="000000"/>
                </a:solidFill>
                <a:latin typeface="Cambria"/>
                <a:cs typeface="Cambria"/>
              </a:rPr>
              <a:t> Transform </a:t>
            </a:r>
            <a:r>
              <a:rPr sz="3300" spc="-65" dirty="0">
                <a:solidFill>
                  <a:srgbClr val="000000"/>
                </a:solidFill>
                <a:latin typeface="Cambria"/>
                <a:cs typeface="Cambria"/>
              </a:rPr>
              <a:t>changes</a:t>
            </a:r>
            <a:r>
              <a:rPr sz="3300" spc="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300" spc="-85" dirty="0">
                <a:solidFill>
                  <a:srgbClr val="000000"/>
                </a:solidFill>
                <a:latin typeface="Cambria"/>
                <a:cs typeface="Cambria"/>
              </a:rPr>
              <a:t>the</a:t>
            </a:r>
            <a:r>
              <a:rPr sz="3300" spc="-9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300" spc="-85" dirty="0">
                <a:solidFill>
                  <a:srgbClr val="000000"/>
                </a:solidFill>
                <a:latin typeface="Cambria"/>
                <a:cs typeface="Cambria"/>
              </a:rPr>
              <a:t>question</a:t>
            </a:r>
            <a:r>
              <a:rPr sz="3300" spc="-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300" spc="-215" dirty="0">
                <a:solidFill>
                  <a:srgbClr val="000000"/>
                </a:solidFill>
                <a:latin typeface="Cambria"/>
                <a:cs typeface="Cambria"/>
              </a:rPr>
              <a:t>we</a:t>
            </a:r>
            <a:r>
              <a:rPr sz="3300" spc="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300" spc="-20" dirty="0">
                <a:solidFill>
                  <a:srgbClr val="000000"/>
                </a:solidFill>
                <a:latin typeface="Cambria"/>
                <a:cs typeface="Cambria"/>
              </a:rPr>
              <a:t>ask.</a:t>
            </a:r>
            <a:endParaRPr sz="33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5512" y="2590447"/>
            <a:ext cx="3901440" cy="1297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50" spc="155" dirty="0">
                <a:solidFill>
                  <a:srgbClr val="0134A1"/>
                </a:solidFill>
                <a:latin typeface="Calibri"/>
                <a:cs typeface="Calibri"/>
              </a:rPr>
              <a:t>Spatial</a:t>
            </a:r>
            <a:r>
              <a:rPr sz="4650" spc="-25" dirty="0">
                <a:solidFill>
                  <a:srgbClr val="0134A1"/>
                </a:solidFill>
                <a:latin typeface="Calibri"/>
                <a:cs typeface="Calibri"/>
              </a:rPr>
              <a:t> </a:t>
            </a:r>
            <a:r>
              <a:rPr sz="4650" spc="130" dirty="0">
                <a:solidFill>
                  <a:srgbClr val="03339C"/>
                </a:solidFill>
                <a:latin typeface="Calibri"/>
                <a:cs typeface="Calibri"/>
              </a:rPr>
              <a:t>Domain</a:t>
            </a:r>
            <a:endParaRPr sz="4650">
              <a:latin typeface="Calibri"/>
              <a:cs typeface="Calibri"/>
            </a:endParaRPr>
          </a:p>
          <a:p>
            <a:pPr marL="13970">
              <a:lnSpc>
                <a:spcPct val="100000"/>
              </a:lnSpc>
              <a:spcBef>
                <a:spcPts val="170"/>
              </a:spcBef>
            </a:pPr>
            <a:r>
              <a:rPr sz="3550" spc="-120" dirty="0">
                <a:latin typeface="Times New Roman"/>
                <a:cs typeface="Times New Roman"/>
              </a:rPr>
              <a:t>Where</a:t>
            </a:r>
            <a:r>
              <a:rPr sz="3550" spc="-105" dirty="0">
                <a:latin typeface="Times New Roman"/>
                <a:cs typeface="Times New Roman"/>
              </a:rPr>
              <a:t> </a:t>
            </a:r>
            <a:r>
              <a:rPr sz="3550" spc="-95" dirty="0">
                <a:latin typeface="Times New Roman"/>
                <a:cs typeface="Times New Roman"/>
              </a:rPr>
              <a:t>is</a:t>
            </a:r>
            <a:r>
              <a:rPr sz="3550" spc="-12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the</a:t>
            </a:r>
            <a:r>
              <a:rPr sz="3550" spc="-204" dirty="0">
                <a:latin typeface="Times New Roman"/>
                <a:cs typeface="Times New Roman"/>
              </a:rPr>
              <a:t> </a:t>
            </a:r>
            <a:r>
              <a:rPr sz="3550" spc="-10" dirty="0">
                <a:latin typeface="Times New Roman"/>
                <a:cs typeface="Times New Roman"/>
              </a:rPr>
              <a:t>pixel?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20589" y="2543770"/>
            <a:ext cx="6416675" cy="134493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770"/>
              </a:spcBef>
            </a:pPr>
            <a:r>
              <a:rPr sz="4350" dirty="0">
                <a:solidFill>
                  <a:srgbClr val="F64F0F"/>
                </a:solidFill>
                <a:latin typeface="Arial MT"/>
                <a:cs typeface="Arial MT"/>
              </a:rPr>
              <a:t>Frequency</a:t>
            </a:r>
            <a:r>
              <a:rPr sz="4350" spc="535" dirty="0">
                <a:solidFill>
                  <a:srgbClr val="F64F0F"/>
                </a:solidFill>
                <a:latin typeface="Arial MT"/>
                <a:cs typeface="Arial MT"/>
              </a:rPr>
              <a:t> </a:t>
            </a:r>
            <a:r>
              <a:rPr sz="4350" spc="60" dirty="0">
                <a:solidFill>
                  <a:srgbClr val="F04803"/>
                </a:solidFill>
                <a:latin typeface="Arial MT"/>
                <a:cs typeface="Arial MT"/>
              </a:rPr>
              <a:t>Domain</a:t>
            </a:r>
            <a:endParaRPr sz="4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3300" spc="-35" dirty="0">
                <a:latin typeface="Cambria"/>
                <a:cs typeface="Cambria"/>
              </a:rPr>
              <a:t>How</a:t>
            </a:r>
            <a:r>
              <a:rPr sz="3300" spc="-150" dirty="0">
                <a:latin typeface="Cambria"/>
                <a:cs typeface="Cambria"/>
              </a:rPr>
              <a:t> </a:t>
            </a:r>
            <a:r>
              <a:rPr sz="3300" spc="-25" dirty="0">
                <a:latin typeface="Cambria"/>
                <a:cs typeface="Cambria"/>
              </a:rPr>
              <a:t>fast</a:t>
            </a:r>
            <a:r>
              <a:rPr sz="3300" spc="-120" dirty="0">
                <a:latin typeface="Cambria"/>
                <a:cs typeface="Cambria"/>
              </a:rPr>
              <a:t> </a:t>
            </a:r>
            <a:r>
              <a:rPr sz="3300" spc="-85" dirty="0">
                <a:latin typeface="Cambria"/>
                <a:cs typeface="Cambria"/>
              </a:rPr>
              <a:t>does </a:t>
            </a:r>
            <a:r>
              <a:rPr sz="3300" spc="-90" dirty="0">
                <a:latin typeface="Cambria"/>
                <a:cs typeface="Cambria"/>
              </a:rPr>
              <a:t>the</a:t>
            </a:r>
            <a:r>
              <a:rPr sz="3300" spc="-95" dirty="0">
                <a:latin typeface="Cambria"/>
                <a:cs typeface="Cambria"/>
              </a:rPr>
              <a:t> </a:t>
            </a:r>
            <a:r>
              <a:rPr sz="3300" spc="-85" dirty="0">
                <a:latin typeface="Cambria"/>
                <a:cs typeface="Cambria"/>
              </a:rPr>
              <a:t>brightness</a:t>
            </a:r>
            <a:r>
              <a:rPr sz="3300" spc="-5" dirty="0">
                <a:latin typeface="Cambria"/>
                <a:cs typeface="Cambria"/>
              </a:rPr>
              <a:t> </a:t>
            </a:r>
            <a:r>
              <a:rPr sz="3300" spc="-45" dirty="0">
                <a:latin typeface="Cambria"/>
                <a:cs typeface="Cambria"/>
              </a:rPr>
              <a:t>change?</a:t>
            </a:r>
            <a:endParaRPr sz="33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63775" y="5831416"/>
            <a:ext cx="352425" cy="533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00" spc="-390" dirty="0">
                <a:latin typeface="Cambria"/>
                <a:cs typeface="Cambria"/>
              </a:rPr>
              <a:t>-</a:t>
            </a:r>
            <a:r>
              <a:rPr sz="3300" spc="-525" dirty="0">
                <a:latin typeface="Cambria"/>
                <a:cs typeface="Cambria"/>
              </a:rPr>
              <a:t>›0</a:t>
            </a:r>
            <a:endParaRPr sz="33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8090" y="8231716"/>
            <a:ext cx="10700385" cy="99060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3970" marR="5080" indent="-1905">
              <a:lnSpc>
                <a:spcPts val="3600"/>
              </a:lnSpc>
              <a:spcBef>
                <a:spcPts val="550"/>
              </a:spcBef>
            </a:pPr>
            <a:r>
              <a:rPr sz="3300" dirty="0">
                <a:latin typeface="Cambria"/>
                <a:cs typeface="Cambria"/>
              </a:rPr>
              <a:t>In</a:t>
            </a:r>
            <a:r>
              <a:rPr sz="3300" spc="-185" dirty="0">
                <a:latin typeface="Cambria"/>
                <a:cs typeface="Cambria"/>
              </a:rPr>
              <a:t> </a:t>
            </a:r>
            <a:r>
              <a:rPr sz="3300" spc="-40" dirty="0">
                <a:latin typeface="Cambria"/>
                <a:cs typeface="Cambria"/>
              </a:rPr>
              <a:t>this</a:t>
            </a:r>
            <a:r>
              <a:rPr sz="3300" spc="-100" dirty="0">
                <a:latin typeface="Cambria"/>
                <a:cs typeface="Cambria"/>
              </a:rPr>
              <a:t> </a:t>
            </a:r>
            <a:r>
              <a:rPr sz="3300" spc="-140" dirty="0">
                <a:latin typeface="Cambria"/>
                <a:cs typeface="Cambria"/>
              </a:rPr>
              <a:t>view,</a:t>
            </a:r>
            <a:r>
              <a:rPr sz="3300" spc="-45" dirty="0">
                <a:latin typeface="Cambria"/>
                <a:cs typeface="Cambria"/>
              </a:rPr>
              <a:t> </a:t>
            </a:r>
            <a:r>
              <a:rPr sz="3300" spc="-160" dirty="0">
                <a:latin typeface="Cambria"/>
                <a:cs typeface="Cambria"/>
              </a:rPr>
              <a:t>every</a:t>
            </a:r>
            <a:r>
              <a:rPr sz="3300" spc="40" dirty="0">
                <a:latin typeface="Cambria"/>
                <a:cs typeface="Cambria"/>
              </a:rPr>
              <a:t> </a:t>
            </a:r>
            <a:r>
              <a:rPr sz="3300" spc="-114" dirty="0">
                <a:latin typeface="Cambria"/>
                <a:cs typeface="Cambria"/>
              </a:rPr>
              <a:t>image</a:t>
            </a:r>
            <a:r>
              <a:rPr sz="3300" spc="-70" dirty="0">
                <a:latin typeface="Cambria"/>
                <a:cs typeface="Cambria"/>
              </a:rPr>
              <a:t> </a:t>
            </a:r>
            <a:r>
              <a:rPr sz="3300" dirty="0">
                <a:latin typeface="Cambria"/>
                <a:cs typeface="Cambria"/>
              </a:rPr>
              <a:t>is</a:t>
            </a:r>
            <a:r>
              <a:rPr sz="3300" spc="-130" dirty="0">
                <a:latin typeface="Cambria"/>
                <a:cs typeface="Cambria"/>
              </a:rPr>
              <a:t> </a:t>
            </a:r>
            <a:r>
              <a:rPr sz="3300" spc="-170" dirty="0">
                <a:latin typeface="Cambria"/>
                <a:cs typeface="Cambria"/>
              </a:rPr>
              <a:t>a</a:t>
            </a:r>
            <a:r>
              <a:rPr sz="3300" spc="-35" dirty="0">
                <a:latin typeface="Cambria"/>
                <a:cs typeface="Cambria"/>
              </a:rPr>
              <a:t> </a:t>
            </a:r>
            <a:r>
              <a:rPr sz="3300" spc="-95" dirty="0">
                <a:latin typeface="Cambria"/>
                <a:cs typeface="Cambria"/>
              </a:rPr>
              <a:t>combination</a:t>
            </a:r>
            <a:r>
              <a:rPr sz="3300" spc="190" dirty="0">
                <a:latin typeface="Cambria"/>
                <a:cs typeface="Cambria"/>
              </a:rPr>
              <a:t> </a:t>
            </a:r>
            <a:r>
              <a:rPr sz="3300" dirty="0">
                <a:latin typeface="Cambria"/>
                <a:cs typeface="Cambria"/>
              </a:rPr>
              <a:t>of</a:t>
            </a:r>
            <a:r>
              <a:rPr sz="3300" spc="5" dirty="0">
                <a:latin typeface="Cambria"/>
                <a:cs typeface="Cambria"/>
              </a:rPr>
              <a:t> </a:t>
            </a:r>
            <a:r>
              <a:rPr sz="3300" spc="-150" dirty="0">
                <a:latin typeface="Cambria"/>
                <a:cs typeface="Cambria"/>
              </a:rPr>
              <a:t>three</a:t>
            </a:r>
            <a:r>
              <a:rPr sz="3300" spc="-30" dirty="0">
                <a:latin typeface="Cambria"/>
                <a:cs typeface="Cambria"/>
              </a:rPr>
              <a:t> </a:t>
            </a:r>
            <a:r>
              <a:rPr sz="3300" spc="-85" dirty="0">
                <a:latin typeface="Cambria"/>
                <a:cs typeface="Cambria"/>
              </a:rPr>
              <a:t>components: Smooth</a:t>
            </a:r>
            <a:r>
              <a:rPr sz="3300" spc="-100" dirty="0">
                <a:latin typeface="Cambria"/>
                <a:cs typeface="Cambria"/>
              </a:rPr>
              <a:t> </a:t>
            </a:r>
            <a:r>
              <a:rPr sz="3300" spc="-60" dirty="0">
                <a:latin typeface="Cambria"/>
                <a:cs typeface="Cambria"/>
              </a:rPr>
              <a:t>parts,</a:t>
            </a:r>
            <a:r>
              <a:rPr sz="3300" spc="-120" dirty="0">
                <a:latin typeface="Cambria"/>
                <a:cs typeface="Cambria"/>
              </a:rPr>
              <a:t> </a:t>
            </a:r>
            <a:r>
              <a:rPr sz="3300" spc="-20" dirty="0">
                <a:latin typeface="Cambria"/>
                <a:cs typeface="Cambria"/>
              </a:rPr>
              <a:t>Edges,</a:t>
            </a:r>
            <a:r>
              <a:rPr sz="3300" spc="-65" dirty="0">
                <a:latin typeface="Cambria"/>
                <a:cs typeface="Cambria"/>
              </a:rPr>
              <a:t> </a:t>
            </a:r>
            <a:r>
              <a:rPr sz="3300" spc="-135" dirty="0">
                <a:latin typeface="Cambria"/>
                <a:cs typeface="Cambria"/>
              </a:rPr>
              <a:t>and</a:t>
            </a:r>
            <a:r>
              <a:rPr sz="3300" spc="-95" dirty="0">
                <a:latin typeface="Cambria"/>
                <a:cs typeface="Cambria"/>
              </a:rPr>
              <a:t> </a:t>
            </a:r>
            <a:r>
              <a:rPr sz="3300" spc="-10" dirty="0">
                <a:latin typeface="Cambria"/>
                <a:cs typeface="Cambria"/>
              </a:rPr>
              <a:t>Noise.</a:t>
            </a:r>
            <a:endParaRPr sz="33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026921" y="5591527"/>
            <a:ext cx="1633855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spc="-20" dirty="0">
                <a:solidFill>
                  <a:srgbClr val="BA592F"/>
                </a:solidFill>
                <a:latin typeface="Arial MT"/>
                <a:cs typeface="Arial MT"/>
              </a:rPr>
              <a:t>Slow</a:t>
            </a:r>
            <a:r>
              <a:rPr sz="2200" spc="-125" dirty="0">
                <a:solidFill>
                  <a:srgbClr val="BA592F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CD673D"/>
                </a:solidFill>
                <a:latin typeface="Arial MT"/>
                <a:cs typeface="Arial MT"/>
              </a:rPr>
              <a:t>Cnange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067972" y="7079897"/>
            <a:ext cx="155384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40" dirty="0">
                <a:solidFill>
                  <a:srgbClr val="A86649"/>
                </a:solidFill>
                <a:latin typeface="Arial MT"/>
                <a:cs typeface="Arial MT"/>
              </a:rPr>
              <a:t>Fast</a:t>
            </a:r>
            <a:r>
              <a:rPr sz="2150" spc="-110" dirty="0">
                <a:solidFill>
                  <a:srgbClr val="A86649"/>
                </a:solidFill>
                <a:latin typeface="Arial MT"/>
                <a:cs typeface="Arial MT"/>
              </a:rPr>
              <a:t> </a:t>
            </a:r>
            <a:r>
              <a:rPr sz="2150" spc="-10" dirty="0">
                <a:solidFill>
                  <a:srgbClr val="B16D4B"/>
                </a:solidFill>
                <a:latin typeface="Arial MT"/>
                <a:cs typeface="Arial MT"/>
              </a:rPr>
              <a:t>Change</a:t>
            </a:r>
            <a:endParaRPr sz="2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3111500"/>
            <a:ext cx="8801100" cy="50165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346200" y="984250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9663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110"/>
              </a:spcBef>
            </a:pPr>
            <a:r>
              <a:rPr sz="7000" spc="-110" dirty="0">
                <a:solidFill>
                  <a:srgbClr val="1C1C1C"/>
                </a:solidFill>
              </a:rPr>
              <a:t>If</a:t>
            </a:r>
            <a:r>
              <a:rPr sz="7000" spc="-475" dirty="0">
                <a:solidFill>
                  <a:srgbClr val="1C1C1C"/>
                </a:solidFill>
              </a:rPr>
              <a:t> </a:t>
            </a:r>
            <a:r>
              <a:rPr sz="7000" spc="-385" dirty="0">
                <a:solidFill>
                  <a:srgbClr val="1F1F1F"/>
                </a:solidFill>
              </a:rPr>
              <a:t>Images</a:t>
            </a:r>
            <a:r>
              <a:rPr sz="7000" spc="-65" dirty="0">
                <a:solidFill>
                  <a:srgbClr val="1F1F1F"/>
                </a:solidFill>
              </a:rPr>
              <a:t> </a:t>
            </a:r>
            <a:r>
              <a:rPr sz="7000" spc="-465" dirty="0">
                <a:solidFill>
                  <a:srgbClr val="1C1C1C"/>
                </a:solidFill>
              </a:rPr>
              <a:t>Were</a:t>
            </a:r>
            <a:r>
              <a:rPr sz="7000" spc="-484" dirty="0">
                <a:solidFill>
                  <a:srgbClr val="1C1C1C"/>
                </a:solidFill>
              </a:rPr>
              <a:t> </a:t>
            </a:r>
            <a:r>
              <a:rPr sz="7000" spc="-355" dirty="0">
                <a:solidFill>
                  <a:srgbClr val="1C1C1C"/>
                </a:solidFill>
              </a:rPr>
              <a:t>Music...</a:t>
            </a:r>
            <a:endParaRPr sz="7000"/>
          </a:p>
        </p:txBody>
      </p:sp>
      <p:sp>
        <p:nvSpPr>
          <p:cNvPr id="5" name="object 5"/>
          <p:cNvSpPr txBox="1"/>
          <p:nvPr/>
        </p:nvSpPr>
        <p:spPr>
          <a:xfrm>
            <a:off x="1700662" y="2405591"/>
            <a:ext cx="268605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140" dirty="0">
                <a:latin typeface="Arial MT"/>
                <a:cs typeface="Arial MT"/>
              </a:rPr>
              <a:t>Deep,</a:t>
            </a:r>
            <a:r>
              <a:rPr sz="2700" spc="-195" dirty="0">
                <a:latin typeface="Arial MT"/>
                <a:cs typeface="Arial MT"/>
              </a:rPr>
              <a:t> </a:t>
            </a:r>
            <a:r>
              <a:rPr sz="2700" spc="-100" dirty="0">
                <a:latin typeface="Arial MT"/>
                <a:cs typeface="Arial MT"/>
              </a:rPr>
              <a:t>slow</a:t>
            </a:r>
            <a:r>
              <a:rPr sz="2700" spc="-50" dirty="0">
                <a:latin typeface="Arial MT"/>
                <a:cs typeface="Arial MT"/>
              </a:rPr>
              <a:t> </a:t>
            </a:r>
            <a:r>
              <a:rPr sz="2700" spc="-85" dirty="0">
                <a:latin typeface="Arial MT"/>
                <a:cs typeface="Arial MT"/>
              </a:rPr>
              <a:t>sounds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11504" y="8323791"/>
            <a:ext cx="315595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120" dirty="0">
                <a:latin typeface="Arial MT"/>
                <a:cs typeface="Arial MT"/>
              </a:rPr>
              <a:t>Bass</a:t>
            </a:r>
            <a:r>
              <a:rPr sz="2700" spc="-9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/</a:t>
            </a:r>
            <a:r>
              <a:rPr sz="2700" spc="-80" dirty="0">
                <a:latin typeface="Arial MT"/>
                <a:cs typeface="Arial MT"/>
              </a:rPr>
              <a:t> </a:t>
            </a:r>
            <a:r>
              <a:rPr sz="2700" spc="-95" dirty="0">
                <a:latin typeface="Arial MT"/>
                <a:cs typeface="Arial MT"/>
              </a:rPr>
              <a:t>Low</a:t>
            </a:r>
            <a:r>
              <a:rPr sz="2700" spc="-195" dirty="0">
                <a:latin typeface="Arial MT"/>
                <a:cs typeface="Arial MT"/>
              </a:rPr>
              <a:t> </a:t>
            </a:r>
            <a:r>
              <a:rPr sz="2700" spc="-105" dirty="0">
                <a:latin typeface="Arial MT"/>
                <a:cs typeface="Arial MT"/>
              </a:rPr>
              <a:t>Frequency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59949" y="2405591"/>
            <a:ext cx="264795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130" dirty="0">
                <a:latin typeface="Arial MT"/>
                <a:cs typeface="Arial MT"/>
              </a:rPr>
              <a:t>Sharp,</a:t>
            </a:r>
            <a:r>
              <a:rPr sz="2700" spc="-190" dirty="0">
                <a:latin typeface="Arial MT"/>
                <a:cs typeface="Arial MT"/>
              </a:rPr>
              <a:t> </a:t>
            </a:r>
            <a:r>
              <a:rPr sz="2700" spc="-80" dirty="0">
                <a:latin typeface="Arial MT"/>
                <a:cs typeface="Arial MT"/>
              </a:rPr>
              <a:t>fast</a:t>
            </a:r>
            <a:r>
              <a:rPr sz="2700" spc="-140" dirty="0">
                <a:latin typeface="Arial MT"/>
                <a:cs typeface="Arial MT"/>
              </a:rPr>
              <a:t> </a:t>
            </a:r>
            <a:r>
              <a:rPr sz="2700" spc="-70" dirty="0">
                <a:latin typeface="Arial MT"/>
                <a:cs typeface="Arial MT"/>
              </a:rPr>
              <a:t>sounds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10345" y="8332610"/>
            <a:ext cx="3415029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-50" dirty="0">
                <a:latin typeface="Arial MT"/>
                <a:cs typeface="Arial MT"/>
              </a:rPr>
              <a:t>Treble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/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65" dirty="0">
                <a:latin typeface="Arial MT"/>
                <a:cs typeface="Arial MT"/>
              </a:rPr>
              <a:t>High</a:t>
            </a:r>
            <a:r>
              <a:rPr sz="2600" spc="-185" dirty="0">
                <a:latin typeface="Arial MT"/>
                <a:cs typeface="Arial MT"/>
              </a:rPr>
              <a:t> </a:t>
            </a:r>
            <a:r>
              <a:rPr sz="2600" spc="-45" dirty="0">
                <a:latin typeface="Arial MT"/>
                <a:cs typeface="Arial MT"/>
              </a:rPr>
              <a:t>Frequency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96011" y="3089980"/>
            <a:ext cx="5314315" cy="38842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20"/>
              </a:spcBef>
            </a:pPr>
            <a:r>
              <a:rPr sz="3800" spc="-55" dirty="0">
                <a:solidFill>
                  <a:srgbClr val="0C0C0C"/>
                </a:solidFill>
                <a:latin typeface="Cambria"/>
                <a:cs typeface="Cambria"/>
              </a:rPr>
              <a:t>Think</a:t>
            </a:r>
            <a:r>
              <a:rPr sz="3800" spc="-1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3800" dirty="0">
                <a:solidFill>
                  <a:srgbClr val="0F0F0F"/>
                </a:solidFill>
                <a:latin typeface="Cambria"/>
                <a:cs typeface="Cambria"/>
              </a:rPr>
              <a:t>of</a:t>
            </a:r>
            <a:r>
              <a:rPr sz="3800" spc="-210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3800" spc="-105" dirty="0">
                <a:solidFill>
                  <a:srgbClr val="0F0F0F"/>
                </a:solidFill>
                <a:latin typeface="Cambria"/>
                <a:cs typeface="Cambria"/>
              </a:rPr>
              <a:t>an</a:t>
            </a:r>
            <a:r>
              <a:rPr sz="3800" spc="-140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3800" spc="-114" dirty="0">
                <a:solidFill>
                  <a:srgbClr val="0A0A0A"/>
                </a:solidFill>
                <a:latin typeface="Cambria"/>
                <a:cs typeface="Cambria"/>
              </a:rPr>
              <a:t>image</a:t>
            </a:r>
            <a:r>
              <a:rPr sz="3800" spc="-5" dirty="0">
                <a:solidFill>
                  <a:srgbClr val="0A0A0A"/>
                </a:solidFill>
                <a:latin typeface="Cambria"/>
                <a:cs typeface="Cambria"/>
              </a:rPr>
              <a:t> </a:t>
            </a:r>
            <a:r>
              <a:rPr sz="3800" spc="-110" dirty="0">
                <a:latin typeface="Cambria"/>
                <a:cs typeface="Cambria"/>
              </a:rPr>
              <a:t>like</a:t>
            </a:r>
            <a:r>
              <a:rPr sz="3800" spc="-100" dirty="0">
                <a:latin typeface="Cambria"/>
                <a:cs typeface="Cambria"/>
              </a:rPr>
              <a:t> </a:t>
            </a:r>
            <a:r>
              <a:rPr sz="3800" spc="-50" dirty="0">
                <a:solidFill>
                  <a:srgbClr val="0C0C0C"/>
                </a:solidFill>
                <a:latin typeface="Cambria"/>
                <a:cs typeface="Cambria"/>
              </a:rPr>
              <a:t>a</a:t>
            </a:r>
            <a:endParaRPr sz="3800">
              <a:latin typeface="Cambria"/>
              <a:cs typeface="Cambria"/>
            </a:endParaRPr>
          </a:p>
          <a:p>
            <a:pPr marL="17145">
              <a:lnSpc>
                <a:spcPct val="100000"/>
              </a:lnSpc>
              <a:spcBef>
                <a:spcPts val="190"/>
              </a:spcBef>
            </a:pPr>
            <a:r>
              <a:rPr sz="4150" spc="-75" dirty="0">
                <a:latin typeface="Cambria"/>
                <a:cs typeface="Cambria"/>
              </a:rPr>
              <a:t>song.</a:t>
            </a:r>
            <a:r>
              <a:rPr sz="4150" spc="-130" dirty="0">
                <a:latin typeface="Cambria"/>
                <a:cs typeface="Cambria"/>
              </a:rPr>
              <a:t> </a:t>
            </a:r>
            <a:r>
              <a:rPr sz="4150" spc="-110" dirty="0">
                <a:solidFill>
                  <a:srgbClr val="0A0A0A"/>
                </a:solidFill>
                <a:latin typeface="Cambria"/>
                <a:cs typeface="Cambria"/>
              </a:rPr>
              <a:t>The</a:t>
            </a:r>
            <a:r>
              <a:rPr sz="4150" spc="-120" dirty="0">
                <a:solidFill>
                  <a:srgbClr val="0A0A0A"/>
                </a:solidFill>
                <a:latin typeface="Cambria"/>
                <a:cs typeface="Cambria"/>
              </a:rPr>
              <a:t> </a:t>
            </a:r>
            <a:r>
              <a:rPr sz="4150" spc="-30" dirty="0">
                <a:solidFill>
                  <a:srgbClr val="0A0A0A"/>
                </a:solidFill>
                <a:latin typeface="Cambria"/>
                <a:cs typeface="Cambria"/>
              </a:rPr>
              <a:t>Fourier</a:t>
            </a:r>
            <a:endParaRPr sz="41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4000" spc="-85" dirty="0">
                <a:latin typeface="Cambria"/>
                <a:cs typeface="Cambria"/>
              </a:rPr>
              <a:t>Transform</a:t>
            </a:r>
            <a:r>
              <a:rPr sz="4000" spc="-40" dirty="0">
                <a:latin typeface="Cambria"/>
                <a:cs typeface="Cambria"/>
              </a:rPr>
              <a:t> </a:t>
            </a:r>
            <a:r>
              <a:rPr sz="4000" spc="-60" dirty="0">
                <a:latin typeface="Cambria"/>
                <a:cs typeface="Cambria"/>
              </a:rPr>
              <a:t>acts</a:t>
            </a:r>
            <a:r>
              <a:rPr sz="4000" spc="-160" dirty="0">
                <a:latin typeface="Cambria"/>
                <a:cs typeface="Cambria"/>
              </a:rPr>
              <a:t> </a:t>
            </a:r>
            <a:r>
              <a:rPr sz="4000" spc="-65" dirty="0">
                <a:solidFill>
                  <a:srgbClr val="0E0E0E"/>
                </a:solidFill>
                <a:latin typeface="Cambria"/>
                <a:cs typeface="Cambria"/>
              </a:rPr>
              <a:t>like</a:t>
            </a:r>
            <a:r>
              <a:rPr sz="4000" spc="-150" dirty="0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sz="4000" spc="-25" dirty="0">
                <a:solidFill>
                  <a:srgbClr val="151515"/>
                </a:solidFill>
                <a:latin typeface="Cambria"/>
                <a:cs typeface="Cambria"/>
              </a:rPr>
              <a:t>an</a:t>
            </a:r>
            <a:endParaRPr sz="4000">
              <a:latin typeface="Cambria"/>
              <a:cs typeface="Cambria"/>
            </a:endParaRPr>
          </a:p>
          <a:p>
            <a:pPr marL="22225" marR="5080" indent="-7620">
              <a:lnSpc>
                <a:spcPct val="89600"/>
              </a:lnSpc>
              <a:spcBef>
                <a:spcPts val="1085"/>
              </a:spcBef>
            </a:pPr>
            <a:r>
              <a:rPr sz="4300" spc="-60" dirty="0">
                <a:latin typeface="Times New Roman"/>
                <a:cs typeface="Times New Roman"/>
              </a:rPr>
              <a:t>separating</a:t>
            </a:r>
            <a:r>
              <a:rPr sz="4300" spc="-180" dirty="0">
                <a:latin typeface="Times New Roman"/>
                <a:cs typeface="Times New Roman"/>
              </a:rPr>
              <a:t> </a:t>
            </a:r>
            <a:r>
              <a:rPr sz="4300" spc="-20" dirty="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sz="4300" spc="-25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4300" spc="-150" dirty="0">
                <a:latin typeface="Times New Roman"/>
                <a:cs typeface="Times New Roman"/>
              </a:rPr>
              <a:t>“music”</a:t>
            </a:r>
            <a:r>
              <a:rPr sz="4300" spc="-75" dirty="0">
                <a:latin typeface="Times New Roman"/>
                <a:cs typeface="Times New Roman"/>
              </a:rPr>
              <a:t> </a:t>
            </a:r>
            <a:r>
              <a:rPr sz="4300" spc="-50" dirty="0">
                <a:solidFill>
                  <a:srgbClr val="0A0A0A"/>
                </a:solidFill>
                <a:latin typeface="Times New Roman"/>
                <a:cs typeface="Times New Roman"/>
              </a:rPr>
              <a:t>of </a:t>
            </a:r>
            <a:r>
              <a:rPr sz="4300" spc="-50" dirty="0">
                <a:solidFill>
                  <a:srgbClr val="161616"/>
                </a:solidFill>
                <a:latin typeface="Times New Roman"/>
                <a:cs typeface="Times New Roman"/>
              </a:rPr>
              <a:t>an</a:t>
            </a:r>
            <a:r>
              <a:rPr sz="4300" spc="-22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4300" spc="-160" dirty="0">
                <a:solidFill>
                  <a:srgbClr val="0F0F0F"/>
                </a:solidFill>
                <a:latin typeface="Times New Roman"/>
                <a:cs typeface="Times New Roman"/>
              </a:rPr>
              <a:t>image</a:t>
            </a:r>
            <a:r>
              <a:rPr sz="4300" spc="-11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4300" spc="-60" dirty="0">
                <a:solidFill>
                  <a:srgbClr val="0C0C0C"/>
                </a:solidFill>
                <a:latin typeface="Times New Roman"/>
                <a:cs typeface="Times New Roman"/>
              </a:rPr>
              <a:t>into</a:t>
            </a:r>
            <a:r>
              <a:rPr sz="4300" spc="-19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4300" spc="-25" dirty="0">
                <a:latin typeface="Times New Roman"/>
                <a:cs typeface="Times New Roman"/>
              </a:rPr>
              <a:t>its </a:t>
            </a:r>
            <a:r>
              <a:rPr sz="4300" spc="-45" dirty="0">
                <a:latin typeface="Times New Roman"/>
                <a:cs typeface="Times New Roman"/>
              </a:rPr>
              <a:t>constituent</a:t>
            </a:r>
            <a:r>
              <a:rPr sz="4300" spc="-204" dirty="0">
                <a:latin typeface="Times New Roman"/>
                <a:cs typeface="Times New Roman"/>
              </a:rPr>
              <a:t> </a:t>
            </a:r>
            <a:r>
              <a:rPr sz="4300" spc="-10" dirty="0">
                <a:latin typeface="Times New Roman"/>
                <a:cs typeface="Times New Roman"/>
              </a:rPr>
              <a:t>frequencies.</a:t>
            </a:r>
            <a:endParaRPr sz="4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2900" y="2527300"/>
            <a:ext cx="3352800" cy="34544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1200" y="2527300"/>
            <a:ext cx="3352800" cy="3454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09500" y="2527300"/>
            <a:ext cx="3365500" cy="3454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86800" y="1028700"/>
            <a:ext cx="685800" cy="5461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53161" y="702733"/>
            <a:ext cx="7484745" cy="10414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650" spc="-229" dirty="0">
                <a:solidFill>
                  <a:srgbClr val="111111"/>
                </a:solidFill>
              </a:rPr>
              <a:t>Mapping</a:t>
            </a:r>
            <a:r>
              <a:rPr sz="6650" spc="-490" dirty="0">
                <a:solidFill>
                  <a:srgbClr val="111111"/>
                </a:solidFill>
              </a:rPr>
              <a:t> </a:t>
            </a:r>
            <a:r>
              <a:rPr sz="6650" spc="-310" dirty="0">
                <a:solidFill>
                  <a:srgbClr val="131313"/>
                </a:solidFill>
              </a:rPr>
              <a:t>Frequencies</a:t>
            </a:r>
            <a:endParaRPr sz="6650"/>
          </a:p>
        </p:txBody>
      </p:sp>
      <p:sp>
        <p:nvSpPr>
          <p:cNvPr id="7" name="object 7"/>
          <p:cNvSpPr txBox="1"/>
          <p:nvPr/>
        </p:nvSpPr>
        <p:spPr>
          <a:xfrm>
            <a:off x="9496835" y="702733"/>
            <a:ext cx="2580005" cy="10414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650" spc="-305" dirty="0">
                <a:solidFill>
                  <a:srgbClr val="131313"/>
                </a:solidFill>
                <a:latin typeface="Arial MT"/>
                <a:cs typeface="Arial MT"/>
              </a:rPr>
              <a:t>Images</a:t>
            </a:r>
            <a:endParaRPr sz="6650">
              <a:latin typeface="Arial MT"/>
              <a:cs typeface="Arial MT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004686" y="7016151"/>
          <a:ext cx="15557499" cy="19646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2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1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9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pPr marR="560705" algn="ctr">
                        <a:lnSpc>
                          <a:spcPts val="3604"/>
                        </a:lnSpc>
                      </a:pPr>
                      <a:r>
                        <a:rPr sz="3250" spc="-90" dirty="0">
                          <a:solidFill>
                            <a:srgbClr val="161616"/>
                          </a:solidFill>
                          <a:latin typeface="Arial MT"/>
                          <a:cs typeface="Arial MT"/>
                        </a:rPr>
                        <a:t>Low</a:t>
                      </a:r>
                      <a:r>
                        <a:rPr sz="3250" spc="-280" dirty="0">
                          <a:solidFill>
                            <a:srgbClr val="16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3250" spc="-60" dirty="0">
                          <a:solidFill>
                            <a:srgbClr val="0A0A0A"/>
                          </a:solidFill>
                          <a:latin typeface="Arial MT"/>
                          <a:cs typeface="Arial MT"/>
                        </a:rPr>
                        <a:t>Frequencies</a:t>
                      </a:r>
                      <a:r>
                        <a:rPr sz="3250" spc="-120" dirty="0">
                          <a:solidFill>
                            <a:srgbClr val="0A0A0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3250" spc="-55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(Bass)</a:t>
                      </a:r>
                      <a:endParaRPr sz="32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820" algn="ctr">
                        <a:lnSpc>
                          <a:spcPts val="3604"/>
                        </a:lnSpc>
                      </a:pPr>
                      <a:r>
                        <a:rPr sz="3250" spc="-30" dirty="0">
                          <a:latin typeface="Arial MT"/>
                          <a:cs typeface="Arial MT"/>
                        </a:rPr>
                        <a:t>High</a:t>
                      </a:r>
                      <a:r>
                        <a:rPr sz="3250" spc="-3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3250" spc="-7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Frequencies</a:t>
                      </a:r>
                      <a:r>
                        <a:rPr sz="3250" spc="-9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3250" spc="-10" dirty="0">
                          <a:solidFill>
                            <a:srgbClr val="0A0A0A"/>
                          </a:solidFill>
                          <a:latin typeface="Arial MT"/>
                          <a:cs typeface="Arial MT"/>
                        </a:rPr>
                        <a:t>(Treble)</a:t>
                      </a:r>
                      <a:endParaRPr sz="32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4025" algn="ctr">
                        <a:lnSpc>
                          <a:spcPts val="3604"/>
                        </a:lnSpc>
                      </a:pPr>
                      <a:r>
                        <a:rPr sz="3250" spc="-125" dirty="0">
                          <a:solidFill>
                            <a:srgbClr val="0F0F0F"/>
                          </a:solidFill>
                          <a:latin typeface="Arial MT"/>
                          <a:cs typeface="Arial MT"/>
                        </a:rPr>
                        <a:t>Very</a:t>
                      </a:r>
                      <a:r>
                        <a:rPr sz="3250" spc="-260" dirty="0">
                          <a:solidFill>
                            <a:srgbClr val="0F0F0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3250" spc="-30" dirty="0">
                          <a:latin typeface="Arial MT"/>
                          <a:cs typeface="Arial MT"/>
                        </a:rPr>
                        <a:t>High</a:t>
                      </a:r>
                      <a:r>
                        <a:rPr sz="3250" spc="-3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3250" spc="-10" dirty="0">
                          <a:solidFill>
                            <a:srgbClr val="0F0F0F"/>
                          </a:solidFill>
                          <a:latin typeface="Arial MT"/>
                          <a:cs typeface="Arial MT"/>
                        </a:rPr>
                        <a:t>Frequencies</a:t>
                      </a:r>
                      <a:endParaRPr sz="32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605">
                <a:tc>
                  <a:txBody>
                    <a:bodyPr/>
                    <a:lstStyle/>
                    <a:p>
                      <a:pPr marR="583565" algn="ctr">
                        <a:lnSpc>
                          <a:spcPts val="3785"/>
                        </a:lnSpc>
                        <a:spcBef>
                          <a:spcPts val="229"/>
                        </a:spcBef>
                      </a:pPr>
                      <a:r>
                        <a:rPr sz="3250" spc="-80" dirty="0">
                          <a:latin typeface="Cambria"/>
                          <a:cs typeface="Cambria"/>
                        </a:rPr>
                        <a:t>Smooth</a:t>
                      </a:r>
                      <a:r>
                        <a:rPr sz="325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3250" spc="-30" dirty="0">
                          <a:latin typeface="Cambria"/>
                          <a:cs typeface="Cambria"/>
                        </a:rPr>
                        <a:t>backgrounds,</a:t>
                      </a:r>
                      <a:endParaRPr sz="3250">
                        <a:latin typeface="Cambria"/>
                        <a:cs typeface="Cambria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98425" algn="ctr">
                        <a:lnSpc>
                          <a:spcPts val="3785"/>
                        </a:lnSpc>
                        <a:spcBef>
                          <a:spcPts val="229"/>
                        </a:spcBef>
                      </a:pPr>
                      <a:r>
                        <a:rPr sz="3250" spc="-60" dirty="0">
                          <a:latin typeface="Cambria"/>
                          <a:cs typeface="Cambria"/>
                        </a:rPr>
                        <a:t>Object</a:t>
                      </a:r>
                      <a:r>
                        <a:rPr sz="3250" spc="-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3250" spc="-85" dirty="0">
                          <a:latin typeface="Cambria"/>
                          <a:cs typeface="Cambria"/>
                        </a:rPr>
                        <a:t>boundaries,</a:t>
                      </a:r>
                      <a:r>
                        <a:rPr sz="3250" spc="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3250" spc="-10" dirty="0">
                          <a:latin typeface="Cambria"/>
                          <a:cs typeface="Cambria"/>
                        </a:rPr>
                        <a:t>sudden</a:t>
                      </a:r>
                      <a:endParaRPr sz="3250">
                        <a:latin typeface="Cambria"/>
                        <a:cs typeface="Cambria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427355" algn="ctr">
                        <a:lnSpc>
                          <a:spcPts val="3785"/>
                        </a:lnSpc>
                        <a:spcBef>
                          <a:spcPts val="229"/>
                        </a:spcBef>
                      </a:pPr>
                      <a:r>
                        <a:rPr sz="3250" spc="-25" dirty="0">
                          <a:latin typeface="Cambria"/>
                          <a:cs typeface="Cambria"/>
                        </a:rPr>
                        <a:t>Noise,</a:t>
                      </a:r>
                      <a:r>
                        <a:rPr sz="3250" spc="-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3250" spc="-35" dirty="0">
                          <a:latin typeface="Cambria"/>
                          <a:cs typeface="Cambria"/>
                        </a:rPr>
                        <a:t>grain,</a:t>
                      </a:r>
                      <a:r>
                        <a:rPr sz="3250" spc="-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3250" spc="-10" dirty="0">
                          <a:latin typeface="Cambria"/>
                          <a:cs typeface="Cambria"/>
                        </a:rPr>
                        <a:t>speckles.</a:t>
                      </a:r>
                      <a:endParaRPr sz="3250">
                        <a:latin typeface="Cambria"/>
                        <a:cs typeface="Cambria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1544">
                <a:tc>
                  <a:txBody>
                    <a:bodyPr/>
                    <a:lstStyle/>
                    <a:p>
                      <a:pPr marL="997585" marR="707390" indent="-878205">
                        <a:lnSpc>
                          <a:spcPts val="3600"/>
                        </a:lnSpc>
                        <a:spcBef>
                          <a:spcPts val="35"/>
                        </a:spcBef>
                      </a:pPr>
                      <a:r>
                        <a:rPr sz="3250" spc="-75" dirty="0">
                          <a:latin typeface="Cambria"/>
                          <a:cs typeface="Cambria"/>
                        </a:rPr>
                        <a:t>walls,</a:t>
                      </a:r>
                      <a:r>
                        <a:rPr sz="3250" spc="-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3250" spc="-45" dirty="0">
                          <a:latin typeface="Cambria"/>
                          <a:cs typeface="Cambria"/>
                        </a:rPr>
                        <a:t>sky.</a:t>
                      </a:r>
                      <a:r>
                        <a:rPr sz="325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3250" spc="-110" dirty="0">
                          <a:latin typeface="Cambria"/>
                          <a:cs typeface="Cambria"/>
                        </a:rPr>
                        <a:t>Slow</a:t>
                      </a:r>
                      <a:r>
                        <a:rPr sz="325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3250" spc="-114" dirty="0">
                          <a:latin typeface="Cambria"/>
                          <a:cs typeface="Cambria"/>
                        </a:rPr>
                        <a:t>changes </a:t>
                      </a:r>
                      <a:r>
                        <a:rPr sz="3250" spc="-20" dirty="0">
                          <a:latin typeface="Cambria"/>
                          <a:cs typeface="Cambria"/>
                        </a:rPr>
                        <a:t>in</a:t>
                      </a:r>
                      <a:r>
                        <a:rPr sz="3250" spc="-1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3250" spc="-10" dirty="0">
                          <a:latin typeface="Cambria"/>
                          <a:cs typeface="Cambria"/>
                        </a:rPr>
                        <a:t>brightness.</a:t>
                      </a:r>
                      <a:endParaRPr sz="3250">
                        <a:latin typeface="Cambria"/>
                        <a:cs typeface="Cambria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127000" algn="ctr">
                        <a:lnSpc>
                          <a:spcPts val="3665"/>
                        </a:lnSpc>
                      </a:pPr>
                      <a:r>
                        <a:rPr sz="3250" spc="-80" dirty="0">
                          <a:latin typeface="Cambria"/>
                          <a:cs typeface="Cambria"/>
                        </a:rPr>
                        <a:t>edges.</a:t>
                      </a:r>
                      <a:r>
                        <a:rPr sz="3250" spc="-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3250" spc="-35" dirty="0">
                          <a:latin typeface="Cambria"/>
                          <a:cs typeface="Cambria"/>
                        </a:rPr>
                        <a:t>Fast</a:t>
                      </a:r>
                      <a:r>
                        <a:rPr sz="3250" spc="-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3250" spc="-100" dirty="0">
                          <a:latin typeface="Cambria"/>
                          <a:cs typeface="Cambria"/>
                        </a:rPr>
                        <a:t>changes</a:t>
                      </a:r>
                      <a:r>
                        <a:rPr sz="3250" spc="-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3250" spc="-25" dirty="0">
                          <a:latin typeface="Cambria"/>
                          <a:cs typeface="Cambria"/>
                        </a:rPr>
                        <a:t>in</a:t>
                      </a:r>
                      <a:endParaRPr sz="32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4505" algn="ctr">
                        <a:lnSpc>
                          <a:spcPts val="3665"/>
                        </a:lnSpc>
                      </a:pPr>
                      <a:r>
                        <a:rPr sz="3250" spc="-95" dirty="0">
                          <a:latin typeface="Cambria"/>
                          <a:cs typeface="Cambria"/>
                        </a:rPr>
                        <a:t>Unwanted</a:t>
                      </a:r>
                      <a:r>
                        <a:rPr sz="325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3250" spc="-110" dirty="0">
                          <a:latin typeface="Cambria"/>
                          <a:cs typeface="Cambria"/>
                        </a:rPr>
                        <a:t>rapid</a:t>
                      </a:r>
                      <a:r>
                        <a:rPr sz="3250" spc="-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3250" spc="-45" dirty="0">
                          <a:latin typeface="Cambria"/>
                          <a:cs typeface="Cambria"/>
                        </a:rPr>
                        <a:t>variations.</a:t>
                      </a:r>
                      <a:endParaRPr sz="32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7788084" y="8462785"/>
            <a:ext cx="1830705" cy="523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250" spc="-110" dirty="0">
                <a:latin typeface="Cambria"/>
                <a:cs typeface="Cambria"/>
              </a:rPr>
              <a:t>brightness.</a:t>
            </a:r>
            <a:endParaRPr sz="32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2400" y="2400300"/>
            <a:ext cx="7010400" cy="4953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7245" rIns="0" bIns="0" rtlCol="0">
            <a:spAutoFit/>
          </a:bodyPr>
          <a:lstStyle/>
          <a:p>
            <a:pPr marL="250825">
              <a:lnSpc>
                <a:spcPct val="100000"/>
              </a:lnSpc>
              <a:spcBef>
                <a:spcPts val="90"/>
              </a:spcBef>
            </a:pPr>
            <a:r>
              <a:rPr sz="7300" spc="-135" dirty="0">
                <a:solidFill>
                  <a:srgbClr val="1F1F1F"/>
                </a:solidFill>
              </a:rPr>
              <a:t>Visualizing</a:t>
            </a:r>
            <a:r>
              <a:rPr sz="7300" spc="-200" dirty="0">
                <a:solidFill>
                  <a:srgbClr val="1F1F1F"/>
                </a:solidFill>
              </a:rPr>
              <a:t> </a:t>
            </a:r>
            <a:r>
              <a:rPr sz="7300" dirty="0">
                <a:solidFill>
                  <a:srgbClr val="1F1F1F"/>
                </a:solidFill>
              </a:rPr>
              <a:t>the</a:t>
            </a:r>
            <a:r>
              <a:rPr sz="7300" spc="-605" dirty="0">
                <a:solidFill>
                  <a:srgbClr val="1F1F1F"/>
                </a:solidFill>
              </a:rPr>
              <a:t> </a:t>
            </a:r>
            <a:r>
              <a:rPr sz="7300" spc="-275" dirty="0">
                <a:solidFill>
                  <a:srgbClr val="1F1F1F"/>
                </a:solidFill>
              </a:rPr>
              <a:t>Change</a:t>
            </a:r>
            <a:endParaRPr sz="7300"/>
          </a:p>
        </p:txBody>
      </p:sp>
      <p:sp>
        <p:nvSpPr>
          <p:cNvPr id="4" name="object 4"/>
          <p:cNvSpPr txBox="1"/>
          <p:nvPr/>
        </p:nvSpPr>
        <p:spPr>
          <a:xfrm>
            <a:off x="1606080" y="4302477"/>
            <a:ext cx="3462020" cy="10147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3035">
              <a:lnSpc>
                <a:spcPts val="3970"/>
              </a:lnSpc>
              <a:spcBef>
                <a:spcPts val="120"/>
              </a:spcBef>
            </a:pPr>
            <a:r>
              <a:rPr sz="3450" spc="-95" dirty="0">
                <a:latin typeface="Times New Roman"/>
                <a:cs typeface="Times New Roman"/>
              </a:rPr>
              <a:t>Zero</a:t>
            </a:r>
            <a:r>
              <a:rPr sz="3450" spc="-135" dirty="0">
                <a:latin typeface="Times New Roman"/>
                <a:cs typeface="Times New Roman"/>
              </a:rPr>
              <a:t> </a:t>
            </a:r>
            <a:r>
              <a:rPr sz="3450" spc="-85" dirty="0">
                <a:latin typeface="Times New Roman"/>
                <a:cs typeface="Times New Roman"/>
              </a:rPr>
              <a:t>Change</a:t>
            </a:r>
            <a:r>
              <a:rPr sz="3450" spc="-100" dirty="0">
                <a:latin typeface="Times New Roman"/>
                <a:cs typeface="Times New Roman"/>
              </a:rPr>
              <a:t> </a:t>
            </a:r>
            <a:r>
              <a:rPr sz="3450" spc="-390" dirty="0">
                <a:latin typeface="Times New Roman"/>
                <a:cs typeface="Times New Roman"/>
              </a:rPr>
              <a:t>=</a:t>
            </a:r>
            <a:r>
              <a:rPr sz="3450" spc="65" dirty="0">
                <a:latin typeface="Times New Roman"/>
                <a:cs typeface="Times New Roman"/>
              </a:rPr>
              <a:t> </a:t>
            </a:r>
            <a:r>
              <a:rPr sz="3450" spc="-305" dirty="0">
                <a:latin typeface="Times New Roman"/>
                <a:cs typeface="Times New Roman"/>
              </a:rPr>
              <a:t>Low</a:t>
            </a:r>
            <a:endParaRPr sz="3450">
              <a:latin typeface="Times New Roman"/>
              <a:cs typeface="Times New Roman"/>
            </a:endParaRPr>
          </a:p>
          <a:p>
            <a:pPr marL="12700">
              <a:lnSpc>
                <a:spcPts val="3790"/>
              </a:lnSpc>
            </a:pPr>
            <a:r>
              <a:rPr sz="3300" dirty="0">
                <a:latin typeface="Times New Roman"/>
                <a:cs typeface="Times New Roman"/>
              </a:rPr>
              <a:t>Frequency</a:t>
            </a:r>
            <a:r>
              <a:rPr sz="3300" spc="-40" dirty="0">
                <a:latin typeface="Times New Roman"/>
                <a:cs typeface="Times New Roman"/>
              </a:rPr>
              <a:t> </a:t>
            </a:r>
            <a:r>
              <a:rPr sz="3300" spc="-10" dirty="0">
                <a:latin typeface="Times New Roman"/>
                <a:cs typeface="Times New Roman"/>
              </a:rPr>
              <a:t>(Smooth)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35549" y="4320116"/>
            <a:ext cx="3616960" cy="995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ts val="3829"/>
              </a:lnSpc>
              <a:spcBef>
                <a:spcPts val="130"/>
              </a:spcBef>
            </a:pPr>
            <a:r>
              <a:rPr sz="3300" spc="-80" dirty="0">
                <a:latin typeface="Cambria"/>
                <a:cs typeface="Cambria"/>
              </a:rPr>
              <a:t>Sudden</a:t>
            </a:r>
            <a:r>
              <a:rPr sz="3300" spc="80" dirty="0">
                <a:latin typeface="Cambria"/>
                <a:cs typeface="Cambria"/>
              </a:rPr>
              <a:t> </a:t>
            </a:r>
            <a:r>
              <a:rPr sz="3300" spc="50" dirty="0">
                <a:latin typeface="Cambria"/>
                <a:cs typeface="Cambria"/>
              </a:rPr>
              <a:t>Jump</a:t>
            </a:r>
            <a:r>
              <a:rPr sz="3300" spc="-80" dirty="0">
                <a:latin typeface="Cambria"/>
                <a:cs typeface="Cambria"/>
              </a:rPr>
              <a:t> </a:t>
            </a:r>
            <a:r>
              <a:rPr sz="3300" spc="50" dirty="0">
                <a:latin typeface="Cambria"/>
                <a:cs typeface="Cambria"/>
              </a:rPr>
              <a:t>=</a:t>
            </a:r>
            <a:r>
              <a:rPr sz="3300" spc="-90" dirty="0">
                <a:latin typeface="Cambria"/>
                <a:cs typeface="Cambria"/>
              </a:rPr>
              <a:t> </a:t>
            </a:r>
            <a:r>
              <a:rPr sz="3300" spc="-20" dirty="0">
                <a:latin typeface="Cambria"/>
                <a:cs typeface="Cambria"/>
              </a:rPr>
              <a:t>High</a:t>
            </a:r>
            <a:endParaRPr sz="3300">
              <a:latin typeface="Cambria"/>
              <a:cs typeface="Cambria"/>
            </a:endParaRPr>
          </a:p>
          <a:p>
            <a:pPr marL="13335" algn="ctr">
              <a:lnSpc>
                <a:spcPts val="3770"/>
              </a:lnSpc>
            </a:pPr>
            <a:r>
              <a:rPr sz="3250" spc="-100" dirty="0">
                <a:latin typeface="Cambria"/>
                <a:cs typeface="Cambria"/>
              </a:rPr>
              <a:t>Frequency</a:t>
            </a:r>
            <a:r>
              <a:rPr sz="3250" spc="-15" dirty="0">
                <a:latin typeface="Cambria"/>
                <a:cs typeface="Cambria"/>
              </a:rPr>
              <a:t> </a:t>
            </a:r>
            <a:r>
              <a:rPr sz="3250" spc="-10" dirty="0">
                <a:latin typeface="Cambria"/>
                <a:cs typeface="Cambria"/>
              </a:rPr>
              <a:t>(Edge)</a:t>
            </a:r>
            <a:endParaRPr sz="32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4084" y="7742414"/>
            <a:ext cx="14740255" cy="126174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 marR="5080" indent="2540">
              <a:lnSpc>
                <a:spcPts val="4650"/>
              </a:lnSpc>
              <a:spcBef>
                <a:spcPts val="615"/>
              </a:spcBef>
            </a:pPr>
            <a:r>
              <a:rPr sz="4200" spc="-120" dirty="0">
                <a:latin typeface="Cambria"/>
                <a:cs typeface="Cambria"/>
              </a:rPr>
              <a:t>The</a:t>
            </a:r>
            <a:r>
              <a:rPr sz="4200" spc="-114" dirty="0">
                <a:latin typeface="Cambria"/>
                <a:cs typeface="Cambria"/>
              </a:rPr>
              <a:t> </a:t>
            </a:r>
            <a:r>
              <a:rPr sz="4200" spc="-120" dirty="0">
                <a:latin typeface="Cambria"/>
                <a:cs typeface="Cambria"/>
              </a:rPr>
              <a:t>Fourier</a:t>
            </a:r>
            <a:r>
              <a:rPr sz="4200" spc="-110" dirty="0">
                <a:latin typeface="Cambria"/>
                <a:cs typeface="Cambria"/>
              </a:rPr>
              <a:t> </a:t>
            </a:r>
            <a:r>
              <a:rPr sz="4200" spc="-114" dirty="0">
                <a:latin typeface="Cambria"/>
                <a:cs typeface="Cambria"/>
              </a:rPr>
              <a:t>Transform </a:t>
            </a:r>
            <a:r>
              <a:rPr sz="4200" spc="-145" dirty="0">
                <a:latin typeface="Cambria"/>
                <a:cs typeface="Cambria"/>
              </a:rPr>
              <a:t>maps</a:t>
            </a:r>
            <a:r>
              <a:rPr sz="4200" spc="-85" dirty="0">
                <a:latin typeface="Cambria"/>
                <a:cs typeface="Cambria"/>
              </a:rPr>
              <a:t> </a:t>
            </a:r>
            <a:r>
              <a:rPr sz="4200" spc="-110" dirty="0">
                <a:latin typeface="Cambria"/>
                <a:cs typeface="Cambria"/>
              </a:rPr>
              <a:t>exactly</a:t>
            </a:r>
            <a:r>
              <a:rPr sz="4200" spc="-114" dirty="0">
                <a:latin typeface="Cambria"/>
                <a:cs typeface="Cambria"/>
              </a:rPr>
              <a:t> </a:t>
            </a:r>
            <a:r>
              <a:rPr sz="4200" spc="-254" dirty="0">
                <a:latin typeface="Cambria"/>
                <a:cs typeface="Cambria"/>
              </a:rPr>
              <a:t>where</a:t>
            </a:r>
            <a:r>
              <a:rPr sz="4200" spc="25" dirty="0">
                <a:latin typeface="Cambria"/>
                <a:cs typeface="Cambria"/>
              </a:rPr>
              <a:t> </a:t>
            </a:r>
            <a:r>
              <a:rPr sz="4200" spc="-65" dirty="0">
                <a:latin typeface="Cambria"/>
                <a:cs typeface="Cambria"/>
              </a:rPr>
              <a:t>the</a:t>
            </a:r>
            <a:r>
              <a:rPr sz="4200" spc="-165" dirty="0">
                <a:latin typeface="Cambria"/>
                <a:cs typeface="Cambria"/>
              </a:rPr>
              <a:t> </a:t>
            </a:r>
            <a:r>
              <a:rPr sz="4200" spc="-110" dirty="0">
                <a:latin typeface="Cambria"/>
                <a:cs typeface="Cambria"/>
              </a:rPr>
              <a:t>image</a:t>
            </a:r>
            <a:r>
              <a:rPr sz="4200" spc="-40" dirty="0">
                <a:latin typeface="Cambria"/>
                <a:cs typeface="Cambria"/>
              </a:rPr>
              <a:t> </a:t>
            </a:r>
            <a:r>
              <a:rPr sz="4200" dirty="0">
                <a:latin typeface="Cambria"/>
                <a:cs typeface="Cambria"/>
              </a:rPr>
              <a:t>is</a:t>
            </a:r>
            <a:r>
              <a:rPr sz="4200" spc="-229" dirty="0">
                <a:latin typeface="Cambria"/>
                <a:cs typeface="Cambria"/>
              </a:rPr>
              <a:t> </a:t>
            </a:r>
            <a:r>
              <a:rPr sz="4200" spc="-100" dirty="0">
                <a:latin typeface="Cambria"/>
                <a:cs typeface="Cambria"/>
              </a:rPr>
              <a:t>smooth</a:t>
            </a:r>
            <a:r>
              <a:rPr sz="4200" spc="75" dirty="0">
                <a:latin typeface="Cambria"/>
                <a:cs typeface="Cambria"/>
              </a:rPr>
              <a:t> </a:t>
            </a:r>
            <a:r>
              <a:rPr sz="4200" spc="-25" dirty="0">
                <a:latin typeface="Cambria"/>
                <a:cs typeface="Cambria"/>
              </a:rPr>
              <a:t>and </a:t>
            </a:r>
            <a:r>
              <a:rPr sz="4200" spc="-210" dirty="0">
                <a:latin typeface="Cambria"/>
                <a:cs typeface="Cambria"/>
              </a:rPr>
              <a:t>where</a:t>
            </a:r>
            <a:r>
              <a:rPr sz="4200" spc="-25" dirty="0">
                <a:latin typeface="Cambria"/>
                <a:cs typeface="Cambria"/>
              </a:rPr>
              <a:t> </a:t>
            </a:r>
            <a:r>
              <a:rPr sz="4200" spc="-85" dirty="0">
                <a:latin typeface="Cambria"/>
                <a:cs typeface="Cambria"/>
              </a:rPr>
              <a:t>the</a:t>
            </a:r>
            <a:r>
              <a:rPr sz="4200" spc="-145" dirty="0">
                <a:latin typeface="Cambria"/>
                <a:cs typeface="Cambria"/>
              </a:rPr>
              <a:t> </a:t>
            </a:r>
            <a:r>
              <a:rPr sz="4200" spc="-150" dirty="0">
                <a:latin typeface="Cambria"/>
                <a:cs typeface="Cambria"/>
              </a:rPr>
              <a:t>sharp</a:t>
            </a:r>
            <a:r>
              <a:rPr sz="4200" spc="-80" dirty="0">
                <a:latin typeface="Cambria"/>
                <a:cs typeface="Cambria"/>
              </a:rPr>
              <a:t> </a:t>
            </a:r>
            <a:r>
              <a:rPr sz="4200" spc="-140" dirty="0">
                <a:latin typeface="Cambria"/>
                <a:cs typeface="Cambria"/>
              </a:rPr>
              <a:t>edges</a:t>
            </a:r>
            <a:r>
              <a:rPr sz="4200" spc="-90" dirty="0">
                <a:latin typeface="Cambria"/>
                <a:cs typeface="Cambria"/>
              </a:rPr>
              <a:t> </a:t>
            </a:r>
            <a:r>
              <a:rPr sz="4200" spc="-100" dirty="0">
                <a:latin typeface="Cambria"/>
                <a:cs typeface="Cambria"/>
              </a:rPr>
              <a:t>are,</a:t>
            </a:r>
            <a:r>
              <a:rPr sz="4200" spc="-120" dirty="0">
                <a:latin typeface="Cambria"/>
                <a:cs typeface="Cambria"/>
              </a:rPr>
              <a:t> </a:t>
            </a:r>
            <a:r>
              <a:rPr sz="4200" spc="-145" dirty="0">
                <a:latin typeface="Cambria"/>
                <a:cs typeface="Cambria"/>
              </a:rPr>
              <a:t>based</a:t>
            </a:r>
            <a:r>
              <a:rPr sz="4200" spc="-50" dirty="0">
                <a:latin typeface="Cambria"/>
                <a:cs typeface="Cambria"/>
              </a:rPr>
              <a:t> </a:t>
            </a:r>
            <a:r>
              <a:rPr sz="4200" dirty="0">
                <a:latin typeface="Cambria"/>
                <a:cs typeface="Cambria"/>
              </a:rPr>
              <a:t>on</a:t>
            </a:r>
            <a:r>
              <a:rPr sz="4200" spc="-185" dirty="0">
                <a:latin typeface="Cambria"/>
                <a:cs typeface="Cambria"/>
              </a:rPr>
              <a:t> </a:t>
            </a:r>
            <a:r>
              <a:rPr sz="4200" spc="-140" dirty="0">
                <a:latin typeface="Cambria"/>
                <a:cs typeface="Cambria"/>
              </a:rPr>
              <a:t>these</a:t>
            </a:r>
            <a:r>
              <a:rPr sz="4200" spc="-90" dirty="0">
                <a:latin typeface="Cambria"/>
                <a:cs typeface="Cambria"/>
              </a:rPr>
              <a:t> </a:t>
            </a:r>
            <a:r>
              <a:rPr sz="4200" spc="-114" dirty="0">
                <a:latin typeface="Cambria"/>
                <a:cs typeface="Cambria"/>
              </a:rPr>
              <a:t>changes</a:t>
            </a:r>
            <a:r>
              <a:rPr sz="4200" spc="-10" dirty="0">
                <a:latin typeface="Cambria"/>
                <a:cs typeface="Cambria"/>
              </a:rPr>
              <a:t> </a:t>
            </a:r>
            <a:r>
              <a:rPr sz="4200" dirty="0">
                <a:latin typeface="Cambria"/>
                <a:cs typeface="Cambria"/>
              </a:rPr>
              <a:t>in</a:t>
            </a:r>
            <a:r>
              <a:rPr sz="4200" spc="-185" dirty="0">
                <a:latin typeface="Cambria"/>
                <a:cs typeface="Cambria"/>
              </a:rPr>
              <a:t> </a:t>
            </a:r>
            <a:r>
              <a:rPr sz="4200" spc="-10" dirty="0">
                <a:latin typeface="Cambria"/>
                <a:cs typeface="Cambria"/>
              </a:rPr>
              <a:t>intensity.</a:t>
            </a:r>
            <a:endParaRPr sz="4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700" y="2819400"/>
            <a:ext cx="6705600" cy="4127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42300" y="4965700"/>
            <a:ext cx="990600" cy="228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42300" y="4559300"/>
            <a:ext cx="990600" cy="228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67900" y="5867400"/>
            <a:ext cx="6718300" cy="1651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867900" y="4051300"/>
            <a:ext cx="6718300" cy="16510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867900" y="2247900"/>
            <a:ext cx="6718300" cy="16383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9945" rIns="0" bIns="0" rtlCol="0">
            <a:spAutoFit/>
          </a:bodyPr>
          <a:lstStyle/>
          <a:p>
            <a:pPr marL="260985">
              <a:lnSpc>
                <a:spcPct val="100000"/>
              </a:lnSpc>
              <a:spcBef>
                <a:spcPts val="114"/>
              </a:spcBef>
            </a:pPr>
            <a:r>
              <a:rPr sz="6650" spc="60" dirty="0">
                <a:solidFill>
                  <a:srgbClr val="1C1C1C"/>
                </a:solidFill>
                <a:latin typeface="Calibri"/>
                <a:cs typeface="Calibri"/>
              </a:rPr>
              <a:t>The</a:t>
            </a:r>
            <a:r>
              <a:rPr sz="6650" spc="-28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6650" dirty="0">
                <a:solidFill>
                  <a:srgbClr val="161616"/>
                </a:solidFill>
                <a:latin typeface="Calibri"/>
                <a:cs typeface="Calibri"/>
              </a:rPr>
              <a:t>Mathematical</a:t>
            </a:r>
            <a:r>
              <a:rPr sz="6650" spc="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6650" spc="-10" dirty="0">
                <a:solidFill>
                  <a:srgbClr val="181818"/>
                </a:solidFill>
                <a:latin typeface="Calibri"/>
                <a:cs typeface="Calibri"/>
              </a:rPr>
              <a:t>Mechanism</a:t>
            </a:r>
            <a:endParaRPr sz="66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25345" y="7007930"/>
            <a:ext cx="3211195" cy="417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75" dirty="0">
                <a:latin typeface="Arial MT"/>
                <a:cs typeface="Arial MT"/>
              </a:rPr>
              <a:t>Complex</a:t>
            </a:r>
            <a:r>
              <a:rPr sz="2550" spc="15" dirty="0">
                <a:latin typeface="Arial MT"/>
                <a:cs typeface="Arial MT"/>
              </a:rPr>
              <a:t> </a:t>
            </a:r>
            <a:r>
              <a:rPr sz="2550" spc="-95" dirty="0">
                <a:latin typeface="Arial MT"/>
                <a:cs typeface="Arial MT"/>
              </a:rPr>
              <a:t>Signal</a:t>
            </a:r>
            <a:r>
              <a:rPr sz="2550" spc="-85" dirty="0">
                <a:latin typeface="Arial MT"/>
                <a:cs typeface="Arial MT"/>
              </a:rPr>
              <a:t> </a:t>
            </a:r>
            <a:r>
              <a:rPr sz="2550" spc="-150" dirty="0">
                <a:latin typeface="Arial MT"/>
                <a:cs typeface="Arial MT"/>
              </a:rPr>
              <a:t>(Image)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3785" y="7828139"/>
            <a:ext cx="15267940" cy="1622239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 marR="5080" indent="2540">
              <a:lnSpc>
                <a:spcPts val="3700"/>
              </a:lnSpc>
              <a:spcBef>
                <a:spcPts val="750"/>
              </a:spcBef>
              <a:tabLst>
                <a:tab pos="7124065" algn="l"/>
              </a:tabLst>
            </a:pPr>
            <a:r>
              <a:rPr sz="3600" dirty="0">
                <a:latin typeface="Cambria"/>
                <a:cs typeface="Cambria"/>
              </a:rPr>
              <a:t>The</a:t>
            </a:r>
            <a:r>
              <a:rPr sz="3600" spc="35" dirty="0">
                <a:latin typeface="Cambria"/>
                <a:cs typeface="Cambria"/>
              </a:rPr>
              <a:t> </a:t>
            </a:r>
            <a:r>
              <a:rPr sz="3600" spc="-10" dirty="0">
                <a:latin typeface="Cambria"/>
                <a:cs typeface="Cambria"/>
              </a:rPr>
              <a:t>Fourier</a:t>
            </a:r>
            <a:r>
              <a:rPr sz="3600" spc="-90" dirty="0">
                <a:latin typeface="Cambria"/>
                <a:cs typeface="Cambria"/>
              </a:rPr>
              <a:t> </a:t>
            </a:r>
            <a:r>
              <a:rPr sz="3600" dirty="0">
                <a:latin typeface="Cambria"/>
                <a:cs typeface="Cambria"/>
              </a:rPr>
              <a:t>Transform</a:t>
            </a:r>
            <a:r>
              <a:rPr sz="3600" spc="140" dirty="0">
                <a:latin typeface="Cambria"/>
                <a:cs typeface="Cambria"/>
              </a:rPr>
              <a:t> </a:t>
            </a:r>
            <a:r>
              <a:rPr sz="3600" spc="-10" dirty="0">
                <a:latin typeface="Cambria"/>
                <a:cs typeface="Cambria"/>
              </a:rPr>
              <a:t>decomposes</a:t>
            </a:r>
            <a:r>
              <a:rPr sz="3600" dirty="0">
                <a:latin typeface="Cambria"/>
                <a:cs typeface="Cambria"/>
              </a:rPr>
              <a:t>	a</a:t>
            </a:r>
            <a:r>
              <a:rPr sz="3600" spc="-140" dirty="0">
                <a:latin typeface="Cambria"/>
                <a:cs typeface="Cambria"/>
              </a:rPr>
              <a:t> </a:t>
            </a:r>
            <a:r>
              <a:rPr sz="3600" dirty="0">
                <a:latin typeface="Cambria"/>
                <a:cs typeface="Cambria"/>
              </a:rPr>
              <a:t>complex</a:t>
            </a:r>
            <a:r>
              <a:rPr sz="3600" spc="35" dirty="0">
                <a:latin typeface="Cambria"/>
                <a:cs typeface="Cambria"/>
              </a:rPr>
              <a:t> </a:t>
            </a:r>
            <a:r>
              <a:rPr sz="3600" dirty="0">
                <a:latin typeface="Cambria"/>
                <a:cs typeface="Cambria"/>
              </a:rPr>
              <a:t>image</a:t>
            </a:r>
            <a:r>
              <a:rPr sz="3600" spc="-35" dirty="0">
                <a:latin typeface="Cambria"/>
                <a:cs typeface="Cambria"/>
              </a:rPr>
              <a:t> </a:t>
            </a:r>
            <a:r>
              <a:rPr sz="3600" dirty="0">
                <a:latin typeface="Cambria"/>
                <a:cs typeface="Cambria"/>
              </a:rPr>
              <a:t>into</a:t>
            </a:r>
            <a:r>
              <a:rPr sz="3600" spc="-5" dirty="0">
                <a:latin typeface="Cambria"/>
                <a:cs typeface="Cambria"/>
              </a:rPr>
              <a:t> </a:t>
            </a:r>
            <a:r>
              <a:rPr sz="3600" dirty="0">
                <a:latin typeface="Cambria"/>
                <a:cs typeface="Cambria"/>
              </a:rPr>
              <a:t>a</a:t>
            </a:r>
            <a:r>
              <a:rPr sz="3600" spc="-130" dirty="0">
                <a:latin typeface="Cambria"/>
                <a:cs typeface="Cambria"/>
              </a:rPr>
              <a:t> </a:t>
            </a:r>
            <a:r>
              <a:rPr sz="3600" dirty="0">
                <a:latin typeface="Cambria"/>
                <a:cs typeface="Cambria"/>
              </a:rPr>
              <a:t>sum</a:t>
            </a:r>
            <a:r>
              <a:rPr sz="3600" spc="-85" dirty="0">
                <a:latin typeface="Cambria"/>
                <a:cs typeface="Cambria"/>
              </a:rPr>
              <a:t> </a:t>
            </a:r>
            <a:r>
              <a:rPr sz="3600" spc="100" dirty="0">
                <a:latin typeface="Cambria"/>
                <a:cs typeface="Cambria"/>
              </a:rPr>
              <a:t>of</a:t>
            </a:r>
            <a:r>
              <a:rPr sz="3600" spc="-25" dirty="0">
                <a:latin typeface="Cambria"/>
                <a:cs typeface="Cambria"/>
              </a:rPr>
              <a:t> </a:t>
            </a:r>
            <a:r>
              <a:rPr sz="3600" spc="-20" dirty="0">
                <a:latin typeface="Cambria"/>
                <a:cs typeface="Cambria"/>
              </a:rPr>
              <a:t>simple</a:t>
            </a:r>
            <a:r>
              <a:rPr sz="3600" spc="75" dirty="0">
                <a:latin typeface="Cambria"/>
                <a:cs typeface="Cambria"/>
              </a:rPr>
              <a:t> </a:t>
            </a:r>
            <a:r>
              <a:rPr sz="3600" spc="-40" dirty="0">
                <a:latin typeface="Cambria"/>
                <a:cs typeface="Cambria"/>
              </a:rPr>
              <a:t>sine </a:t>
            </a:r>
            <a:r>
              <a:rPr sz="3600" dirty="0">
                <a:latin typeface="Cambria"/>
                <a:cs typeface="Cambria"/>
              </a:rPr>
              <a:t>and</a:t>
            </a:r>
            <a:r>
              <a:rPr sz="3600" spc="-100" dirty="0">
                <a:latin typeface="Cambria"/>
                <a:cs typeface="Cambria"/>
              </a:rPr>
              <a:t> </a:t>
            </a:r>
            <a:r>
              <a:rPr sz="3600" spc="-25" dirty="0">
                <a:latin typeface="Cambria"/>
                <a:cs typeface="Cambria"/>
              </a:rPr>
              <a:t>cosine</a:t>
            </a:r>
            <a:r>
              <a:rPr sz="3600" spc="-90" dirty="0">
                <a:latin typeface="Cambria"/>
                <a:cs typeface="Cambria"/>
              </a:rPr>
              <a:t> </a:t>
            </a:r>
            <a:r>
              <a:rPr sz="3600" spc="-10" dirty="0">
                <a:latin typeface="Cambria"/>
                <a:cs typeface="Cambria"/>
              </a:rPr>
              <a:t>waves.</a:t>
            </a:r>
            <a:endParaRPr sz="3600" dirty="0">
              <a:latin typeface="Cambria"/>
              <a:cs typeface="Cambria"/>
            </a:endParaRPr>
          </a:p>
          <a:p>
            <a:pPr marL="14604">
              <a:lnSpc>
                <a:spcPts val="2430"/>
              </a:lnSpc>
              <a:spcBef>
                <a:spcPts val="2110"/>
              </a:spcBef>
            </a:pPr>
            <a:r>
              <a:rPr sz="2050" dirty="0">
                <a:latin typeface="Cambria"/>
                <a:cs typeface="Cambria"/>
              </a:rPr>
              <a:t>We</a:t>
            </a:r>
            <a:r>
              <a:rPr sz="2050" spc="-114" dirty="0">
                <a:latin typeface="Cambria"/>
                <a:cs typeface="Cambria"/>
              </a:rPr>
              <a:t> </a:t>
            </a:r>
            <a:r>
              <a:rPr sz="2050" spc="-10" dirty="0">
                <a:latin typeface="Cambria"/>
                <a:cs typeface="Cambria"/>
              </a:rPr>
              <a:t>don't</a:t>
            </a:r>
            <a:r>
              <a:rPr sz="2050" spc="20" dirty="0">
                <a:latin typeface="Cambria"/>
                <a:cs typeface="Cambria"/>
              </a:rPr>
              <a:t> </a:t>
            </a:r>
            <a:r>
              <a:rPr sz="2050" spc="-10" dirty="0">
                <a:latin typeface="Cambria"/>
                <a:cs typeface="Cambria"/>
              </a:rPr>
              <a:t>need</a:t>
            </a:r>
            <a:r>
              <a:rPr sz="2050" spc="65" dirty="0">
                <a:latin typeface="Cambria"/>
                <a:cs typeface="Cambria"/>
              </a:rPr>
              <a:t> </a:t>
            </a:r>
            <a:r>
              <a:rPr sz="2050" spc="-10" dirty="0">
                <a:latin typeface="Cambria"/>
                <a:cs typeface="Cambria"/>
              </a:rPr>
              <a:t>to</a:t>
            </a:r>
            <a:r>
              <a:rPr sz="2050" spc="-105" dirty="0">
                <a:latin typeface="Cambria"/>
                <a:cs typeface="Cambria"/>
              </a:rPr>
              <a:t> </a:t>
            </a:r>
            <a:r>
              <a:rPr sz="2050" spc="-10" dirty="0">
                <a:latin typeface="Cambria"/>
                <a:cs typeface="Cambria"/>
              </a:rPr>
              <a:t>derive</a:t>
            </a:r>
            <a:r>
              <a:rPr sz="2050" spc="10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the</a:t>
            </a:r>
            <a:r>
              <a:rPr sz="2050" spc="-60" dirty="0">
                <a:latin typeface="Cambria"/>
                <a:cs typeface="Cambria"/>
              </a:rPr>
              <a:t> </a:t>
            </a:r>
            <a:r>
              <a:rPr sz="2050" spc="-10" dirty="0">
                <a:latin typeface="Cambria"/>
                <a:cs typeface="Cambria"/>
              </a:rPr>
              <a:t>formulas</a:t>
            </a:r>
            <a:r>
              <a:rPr sz="2050" spc="45" dirty="0">
                <a:latin typeface="Cambria"/>
                <a:cs typeface="Cambria"/>
              </a:rPr>
              <a:t> </a:t>
            </a:r>
            <a:r>
              <a:rPr sz="2050" spc="-20" dirty="0">
                <a:latin typeface="Cambria"/>
                <a:cs typeface="Cambria"/>
              </a:rPr>
              <a:t>yet;</a:t>
            </a:r>
            <a:r>
              <a:rPr sz="2050" spc="-80" dirty="0">
                <a:latin typeface="Cambria"/>
                <a:cs typeface="Cambria"/>
              </a:rPr>
              <a:t> </a:t>
            </a:r>
            <a:r>
              <a:rPr sz="2050" spc="-140" dirty="0">
                <a:latin typeface="Cambria"/>
                <a:cs typeface="Cambria"/>
              </a:rPr>
              <a:t>we</a:t>
            </a:r>
            <a:r>
              <a:rPr sz="2050" spc="-170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just</a:t>
            </a:r>
            <a:r>
              <a:rPr sz="2050" spc="5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need to</a:t>
            </a:r>
            <a:r>
              <a:rPr sz="2050" spc="-90" dirty="0">
                <a:latin typeface="Cambria"/>
                <a:cs typeface="Cambria"/>
              </a:rPr>
              <a:t> </a:t>
            </a:r>
            <a:r>
              <a:rPr sz="2050" spc="-35" dirty="0">
                <a:latin typeface="Cambria"/>
                <a:cs typeface="Cambria"/>
              </a:rPr>
              <a:t>understand</a:t>
            </a:r>
            <a:r>
              <a:rPr sz="2050" spc="165" dirty="0">
                <a:latin typeface="Cambria"/>
                <a:cs typeface="Cambria"/>
              </a:rPr>
              <a:t> </a:t>
            </a:r>
            <a:r>
              <a:rPr sz="2050" spc="-50" dirty="0">
                <a:latin typeface="Cambria"/>
                <a:cs typeface="Cambria"/>
              </a:rPr>
              <a:t>that</a:t>
            </a:r>
            <a:r>
              <a:rPr sz="2050" spc="60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the</a:t>
            </a:r>
            <a:r>
              <a:rPr sz="2050" spc="-60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math</a:t>
            </a:r>
            <a:r>
              <a:rPr sz="2050" spc="-30" dirty="0">
                <a:latin typeface="Cambria"/>
                <a:cs typeface="Cambria"/>
              </a:rPr>
              <a:t> </a:t>
            </a:r>
            <a:r>
              <a:rPr sz="2050" spc="-45" dirty="0">
                <a:latin typeface="Cambria"/>
                <a:cs typeface="Cambria"/>
              </a:rPr>
              <a:t>measures</a:t>
            </a:r>
            <a:r>
              <a:rPr sz="2050" spc="80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the</a:t>
            </a:r>
            <a:r>
              <a:rPr sz="2050" spc="-80" dirty="0">
                <a:latin typeface="Cambria"/>
                <a:cs typeface="Cambria"/>
              </a:rPr>
              <a:t> </a:t>
            </a:r>
            <a:r>
              <a:rPr sz="2050" spc="-35" dirty="0">
                <a:latin typeface="Cambria"/>
                <a:cs typeface="Cambria"/>
              </a:rPr>
              <a:t>‘speed'</a:t>
            </a:r>
            <a:r>
              <a:rPr sz="2050" spc="-70" dirty="0">
                <a:latin typeface="Cambria"/>
                <a:cs typeface="Cambria"/>
              </a:rPr>
              <a:t> </a:t>
            </a:r>
            <a:r>
              <a:rPr sz="2050" spc="55" dirty="0">
                <a:latin typeface="Cambria"/>
                <a:cs typeface="Cambria"/>
              </a:rPr>
              <a:t>of</a:t>
            </a:r>
            <a:r>
              <a:rPr sz="2050" spc="-40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the</a:t>
            </a:r>
            <a:r>
              <a:rPr sz="2050" spc="-25" dirty="0">
                <a:latin typeface="Cambria"/>
                <a:cs typeface="Cambria"/>
              </a:rPr>
              <a:t> </a:t>
            </a:r>
            <a:r>
              <a:rPr sz="2050" spc="-110" dirty="0">
                <a:latin typeface="Cambria"/>
                <a:cs typeface="Cambria"/>
              </a:rPr>
              <a:t>waves</a:t>
            </a:r>
            <a:r>
              <a:rPr sz="2050" spc="-30" dirty="0">
                <a:latin typeface="Cambria"/>
                <a:cs typeface="Cambria"/>
              </a:rPr>
              <a:t> </a:t>
            </a:r>
            <a:r>
              <a:rPr sz="2050" spc="-50" dirty="0">
                <a:latin typeface="Cambria"/>
                <a:cs typeface="Cambria"/>
              </a:rPr>
              <a:t>(brightness</a:t>
            </a:r>
            <a:r>
              <a:rPr sz="2050" dirty="0">
                <a:latin typeface="Cambria"/>
                <a:cs typeface="Cambria"/>
              </a:rPr>
              <a:t> </a:t>
            </a:r>
            <a:r>
              <a:rPr sz="2050" spc="-10" dirty="0">
                <a:latin typeface="Cambria"/>
                <a:cs typeface="Cambria"/>
              </a:rPr>
              <a:t>changes).</a:t>
            </a:r>
            <a:endParaRPr sz="205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0300" y="2819400"/>
            <a:ext cx="4673600" cy="558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67900" y="6146800"/>
            <a:ext cx="762000" cy="812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69600" y="3987800"/>
            <a:ext cx="1790700" cy="2362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131800" y="4000500"/>
            <a:ext cx="1778000" cy="23495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036800" y="6146800"/>
            <a:ext cx="749300" cy="8128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2277" rIns="0" bIns="0" rtlCol="0">
            <a:spAutoFit/>
          </a:bodyPr>
          <a:lstStyle/>
          <a:p>
            <a:pPr marL="259715">
              <a:lnSpc>
                <a:spcPct val="100000"/>
              </a:lnSpc>
              <a:spcBef>
                <a:spcPts val="95"/>
              </a:spcBef>
            </a:pPr>
            <a:r>
              <a:rPr sz="8200" spc="160" dirty="0">
                <a:latin typeface="Calibri"/>
                <a:cs typeface="Calibri"/>
              </a:rPr>
              <a:t>The</a:t>
            </a:r>
            <a:r>
              <a:rPr sz="8200" spc="-570" dirty="0">
                <a:latin typeface="Calibri"/>
                <a:cs typeface="Calibri"/>
              </a:rPr>
              <a:t> </a:t>
            </a:r>
            <a:r>
              <a:rPr sz="8200" dirty="0">
                <a:latin typeface="Calibri"/>
                <a:cs typeface="Calibri"/>
              </a:rPr>
              <a:t>Power</a:t>
            </a:r>
            <a:r>
              <a:rPr sz="8200" spc="-80" dirty="0">
                <a:latin typeface="Calibri"/>
                <a:cs typeface="Calibri"/>
              </a:rPr>
              <a:t> </a:t>
            </a:r>
            <a:r>
              <a:rPr sz="8200" dirty="0">
                <a:solidFill>
                  <a:srgbClr val="313131"/>
                </a:solidFill>
                <a:latin typeface="Calibri"/>
                <a:cs typeface="Calibri"/>
              </a:rPr>
              <a:t>of</a:t>
            </a:r>
            <a:r>
              <a:rPr sz="8200" spc="-20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8200" spc="-10" dirty="0">
                <a:solidFill>
                  <a:srgbClr val="2A2A2A"/>
                </a:solidFill>
                <a:latin typeface="Calibri"/>
                <a:cs typeface="Calibri"/>
              </a:rPr>
              <a:t>Separation</a:t>
            </a:r>
            <a:endParaRPr sz="8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24591" y="2658533"/>
            <a:ext cx="4274820" cy="6604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150" spc="-100" dirty="0">
                <a:solidFill>
                  <a:srgbClr val="1D1D1D"/>
                </a:solidFill>
                <a:latin typeface="Arial MT"/>
                <a:cs typeface="Arial MT"/>
              </a:rPr>
              <a:t>Frequency</a:t>
            </a:r>
            <a:r>
              <a:rPr sz="4150" spc="-12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4150" spc="-105" dirty="0">
                <a:solidFill>
                  <a:srgbClr val="1C1C1C"/>
                </a:solidFill>
                <a:latin typeface="Arial MT"/>
                <a:cs typeface="Arial MT"/>
              </a:rPr>
              <a:t>Domain</a:t>
            </a:r>
            <a:endParaRPr sz="41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14182" y="6952897"/>
            <a:ext cx="5668010" cy="1458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>
              <a:lnSpc>
                <a:spcPts val="3815"/>
              </a:lnSpc>
              <a:spcBef>
                <a:spcPts val="100"/>
              </a:spcBef>
            </a:pPr>
            <a:r>
              <a:rPr sz="3400" spc="-185" dirty="0">
                <a:latin typeface="Cambria"/>
                <a:cs typeface="Cambria"/>
              </a:rPr>
              <a:t>They</a:t>
            </a:r>
            <a:r>
              <a:rPr sz="3400" spc="20" dirty="0">
                <a:latin typeface="Cambria"/>
                <a:cs typeface="Cambria"/>
              </a:rPr>
              <a:t> </a:t>
            </a:r>
            <a:r>
              <a:rPr sz="3400" spc="-170" dirty="0">
                <a:latin typeface="Cambria"/>
                <a:cs typeface="Cambria"/>
              </a:rPr>
              <a:t>live</a:t>
            </a:r>
            <a:r>
              <a:rPr sz="3400" spc="15" dirty="0">
                <a:latin typeface="Cambria"/>
                <a:cs typeface="Cambria"/>
              </a:rPr>
              <a:t> </a:t>
            </a:r>
            <a:r>
              <a:rPr sz="3400" spc="-195" dirty="0">
                <a:latin typeface="Cambria"/>
                <a:cs typeface="Cambria"/>
              </a:rPr>
              <a:t>at</a:t>
            </a:r>
            <a:r>
              <a:rPr sz="3400" spc="-140" dirty="0">
                <a:latin typeface="Cambria"/>
                <a:cs typeface="Cambria"/>
              </a:rPr>
              <a:t> </a:t>
            </a:r>
            <a:r>
              <a:rPr sz="3400" spc="-95" dirty="0">
                <a:latin typeface="Cambria"/>
                <a:cs typeface="Cambria"/>
              </a:rPr>
              <a:t>different“addresses”.</a:t>
            </a:r>
            <a:endParaRPr sz="3400">
              <a:latin typeface="Cambria"/>
              <a:cs typeface="Cambria"/>
            </a:endParaRPr>
          </a:p>
          <a:p>
            <a:pPr marL="12700" marR="5080" indent="217170">
              <a:lnSpc>
                <a:spcPts val="3650"/>
              </a:lnSpc>
              <a:spcBef>
                <a:spcPts val="215"/>
              </a:spcBef>
            </a:pPr>
            <a:r>
              <a:rPr sz="3400" spc="-340" dirty="0">
                <a:latin typeface="Cambria"/>
                <a:cs typeface="Cambria"/>
              </a:rPr>
              <a:t>We</a:t>
            </a:r>
            <a:r>
              <a:rPr sz="3400" spc="-160" dirty="0">
                <a:latin typeface="Cambria"/>
                <a:cs typeface="Cambria"/>
              </a:rPr>
              <a:t> </a:t>
            </a:r>
            <a:r>
              <a:rPr sz="3400" spc="-95" dirty="0">
                <a:latin typeface="Cambria"/>
                <a:cs typeface="Cambria"/>
              </a:rPr>
              <a:t>can</a:t>
            </a:r>
            <a:r>
              <a:rPr sz="3400" spc="-55" dirty="0">
                <a:latin typeface="Cambria"/>
                <a:cs typeface="Cambria"/>
              </a:rPr>
              <a:t> </a:t>
            </a:r>
            <a:r>
              <a:rPr sz="3400" spc="-195" dirty="0">
                <a:latin typeface="Cambria"/>
                <a:cs typeface="Cambria"/>
              </a:rPr>
              <a:t>target</a:t>
            </a:r>
            <a:r>
              <a:rPr sz="3400" dirty="0">
                <a:latin typeface="Cambria"/>
                <a:cs typeface="Cambria"/>
              </a:rPr>
              <a:t> </a:t>
            </a:r>
            <a:r>
              <a:rPr sz="3400" spc="-185" dirty="0">
                <a:latin typeface="Cambria"/>
                <a:cs typeface="Cambria"/>
              </a:rPr>
              <a:t>noise</a:t>
            </a:r>
            <a:r>
              <a:rPr sz="3400" spc="-100" dirty="0">
                <a:latin typeface="Cambria"/>
                <a:cs typeface="Cambria"/>
              </a:rPr>
              <a:t> </a:t>
            </a:r>
            <a:r>
              <a:rPr sz="3400" spc="-150" dirty="0">
                <a:latin typeface="Cambria"/>
                <a:cs typeface="Cambria"/>
              </a:rPr>
              <a:t>(high</a:t>
            </a:r>
            <a:r>
              <a:rPr sz="3400" spc="10" dirty="0">
                <a:latin typeface="Cambria"/>
                <a:cs typeface="Cambria"/>
              </a:rPr>
              <a:t> </a:t>
            </a:r>
            <a:r>
              <a:rPr sz="3400" spc="-20" dirty="0">
                <a:latin typeface="Cambria"/>
                <a:cs typeface="Cambria"/>
              </a:rPr>
              <a:t>freQ </a:t>
            </a:r>
            <a:r>
              <a:rPr sz="3400" spc="-195" dirty="0">
                <a:latin typeface="Cambria"/>
                <a:cs typeface="Cambria"/>
              </a:rPr>
              <a:t>without</a:t>
            </a:r>
            <a:r>
              <a:rPr sz="3400" spc="55" dirty="0">
                <a:latin typeface="Cambria"/>
                <a:cs typeface="Cambria"/>
              </a:rPr>
              <a:t> </a:t>
            </a:r>
            <a:r>
              <a:rPr sz="3400" spc="-155" dirty="0">
                <a:latin typeface="Cambria"/>
                <a:cs typeface="Cambria"/>
              </a:rPr>
              <a:t>touching</a:t>
            </a:r>
            <a:r>
              <a:rPr sz="3400" spc="-20" dirty="0">
                <a:latin typeface="Cambria"/>
                <a:cs typeface="Cambria"/>
              </a:rPr>
              <a:t> </a:t>
            </a:r>
            <a:r>
              <a:rPr sz="3400" spc="-140" dirty="0">
                <a:latin typeface="Cambria"/>
                <a:cs typeface="Cambria"/>
              </a:rPr>
              <a:t>the</a:t>
            </a:r>
            <a:r>
              <a:rPr sz="3400" spc="-40" dirty="0">
                <a:latin typeface="Cambria"/>
                <a:cs typeface="Cambria"/>
              </a:rPr>
              <a:t> </a:t>
            </a:r>
            <a:r>
              <a:rPr sz="3400" spc="-165" dirty="0">
                <a:latin typeface="Cambria"/>
                <a:cs typeface="Cambria"/>
              </a:rPr>
              <a:t>background.</a:t>
            </a:r>
            <a:endParaRPr sz="3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1100" y="3987800"/>
            <a:ext cx="1498600" cy="1282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60700" y="4495800"/>
            <a:ext cx="1231900" cy="266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21200" y="3759200"/>
            <a:ext cx="1651000" cy="17399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13500" y="4495800"/>
            <a:ext cx="1231900" cy="2794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12100" y="3810000"/>
            <a:ext cx="1651000" cy="16383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829800" y="4495800"/>
            <a:ext cx="1219200" cy="2667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277600" y="3746500"/>
            <a:ext cx="1676400" cy="17526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182600" y="3606800"/>
            <a:ext cx="3505200" cy="204470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056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125"/>
              </a:spcBef>
            </a:pPr>
            <a:r>
              <a:rPr spc="-170" dirty="0">
                <a:solidFill>
                  <a:srgbClr val="2F2F2F"/>
                </a:solidFill>
              </a:rPr>
              <a:t>The</a:t>
            </a:r>
            <a:r>
              <a:rPr spc="-580" dirty="0">
                <a:solidFill>
                  <a:srgbClr val="2F2F2F"/>
                </a:solidFill>
              </a:rPr>
              <a:t> </a:t>
            </a:r>
            <a:r>
              <a:rPr dirty="0"/>
              <a:t>Filtering</a:t>
            </a:r>
            <a:r>
              <a:rPr spc="-185" dirty="0"/>
              <a:t> </a:t>
            </a:r>
            <a:r>
              <a:rPr spc="-10" dirty="0"/>
              <a:t>Workflow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45639" y="5819775"/>
            <a:ext cx="1143000" cy="969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2870">
              <a:lnSpc>
                <a:spcPts val="3610"/>
              </a:lnSpc>
              <a:spcBef>
                <a:spcPts val="125"/>
              </a:spcBef>
            </a:pPr>
            <a:r>
              <a:rPr sz="3100" spc="50" dirty="0">
                <a:solidFill>
                  <a:srgbClr val="131313"/>
                </a:solidFill>
                <a:latin typeface="Arial MT"/>
                <a:cs typeface="Arial MT"/>
              </a:rPr>
              <a:t>Input</a:t>
            </a:r>
            <a:endParaRPr sz="3100">
              <a:latin typeface="Arial MT"/>
              <a:cs typeface="Arial MT"/>
            </a:endParaRPr>
          </a:p>
          <a:p>
            <a:pPr marL="12700">
              <a:lnSpc>
                <a:spcPts val="3790"/>
              </a:lnSpc>
            </a:pPr>
            <a:r>
              <a:rPr sz="3250" spc="-40" dirty="0">
                <a:solidFill>
                  <a:srgbClr val="1A1A1A"/>
                </a:solidFill>
                <a:latin typeface="Arial MT"/>
                <a:cs typeface="Arial MT"/>
              </a:rPr>
              <a:t>Image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09884" y="5819775"/>
            <a:ext cx="1857375" cy="969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15240" algn="ctr">
              <a:lnSpc>
                <a:spcPts val="3610"/>
              </a:lnSpc>
              <a:spcBef>
                <a:spcPts val="125"/>
              </a:spcBef>
            </a:pPr>
            <a:r>
              <a:rPr sz="3100" spc="-10" dirty="0">
                <a:solidFill>
                  <a:srgbClr val="131313"/>
                </a:solidFill>
                <a:latin typeface="Arial MT"/>
                <a:cs typeface="Arial MT"/>
              </a:rPr>
              <a:t>Fourier</a:t>
            </a:r>
            <a:endParaRPr sz="3100">
              <a:latin typeface="Arial MT"/>
              <a:cs typeface="Arial MT"/>
            </a:endParaRPr>
          </a:p>
          <a:p>
            <a:pPr algn="ctr">
              <a:lnSpc>
                <a:spcPts val="3790"/>
              </a:lnSpc>
            </a:pPr>
            <a:r>
              <a:rPr sz="3250" spc="-35" dirty="0">
                <a:solidFill>
                  <a:srgbClr val="1A1A1A"/>
                </a:solidFill>
                <a:latin typeface="Arial MT"/>
                <a:cs typeface="Arial MT"/>
              </a:rPr>
              <a:t>Transform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84420" y="5649479"/>
            <a:ext cx="2282825" cy="1449705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465"/>
              </a:spcBef>
            </a:pPr>
            <a:r>
              <a:rPr sz="3100" dirty="0">
                <a:solidFill>
                  <a:srgbClr val="111111"/>
                </a:solidFill>
                <a:latin typeface="Arial MT"/>
                <a:cs typeface="Arial MT"/>
              </a:rPr>
              <a:t>Apply</a:t>
            </a:r>
            <a:r>
              <a:rPr sz="3100" spc="254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3100" spc="-10" dirty="0">
                <a:solidFill>
                  <a:srgbClr val="181818"/>
                </a:solidFill>
                <a:latin typeface="Arial MT"/>
                <a:cs typeface="Arial MT"/>
              </a:rPr>
              <a:t>Filter</a:t>
            </a:r>
            <a:endParaRPr sz="3100">
              <a:latin typeface="Arial MT"/>
              <a:cs typeface="Arial MT"/>
            </a:endParaRPr>
          </a:p>
          <a:p>
            <a:pPr algn="ctr">
              <a:lnSpc>
                <a:spcPts val="2630"/>
              </a:lnSpc>
              <a:spcBef>
                <a:spcPts val="980"/>
              </a:spcBef>
            </a:pPr>
            <a:r>
              <a:rPr sz="2300" spc="-160" dirty="0">
                <a:solidFill>
                  <a:srgbClr val="0A0A0A"/>
                </a:solidFill>
                <a:latin typeface="Arial MT"/>
                <a:cs typeface="Arial MT"/>
              </a:rPr>
              <a:t>Remove</a:t>
            </a:r>
            <a:r>
              <a:rPr sz="2300" spc="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2300" spc="-40" dirty="0">
                <a:solidFill>
                  <a:srgbClr val="0C0C0C"/>
                </a:solidFill>
                <a:latin typeface="Arial MT"/>
                <a:cs typeface="Arial MT"/>
              </a:rPr>
              <a:t>unwanted</a:t>
            </a:r>
            <a:endParaRPr sz="2300">
              <a:latin typeface="Arial MT"/>
              <a:cs typeface="Arial MT"/>
            </a:endParaRPr>
          </a:p>
          <a:p>
            <a:pPr algn="ctr">
              <a:lnSpc>
                <a:spcPts val="2510"/>
              </a:lnSpc>
            </a:pPr>
            <a:r>
              <a:rPr sz="2200" spc="-10" dirty="0">
                <a:latin typeface="Arial MT"/>
                <a:cs typeface="Arial MT"/>
              </a:rPr>
              <a:t>frequencies.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178984" y="5819775"/>
            <a:ext cx="1838960" cy="969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" algn="ctr">
              <a:lnSpc>
                <a:spcPts val="3610"/>
              </a:lnSpc>
              <a:spcBef>
                <a:spcPts val="125"/>
              </a:spcBef>
            </a:pPr>
            <a:r>
              <a:rPr sz="3100" spc="-10" dirty="0">
                <a:solidFill>
                  <a:srgbClr val="151515"/>
                </a:solidFill>
                <a:latin typeface="Arial MT"/>
                <a:cs typeface="Arial MT"/>
              </a:rPr>
              <a:t>Inverse</a:t>
            </a:r>
            <a:endParaRPr sz="3100">
              <a:latin typeface="Arial MT"/>
              <a:cs typeface="Arial MT"/>
            </a:endParaRPr>
          </a:p>
          <a:p>
            <a:pPr algn="ctr">
              <a:lnSpc>
                <a:spcPts val="3790"/>
              </a:lnSpc>
            </a:pPr>
            <a:r>
              <a:rPr sz="3250" spc="-55" dirty="0">
                <a:solidFill>
                  <a:srgbClr val="161616"/>
                </a:solidFill>
                <a:latin typeface="Arial MT"/>
                <a:cs typeface="Arial MT"/>
              </a:rPr>
              <a:t>Transform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901177" y="5775677"/>
            <a:ext cx="1254760" cy="101854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68580" marR="5080" indent="-56515">
              <a:lnSpc>
                <a:spcPts val="3650"/>
              </a:lnSpc>
              <a:spcBef>
                <a:spcPts val="650"/>
              </a:spcBef>
            </a:pPr>
            <a:r>
              <a:rPr sz="3450" spc="-125" dirty="0">
                <a:solidFill>
                  <a:srgbClr val="1A1A1A"/>
                </a:solidFill>
                <a:latin typeface="Arial MT"/>
                <a:cs typeface="Arial MT"/>
              </a:rPr>
              <a:t>Output </a:t>
            </a:r>
            <a:r>
              <a:rPr sz="3450" spc="-85" dirty="0">
                <a:solidFill>
                  <a:srgbClr val="1A1A1A"/>
                </a:solidFill>
                <a:latin typeface="Arial MT"/>
                <a:cs typeface="Arial MT"/>
              </a:rPr>
              <a:t>Image</a:t>
            </a:r>
            <a:endParaRPr sz="3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5245100"/>
            <a:ext cx="3517900" cy="1993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0200" y="3111500"/>
            <a:ext cx="5613400" cy="2057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94900" y="5245100"/>
            <a:ext cx="3530600" cy="19939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94900" y="3111500"/>
            <a:ext cx="5791200" cy="205740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8737600" y="1981200"/>
            <a:ext cx="0" cy="5372100"/>
          </a:xfrm>
          <a:custGeom>
            <a:avLst/>
            <a:gdLst/>
            <a:ahLst/>
            <a:cxnLst/>
            <a:rect l="l" t="t" r="r" b="b"/>
            <a:pathLst>
              <a:path h="5372100">
                <a:moveTo>
                  <a:pt x="0" y="5372100"/>
                </a:moveTo>
                <a:lnTo>
                  <a:pt x="0" y="0"/>
                </a:lnTo>
              </a:path>
            </a:pathLst>
          </a:custGeom>
          <a:ln w="25400">
            <a:solidFill>
              <a:srgbClr val="2323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217415" y="345016"/>
            <a:ext cx="11000105" cy="1104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50" spc="-450" dirty="0">
                <a:solidFill>
                  <a:srgbClr val="1A1A1A"/>
                </a:solidFill>
              </a:rPr>
              <a:t>The</a:t>
            </a:r>
            <a:r>
              <a:rPr sz="7050" spc="-220" dirty="0">
                <a:solidFill>
                  <a:srgbClr val="1A1A1A"/>
                </a:solidFill>
              </a:rPr>
              <a:t> </a:t>
            </a:r>
            <a:r>
              <a:rPr sz="7050" spc="-380" dirty="0">
                <a:solidFill>
                  <a:srgbClr val="1A1A1A"/>
                </a:solidFill>
              </a:rPr>
              <a:t>Tools</a:t>
            </a:r>
            <a:r>
              <a:rPr sz="7050" spc="-114" dirty="0">
                <a:solidFill>
                  <a:srgbClr val="1A1A1A"/>
                </a:solidFill>
              </a:rPr>
              <a:t> </a:t>
            </a:r>
            <a:r>
              <a:rPr sz="7050" dirty="0">
                <a:solidFill>
                  <a:srgbClr val="232323"/>
                </a:solidFill>
              </a:rPr>
              <a:t>of</a:t>
            </a:r>
            <a:r>
              <a:rPr sz="7050" spc="-360" dirty="0">
                <a:solidFill>
                  <a:srgbClr val="232323"/>
                </a:solidFill>
              </a:rPr>
              <a:t> </a:t>
            </a:r>
            <a:r>
              <a:rPr sz="7050" spc="-135" dirty="0">
                <a:solidFill>
                  <a:srgbClr val="1A1A1A"/>
                </a:solidFill>
              </a:rPr>
              <a:t>the</a:t>
            </a:r>
            <a:r>
              <a:rPr sz="7050" spc="-355" dirty="0">
                <a:solidFill>
                  <a:srgbClr val="1A1A1A"/>
                </a:solidFill>
              </a:rPr>
              <a:t> </a:t>
            </a:r>
            <a:r>
              <a:rPr sz="7050" spc="-420" dirty="0">
                <a:solidFill>
                  <a:srgbClr val="1A1A1A"/>
                </a:solidFill>
              </a:rPr>
              <a:t>Trade:</a:t>
            </a:r>
            <a:r>
              <a:rPr sz="7050" spc="-70" dirty="0">
                <a:solidFill>
                  <a:srgbClr val="1A1A1A"/>
                </a:solidFill>
              </a:rPr>
              <a:t> </a:t>
            </a:r>
            <a:r>
              <a:rPr sz="7050" spc="-114" dirty="0">
                <a:solidFill>
                  <a:srgbClr val="1A1A1A"/>
                </a:solidFill>
              </a:rPr>
              <a:t>Filters</a:t>
            </a:r>
            <a:endParaRPr sz="7050"/>
          </a:p>
        </p:txBody>
      </p:sp>
      <p:sp>
        <p:nvSpPr>
          <p:cNvPr id="8" name="object 8"/>
          <p:cNvSpPr txBox="1"/>
          <p:nvPr/>
        </p:nvSpPr>
        <p:spPr>
          <a:xfrm>
            <a:off x="624416" y="2017183"/>
            <a:ext cx="7810500" cy="7137400"/>
          </a:xfrm>
          <a:prstGeom prst="rect">
            <a:avLst/>
          </a:prstGeom>
          <a:ln w="21166">
            <a:solidFill>
              <a:srgbClr val="282828"/>
            </a:solidFill>
          </a:ln>
        </p:spPr>
        <p:txBody>
          <a:bodyPr vert="horz" wrap="square" lIns="0" tIns="147955" rIns="0" bIns="0" rtlCol="0">
            <a:spAutoFit/>
          </a:bodyPr>
          <a:lstStyle/>
          <a:p>
            <a:pPr marL="8890" algn="ctr">
              <a:lnSpc>
                <a:spcPct val="100000"/>
              </a:lnSpc>
              <a:spcBef>
                <a:spcPts val="1165"/>
              </a:spcBef>
            </a:pPr>
            <a:r>
              <a:rPr sz="3800" spc="-35" dirty="0">
                <a:latin typeface="Cambria"/>
                <a:cs typeface="Cambria"/>
              </a:rPr>
              <a:t>Low-</a:t>
            </a:r>
            <a:r>
              <a:rPr sz="3800" dirty="0">
                <a:latin typeface="Cambria"/>
                <a:cs typeface="Cambria"/>
              </a:rPr>
              <a:t>Pass</a:t>
            </a:r>
            <a:r>
              <a:rPr sz="3800" spc="160" dirty="0">
                <a:latin typeface="Cambria"/>
                <a:cs typeface="Cambria"/>
              </a:rPr>
              <a:t> </a:t>
            </a:r>
            <a:r>
              <a:rPr sz="3800" spc="-10" dirty="0">
                <a:latin typeface="Cambria"/>
                <a:cs typeface="Cambria"/>
              </a:rPr>
              <a:t>Filter</a:t>
            </a:r>
            <a:endParaRPr sz="38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38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38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38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38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38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38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3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620"/>
              </a:spcBef>
            </a:pPr>
            <a:endParaRPr sz="3800">
              <a:latin typeface="Cambria"/>
              <a:cs typeface="Cambria"/>
            </a:endParaRPr>
          </a:p>
          <a:p>
            <a:pPr marL="266065" marR="280035" indent="-3175">
              <a:lnSpc>
                <a:spcPts val="3600"/>
              </a:lnSpc>
              <a:tabLst>
                <a:tab pos="6327775" algn="l"/>
              </a:tabLst>
            </a:pPr>
            <a:r>
              <a:rPr sz="3100" spc="-100" dirty="0">
                <a:latin typeface="Cambria"/>
                <a:cs typeface="Cambria"/>
              </a:rPr>
              <a:t>Allows</a:t>
            </a:r>
            <a:r>
              <a:rPr sz="3100" spc="-75" dirty="0">
                <a:latin typeface="Cambria"/>
                <a:cs typeface="Cambria"/>
              </a:rPr>
              <a:t> </a:t>
            </a:r>
            <a:r>
              <a:rPr sz="3100" spc="-150" dirty="0">
                <a:latin typeface="Cambria"/>
                <a:cs typeface="Cambria"/>
              </a:rPr>
              <a:t>low</a:t>
            </a:r>
            <a:r>
              <a:rPr sz="3100" spc="-90" dirty="0">
                <a:latin typeface="Cambria"/>
                <a:cs typeface="Cambria"/>
              </a:rPr>
              <a:t> </a:t>
            </a:r>
            <a:r>
              <a:rPr sz="3100" spc="-65" dirty="0">
                <a:latin typeface="Cambria"/>
                <a:cs typeface="Cambria"/>
              </a:rPr>
              <a:t>frequencies</a:t>
            </a:r>
            <a:r>
              <a:rPr sz="3100" dirty="0">
                <a:latin typeface="Cambria"/>
                <a:cs typeface="Cambria"/>
              </a:rPr>
              <a:t> </a:t>
            </a:r>
            <a:r>
              <a:rPr sz="3100" spc="-10" dirty="0">
                <a:latin typeface="Cambria"/>
                <a:cs typeface="Cambria"/>
              </a:rPr>
              <a:t>(smoothness)</a:t>
            </a:r>
            <a:r>
              <a:rPr sz="3100" dirty="0">
                <a:latin typeface="Cambria"/>
                <a:cs typeface="Cambria"/>
              </a:rPr>
              <a:t>	</a:t>
            </a:r>
            <a:r>
              <a:rPr sz="3100" spc="-90" dirty="0">
                <a:latin typeface="Cambria"/>
                <a:cs typeface="Cambria"/>
              </a:rPr>
              <a:t>to</a:t>
            </a:r>
            <a:r>
              <a:rPr sz="3100" spc="-85" dirty="0">
                <a:latin typeface="Cambria"/>
                <a:cs typeface="Cambria"/>
              </a:rPr>
              <a:t> </a:t>
            </a:r>
            <a:r>
              <a:rPr sz="3100" spc="-70" dirty="0">
                <a:latin typeface="Cambria"/>
                <a:cs typeface="Cambria"/>
              </a:rPr>
              <a:t>pass. Blocks</a:t>
            </a:r>
            <a:r>
              <a:rPr sz="3100" spc="-85" dirty="0">
                <a:latin typeface="Cambria"/>
                <a:cs typeface="Cambria"/>
              </a:rPr>
              <a:t> </a:t>
            </a:r>
            <a:r>
              <a:rPr sz="3100" spc="-10" dirty="0">
                <a:latin typeface="Cambria"/>
                <a:cs typeface="Cambria"/>
              </a:rPr>
              <a:t>high</a:t>
            </a:r>
            <a:r>
              <a:rPr sz="3100" spc="-120" dirty="0">
                <a:latin typeface="Cambria"/>
                <a:cs typeface="Cambria"/>
              </a:rPr>
              <a:t> </a:t>
            </a:r>
            <a:r>
              <a:rPr sz="3100" spc="-10" dirty="0">
                <a:latin typeface="Cambria"/>
                <a:cs typeface="Cambria"/>
              </a:rPr>
              <a:t>frequencies.</a:t>
            </a:r>
            <a:endParaRPr sz="3100">
              <a:latin typeface="Cambria"/>
              <a:cs typeface="Cambria"/>
            </a:endParaRPr>
          </a:p>
          <a:p>
            <a:pPr marL="266065">
              <a:lnSpc>
                <a:spcPts val="3700"/>
              </a:lnSpc>
            </a:pPr>
            <a:r>
              <a:rPr sz="3100" spc="-90" dirty="0">
                <a:latin typeface="Cambria"/>
                <a:cs typeface="Cambria"/>
              </a:rPr>
              <a:t>Result:</a:t>
            </a:r>
            <a:r>
              <a:rPr sz="3100" spc="-85" dirty="0">
                <a:latin typeface="Cambria"/>
                <a:cs typeface="Cambria"/>
              </a:rPr>
              <a:t> </a:t>
            </a:r>
            <a:r>
              <a:rPr sz="3100" spc="-70" dirty="0">
                <a:latin typeface="Cambria"/>
                <a:cs typeface="Cambria"/>
              </a:rPr>
              <a:t>Blurring</a:t>
            </a:r>
            <a:r>
              <a:rPr sz="3100" spc="100" dirty="0">
                <a:latin typeface="Cambria"/>
                <a:cs typeface="Cambria"/>
              </a:rPr>
              <a:t> </a:t>
            </a:r>
            <a:r>
              <a:rPr sz="3100" spc="-535" dirty="0">
                <a:latin typeface="Cambria"/>
                <a:cs typeface="Cambria"/>
              </a:rPr>
              <a:t>/</a:t>
            </a:r>
            <a:r>
              <a:rPr sz="3100" spc="35" dirty="0">
                <a:latin typeface="Cambria"/>
                <a:cs typeface="Cambria"/>
              </a:rPr>
              <a:t> </a:t>
            </a:r>
            <a:r>
              <a:rPr sz="3100" spc="-45" dirty="0">
                <a:latin typeface="Cambria"/>
                <a:cs typeface="Cambria"/>
              </a:rPr>
              <a:t>Noise</a:t>
            </a:r>
            <a:r>
              <a:rPr sz="3100" spc="-130" dirty="0">
                <a:latin typeface="Cambria"/>
                <a:cs typeface="Cambria"/>
              </a:rPr>
              <a:t> </a:t>
            </a:r>
            <a:r>
              <a:rPr sz="3100" spc="-10" dirty="0">
                <a:latin typeface="Cambria"/>
                <a:cs typeface="Cambria"/>
              </a:rPr>
              <a:t>Removal.</a:t>
            </a:r>
            <a:endParaRPr sz="31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81016" y="2017183"/>
            <a:ext cx="7810500" cy="7137400"/>
          </a:xfrm>
          <a:prstGeom prst="rect">
            <a:avLst/>
          </a:prstGeom>
          <a:ln w="21166">
            <a:solidFill>
              <a:srgbClr val="28282B"/>
            </a:solidFill>
          </a:ln>
        </p:spPr>
        <p:txBody>
          <a:bodyPr vert="horz" wrap="square" lIns="0" tIns="154305" rIns="0" bIns="0" rtlCol="0">
            <a:spAutoFit/>
          </a:bodyPr>
          <a:lstStyle/>
          <a:p>
            <a:pPr marL="128905" algn="ctr">
              <a:lnSpc>
                <a:spcPct val="100000"/>
              </a:lnSpc>
              <a:spcBef>
                <a:spcPts val="1215"/>
              </a:spcBef>
            </a:pPr>
            <a:r>
              <a:rPr sz="3750" spc="65" dirty="0">
                <a:latin typeface="Cambria"/>
                <a:cs typeface="Cambria"/>
              </a:rPr>
              <a:t>High-Pass</a:t>
            </a:r>
            <a:r>
              <a:rPr sz="3750" spc="195" dirty="0">
                <a:latin typeface="Cambria"/>
                <a:cs typeface="Cambria"/>
              </a:rPr>
              <a:t> </a:t>
            </a:r>
            <a:r>
              <a:rPr sz="3750" spc="-10" dirty="0">
                <a:latin typeface="Cambria"/>
                <a:cs typeface="Cambria"/>
              </a:rPr>
              <a:t>Filter</a:t>
            </a:r>
            <a:endParaRPr sz="37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37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37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37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37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37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37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37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100"/>
              </a:spcBef>
            </a:pPr>
            <a:endParaRPr sz="3750">
              <a:latin typeface="Cambria"/>
              <a:cs typeface="Cambria"/>
            </a:endParaRPr>
          </a:p>
          <a:p>
            <a:pPr marL="431165" marR="982980" indent="9525">
              <a:lnSpc>
                <a:spcPts val="3600"/>
              </a:lnSpc>
            </a:pPr>
            <a:r>
              <a:rPr sz="3100" spc="-120" dirty="0">
                <a:latin typeface="Cambria"/>
                <a:cs typeface="Cambria"/>
              </a:rPr>
              <a:t>Allows</a:t>
            </a:r>
            <a:r>
              <a:rPr sz="3100" spc="-55" dirty="0">
                <a:latin typeface="Cambria"/>
                <a:cs typeface="Cambria"/>
              </a:rPr>
              <a:t> </a:t>
            </a:r>
            <a:r>
              <a:rPr sz="3100" spc="-10" dirty="0">
                <a:latin typeface="Cambria"/>
                <a:cs typeface="Cambria"/>
              </a:rPr>
              <a:t>high</a:t>
            </a:r>
            <a:r>
              <a:rPr sz="3100" spc="-160" dirty="0">
                <a:latin typeface="Cambria"/>
                <a:cs typeface="Cambria"/>
              </a:rPr>
              <a:t> </a:t>
            </a:r>
            <a:r>
              <a:rPr sz="3100" spc="-65" dirty="0">
                <a:latin typeface="Cambria"/>
                <a:cs typeface="Cambria"/>
              </a:rPr>
              <a:t>frequencies</a:t>
            </a:r>
            <a:r>
              <a:rPr sz="3100" spc="15" dirty="0">
                <a:latin typeface="Cambria"/>
                <a:cs typeface="Cambria"/>
              </a:rPr>
              <a:t> </a:t>
            </a:r>
            <a:r>
              <a:rPr sz="3100" spc="-114" dirty="0">
                <a:latin typeface="Cambria"/>
                <a:cs typeface="Cambria"/>
              </a:rPr>
              <a:t>(edges)</a:t>
            </a:r>
            <a:r>
              <a:rPr sz="3100" spc="-60" dirty="0">
                <a:latin typeface="Cambria"/>
                <a:cs typeface="Cambria"/>
              </a:rPr>
              <a:t> </a:t>
            </a:r>
            <a:r>
              <a:rPr sz="3100" dirty="0">
                <a:latin typeface="Cambria"/>
                <a:cs typeface="Cambria"/>
              </a:rPr>
              <a:t>to</a:t>
            </a:r>
            <a:r>
              <a:rPr sz="3100" spc="-120" dirty="0">
                <a:latin typeface="Cambria"/>
                <a:cs typeface="Cambria"/>
              </a:rPr>
              <a:t> </a:t>
            </a:r>
            <a:r>
              <a:rPr sz="3100" spc="-35" dirty="0">
                <a:latin typeface="Cambria"/>
                <a:cs typeface="Cambria"/>
              </a:rPr>
              <a:t>pass. </a:t>
            </a:r>
            <a:r>
              <a:rPr sz="3100" spc="-45" dirty="0">
                <a:latin typeface="Cambria"/>
                <a:cs typeface="Cambria"/>
              </a:rPr>
              <a:t>Blocks</a:t>
            </a:r>
            <a:r>
              <a:rPr sz="3100" spc="-114" dirty="0">
                <a:latin typeface="Cambria"/>
                <a:cs typeface="Cambria"/>
              </a:rPr>
              <a:t> </a:t>
            </a:r>
            <a:r>
              <a:rPr sz="3100" spc="-135" dirty="0">
                <a:latin typeface="Cambria"/>
                <a:cs typeface="Cambria"/>
              </a:rPr>
              <a:t>low</a:t>
            </a:r>
            <a:r>
              <a:rPr sz="3100" spc="-40" dirty="0">
                <a:latin typeface="Cambria"/>
                <a:cs typeface="Cambria"/>
              </a:rPr>
              <a:t> </a:t>
            </a:r>
            <a:r>
              <a:rPr sz="3100" spc="-10" dirty="0">
                <a:latin typeface="Cambria"/>
                <a:cs typeface="Cambria"/>
              </a:rPr>
              <a:t>frequencies.</a:t>
            </a:r>
            <a:endParaRPr sz="3100">
              <a:latin typeface="Cambria"/>
              <a:cs typeface="Cambria"/>
            </a:endParaRPr>
          </a:p>
          <a:p>
            <a:pPr marL="431165">
              <a:lnSpc>
                <a:spcPts val="3700"/>
              </a:lnSpc>
            </a:pPr>
            <a:r>
              <a:rPr sz="3100" spc="-65" dirty="0">
                <a:latin typeface="Cambria"/>
                <a:cs typeface="Cambria"/>
              </a:rPr>
              <a:t>Result:</a:t>
            </a:r>
            <a:r>
              <a:rPr sz="3100" spc="-110" dirty="0">
                <a:latin typeface="Cambria"/>
                <a:cs typeface="Cambria"/>
              </a:rPr>
              <a:t> </a:t>
            </a:r>
            <a:r>
              <a:rPr sz="3100" spc="-75" dirty="0">
                <a:latin typeface="Cambria"/>
                <a:cs typeface="Cambria"/>
              </a:rPr>
              <a:t>Edge</a:t>
            </a:r>
            <a:r>
              <a:rPr sz="3100" spc="-95" dirty="0">
                <a:latin typeface="Cambria"/>
                <a:cs typeface="Cambria"/>
              </a:rPr>
              <a:t> </a:t>
            </a:r>
            <a:r>
              <a:rPr sz="3100" spc="-20" dirty="0">
                <a:latin typeface="Cambria"/>
                <a:cs typeface="Cambria"/>
              </a:rPr>
              <a:t>Detection</a:t>
            </a:r>
            <a:r>
              <a:rPr sz="3100" spc="-25" dirty="0">
                <a:latin typeface="Cambria"/>
                <a:cs typeface="Cambria"/>
              </a:rPr>
              <a:t> </a:t>
            </a:r>
            <a:r>
              <a:rPr sz="3100" spc="-535" dirty="0">
                <a:latin typeface="Cambria"/>
                <a:cs typeface="Cambria"/>
              </a:rPr>
              <a:t>/</a:t>
            </a:r>
            <a:r>
              <a:rPr sz="3100" spc="45" dirty="0">
                <a:latin typeface="Cambria"/>
                <a:cs typeface="Cambria"/>
              </a:rPr>
              <a:t> </a:t>
            </a:r>
            <a:r>
              <a:rPr sz="3100" spc="-10" dirty="0">
                <a:latin typeface="Cambria"/>
                <a:cs typeface="Cambria"/>
              </a:rPr>
              <a:t>Sharpening.</a:t>
            </a:r>
            <a:endParaRPr sz="3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14400" y="3365500"/>
            <a:ext cx="15621000" cy="3073400"/>
            <a:chOff x="914400" y="3365500"/>
            <a:chExt cx="15621000" cy="3073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00" y="3365500"/>
              <a:ext cx="15621000" cy="3073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5400" y="5638800"/>
              <a:ext cx="685800" cy="2159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1600" y="5854700"/>
              <a:ext cx="520700" cy="241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5400" y="5638800"/>
              <a:ext cx="685800" cy="2159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1600" y="5854700"/>
              <a:ext cx="520700" cy="241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95400" y="5651500"/>
              <a:ext cx="685800" cy="66040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18837" y="646641"/>
            <a:ext cx="12501245" cy="1200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700" spc="470" dirty="0">
                <a:solidFill>
                  <a:srgbClr val="1C1C1C"/>
                </a:solidFill>
                <a:latin typeface="Calibri"/>
                <a:cs typeface="Calibri"/>
              </a:rPr>
              <a:t>Case</a:t>
            </a:r>
            <a:r>
              <a:rPr sz="7700" spc="-48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7700" spc="90" dirty="0">
                <a:solidFill>
                  <a:srgbClr val="1C1C1C"/>
                </a:solidFill>
                <a:latin typeface="Calibri"/>
                <a:cs typeface="Calibri"/>
              </a:rPr>
              <a:t>Study:</a:t>
            </a:r>
            <a:r>
              <a:rPr sz="7700" spc="-16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7700" spc="150" dirty="0">
                <a:solidFill>
                  <a:srgbClr val="1A1A1A"/>
                </a:solidFill>
                <a:latin typeface="Calibri"/>
                <a:cs typeface="Calibri"/>
              </a:rPr>
              <a:t>The</a:t>
            </a:r>
            <a:r>
              <a:rPr sz="7700" spc="-51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7700" spc="60" dirty="0">
                <a:solidFill>
                  <a:srgbClr val="1A1A1A"/>
                </a:solidFill>
                <a:latin typeface="Calibri"/>
                <a:cs typeface="Calibri"/>
              </a:rPr>
              <a:t>Robot's</a:t>
            </a:r>
            <a:r>
              <a:rPr sz="7700" spc="-24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7700" spc="80" dirty="0">
                <a:solidFill>
                  <a:srgbClr val="1C1C1C"/>
                </a:solidFill>
                <a:latin typeface="Calibri"/>
                <a:cs typeface="Calibri"/>
              </a:rPr>
              <a:t>Vision</a:t>
            </a:r>
            <a:endParaRPr sz="77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06778" y="5750277"/>
            <a:ext cx="1513205" cy="6775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ts val="2495"/>
              </a:lnSpc>
              <a:spcBef>
                <a:spcPts val="120"/>
              </a:spcBef>
            </a:pPr>
            <a:r>
              <a:rPr sz="2200" spc="-60" dirty="0">
                <a:latin typeface="Cambria"/>
                <a:cs typeface="Cambria"/>
              </a:rPr>
              <a:t>Noisy/Blurry</a:t>
            </a:r>
            <a:endParaRPr sz="2200">
              <a:latin typeface="Cambria"/>
              <a:cs typeface="Cambria"/>
            </a:endParaRPr>
          </a:p>
          <a:p>
            <a:pPr marL="12700" algn="ctr">
              <a:lnSpc>
                <a:spcPts val="2615"/>
              </a:lnSpc>
            </a:pPr>
            <a:r>
              <a:rPr sz="2300" spc="-20" dirty="0">
                <a:latin typeface="Cambria"/>
                <a:cs typeface="Cambria"/>
              </a:rPr>
              <a:t>View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17269" y="4176536"/>
            <a:ext cx="1125855" cy="6076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56515" algn="ctr">
              <a:lnSpc>
                <a:spcPts val="2250"/>
              </a:lnSpc>
              <a:spcBef>
                <a:spcPts val="110"/>
              </a:spcBef>
            </a:pPr>
            <a:r>
              <a:rPr sz="2000" spc="-20" dirty="0">
                <a:latin typeface="Cambria"/>
                <a:cs typeface="Cambria"/>
              </a:rPr>
              <a:t>rati</a:t>
            </a:r>
            <a:endParaRPr sz="2000">
              <a:latin typeface="Cambria"/>
              <a:cs typeface="Cambria"/>
            </a:endParaRPr>
          </a:p>
          <a:p>
            <a:pPr algn="ctr">
              <a:lnSpc>
                <a:spcPts val="2310"/>
              </a:lnSpc>
            </a:pPr>
            <a:r>
              <a:rPr sz="2050" spc="-60" dirty="0">
                <a:latin typeface="Cambria"/>
                <a:cs typeface="Cambria"/>
              </a:rPr>
              <a:t>Frequency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77505" y="5741458"/>
            <a:ext cx="1955800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00" spc="-95" dirty="0">
                <a:latin typeface="Cambria"/>
                <a:cs typeface="Cambria"/>
              </a:rPr>
              <a:t>Fourier</a:t>
            </a:r>
            <a:r>
              <a:rPr sz="2300" spc="25" dirty="0">
                <a:latin typeface="Cambria"/>
                <a:cs typeface="Cambria"/>
              </a:rPr>
              <a:t> </a:t>
            </a:r>
            <a:r>
              <a:rPr sz="2300" spc="-40" dirty="0">
                <a:latin typeface="Cambria"/>
                <a:cs typeface="Cambria"/>
              </a:rPr>
              <a:t>Analysis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210174" y="5741458"/>
            <a:ext cx="1414145" cy="687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2580"/>
              </a:lnSpc>
              <a:spcBef>
                <a:spcPts val="90"/>
              </a:spcBef>
            </a:pPr>
            <a:r>
              <a:rPr sz="2300" spc="-25" dirty="0">
                <a:latin typeface="Cambria"/>
                <a:cs typeface="Cambria"/>
              </a:rPr>
              <a:t>Notch</a:t>
            </a:r>
            <a:r>
              <a:rPr sz="2300" spc="-90" dirty="0">
                <a:latin typeface="Cambria"/>
                <a:cs typeface="Cambria"/>
              </a:rPr>
              <a:t> </a:t>
            </a:r>
            <a:r>
              <a:rPr sz="2300" spc="-75" dirty="0">
                <a:latin typeface="Cambria"/>
                <a:cs typeface="Cambria"/>
              </a:rPr>
              <a:t>Filter</a:t>
            </a:r>
            <a:endParaRPr sz="2300">
              <a:latin typeface="Cambria"/>
              <a:cs typeface="Cambria"/>
            </a:endParaRPr>
          </a:p>
          <a:p>
            <a:pPr marR="8890" algn="ctr">
              <a:lnSpc>
                <a:spcPts val="2640"/>
              </a:lnSpc>
            </a:pPr>
            <a:r>
              <a:rPr sz="2350" spc="-10" dirty="0">
                <a:latin typeface="Cambria"/>
                <a:cs typeface="Cambria"/>
              </a:rPr>
              <a:t>applied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729857" y="4220986"/>
            <a:ext cx="1087120" cy="61214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 indent="158115">
              <a:lnSpc>
                <a:spcPts val="2200"/>
              </a:lnSpc>
              <a:spcBef>
                <a:spcPts val="350"/>
              </a:spcBef>
            </a:pPr>
            <a:r>
              <a:rPr sz="2000" spc="-10" dirty="0">
                <a:latin typeface="Cambria"/>
                <a:cs typeface="Cambria"/>
              </a:rPr>
              <a:t>Inverse </a:t>
            </a:r>
            <a:r>
              <a:rPr sz="2000" spc="-95" dirty="0">
                <a:latin typeface="Cambria"/>
                <a:cs typeface="Cambria"/>
              </a:rPr>
              <a:t>Transform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702904" y="5743927"/>
            <a:ext cx="1324610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dirty="0">
                <a:latin typeface="Cambria"/>
                <a:cs typeface="Cambria"/>
              </a:rPr>
              <a:t>Clear</a:t>
            </a:r>
            <a:r>
              <a:rPr sz="2200" spc="260" dirty="0">
                <a:latin typeface="Cambria"/>
                <a:cs typeface="Cambria"/>
              </a:rPr>
              <a:t> </a:t>
            </a:r>
            <a:r>
              <a:rPr sz="2200" spc="-30" dirty="0">
                <a:latin typeface="Cambria"/>
                <a:cs typeface="Cambria"/>
              </a:rPr>
              <a:t>View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5182" y="7265810"/>
            <a:ext cx="14610080" cy="152019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0955" marR="5080" indent="-8890">
              <a:lnSpc>
                <a:spcPts val="5600"/>
              </a:lnSpc>
              <a:spcBef>
                <a:spcPts val="755"/>
              </a:spcBef>
            </a:pPr>
            <a:r>
              <a:rPr sz="5100" dirty="0">
                <a:solidFill>
                  <a:srgbClr val="1C1C1C"/>
                </a:solidFill>
                <a:latin typeface="Cambria"/>
                <a:cs typeface="Cambria"/>
              </a:rPr>
              <a:t>A</a:t>
            </a:r>
            <a:r>
              <a:rPr sz="5100" spc="-285" dirty="0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sz="5100" spc="-80" dirty="0">
                <a:solidFill>
                  <a:srgbClr val="0F0F0F"/>
                </a:solidFill>
                <a:latin typeface="Cambria"/>
                <a:cs typeface="Cambria"/>
              </a:rPr>
              <a:t>vibrating</a:t>
            </a:r>
            <a:r>
              <a:rPr sz="5100" spc="-200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5100" spc="-160" dirty="0">
                <a:solidFill>
                  <a:srgbClr val="111111"/>
                </a:solidFill>
                <a:latin typeface="Cambria"/>
                <a:cs typeface="Cambria"/>
              </a:rPr>
              <a:t>robot</a:t>
            </a:r>
            <a:r>
              <a:rPr sz="5100" spc="-12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5100" spc="-75" dirty="0">
                <a:solidFill>
                  <a:srgbClr val="131313"/>
                </a:solidFill>
                <a:latin typeface="Cambria"/>
                <a:cs typeface="Cambria"/>
              </a:rPr>
              <a:t>camera</a:t>
            </a:r>
            <a:r>
              <a:rPr sz="5100" spc="-14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5100" spc="-114" dirty="0">
                <a:solidFill>
                  <a:srgbClr val="0F0F0F"/>
                </a:solidFill>
                <a:latin typeface="Cambria"/>
                <a:cs typeface="Cambria"/>
              </a:rPr>
              <a:t>creates</a:t>
            </a:r>
            <a:r>
              <a:rPr sz="5100" spc="-140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5100" spc="-70" dirty="0">
                <a:solidFill>
                  <a:srgbClr val="0F0F0F"/>
                </a:solidFill>
                <a:latin typeface="Cambria"/>
                <a:cs typeface="Cambria"/>
              </a:rPr>
              <a:t>noise.</a:t>
            </a:r>
            <a:r>
              <a:rPr sz="5100" spc="-210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5100" spc="-330" dirty="0">
                <a:solidFill>
                  <a:srgbClr val="0F0F0F"/>
                </a:solidFill>
                <a:latin typeface="Cambria"/>
                <a:cs typeface="Cambria"/>
              </a:rPr>
              <a:t>We</a:t>
            </a:r>
            <a:r>
              <a:rPr sz="5100" spc="-65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5100" spc="-55" dirty="0">
                <a:solidFill>
                  <a:srgbClr val="0E0E0E"/>
                </a:solidFill>
                <a:latin typeface="Cambria"/>
                <a:cs typeface="Cambria"/>
              </a:rPr>
              <a:t>identify</a:t>
            </a:r>
            <a:r>
              <a:rPr sz="5100" spc="85" dirty="0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sz="5100" spc="-25" dirty="0">
                <a:solidFill>
                  <a:srgbClr val="0F0F0F"/>
                </a:solidFill>
                <a:latin typeface="Cambria"/>
                <a:cs typeface="Cambria"/>
              </a:rPr>
              <a:t>the </a:t>
            </a:r>
            <a:r>
              <a:rPr sz="5100" spc="-125" dirty="0">
                <a:solidFill>
                  <a:srgbClr val="0C0C0C"/>
                </a:solidFill>
                <a:latin typeface="Cambria"/>
                <a:cs typeface="Cambria"/>
              </a:rPr>
              <a:t>vibration</a:t>
            </a:r>
            <a:r>
              <a:rPr sz="5100" spc="-1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5100" spc="-95" dirty="0">
                <a:solidFill>
                  <a:srgbClr val="0C0C0C"/>
                </a:solidFill>
                <a:latin typeface="Cambria"/>
                <a:cs typeface="Cambria"/>
              </a:rPr>
              <a:t>frequency,</a:t>
            </a:r>
            <a:r>
              <a:rPr sz="5100" spc="7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5100" spc="-175" dirty="0">
                <a:solidFill>
                  <a:srgbClr val="0F0F0F"/>
                </a:solidFill>
                <a:latin typeface="Cambria"/>
                <a:cs typeface="Cambria"/>
              </a:rPr>
              <a:t>remove</a:t>
            </a:r>
            <a:r>
              <a:rPr sz="5100" spc="-20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5100" dirty="0">
                <a:solidFill>
                  <a:srgbClr val="0A0A0A"/>
                </a:solidFill>
                <a:latin typeface="Cambria"/>
                <a:cs typeface="Cambria"/>
              </a:rPr>
              <a:t>it,</a:t>
            </a:r>
            <a:r>
              <a:rPr sz="5100" spc="-185" dirty="0">
                <a:solidFill>
                  <a:srgbClr val="0A0A0A"/>
                </a:solidFill>
                <a:latin typeface="Cambria"/>
                <a:cs typeface="Cambria"/>
              </a:rPr>
              <a:t> </a:t>
            </a:r>
            <a:r>
              <a:rPr sz="5100" spc="-100" dirty="0">
                <a:solidFill>
                  <a:srgbClr val="151515"/>
                </a:solidFill>
                <a:latin typeface="Cambria"/>
                <a:cs typeface="Cambria"/>
              </a:rPr>
              <a:t>and</a:t>
            </a:r>
            <a:r>
              <a:rPr sz="5100" spc="-180" dirty="0">
                <a:solidFill>
                  <a:srgbClr val="151515"/>
                </a:solidFill>
                <a:latin typeface="Cambria"/>
                <a:cs typeface="Cambria"/>
              </a:rPr>
              <a:t> </a:t>
            </a:r>
            <a:r>
              <a:rPr sz="5100" spc="-150" dirty="0">
                <a:solidFill>
                  <a:srgbClr val="0F0F0F"/>
                </a:solidFill>
                <a:latin typeface="Cambria"/>
                <a:cs typeface="Cambria"/>
              </a:rPr>
              <a:t>restore</a:t>
            </a:r>
            <a:r>
              <a:rPr sz="5100" spc="-65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5100" spc="-100" dirty="0">
                <a:solidFill>
                  <a:srgbClr val="111111"/>
                </a:solidFill>
                <a:latin typeface="Cambria"/>
                <a:cs typeface="Cambria"/>
              </a:rPr>
              <a:t>the</a:t>
            </a:r>
            <a:r>
              <a:rPr sz="5100" spc="-18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5100" spc="-10" dirty="0">
                <a:solidFill>
                  <a:srgbClr val="131313"/>
                </a:solidFill>
                <a:latin typeface="Cambria"/>
                <a:cs typeface="Cambria"/>
              </a:rPr>
              <a:t>video.</a:t>
            </a:r>
            <a:endParaRPr sz="5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7900" y="7073900"/>
            <a:ext cx="1816100" cy="1371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8500" y="6946900"/>
            <a:ext cx="1206500" cy="1625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3300" y="3848100"/>
            <a:ext cx="1752600" cy="1676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10700" y="3987800"/>
            <a:ext cx="1562100" cy="14097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94405" y="472722"/>
            <a:ext cx="8342630" cy="21469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8125"/>
              </a:lnSpc>
              <a:spcBef>
                <a:spcPts val="125"/>
              </a:spcBef>
            </a:pPr>
            <a:r>
              <a:rPr sz="7750" dirty="0">
                <a:solidFill>
                  <a:srgbClr val="1A1A1A"/>
                </a:solidFill>
                <a:latin typeface="Calibri"/>
                <a:cs typeface="Calibri"/>
              </a:rPr>
              <a:t>Why</a:t>
            </a:r>
            <a:r>
              <a:rPr sz="7750" spc="-5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7750" spc="120" dirty="0">
                <a:solidFill>
                  <a:srgbClr val="1A1A1A"/>
                </a:solidFill>
                <a:latin typeface="Calibri"/>
                <a:cs typeface="Calibri"/>
              </a:rPr>
              <a:t>This</a:t>
            </a:r>
            <a:r>
              <a:rPr sz="7750" spc="-459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7750" dirty="0">
                <a:solidFill>
                  <a:srgbClr val="181818"/>
                </a:solidFill>
                <a:latin typeface="Calibri"/>
                <a:cs typeface="Calibri"/>
              </a:rPr>
              <a:t>Mahers</a:t>
            </a:r>
            <a:r>
              <a:rPr sz="7750" spc="1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7750" spc="-25" dirty="0">
                <a:solidFill>
                  <a:srgbClr val="1C1C1C"/>
                </a:solidFill>
                <a:latin typeface="Calibri"/>
                <a:cs typeface="Calibri"/>
              </a:rPr>
              <a:t>for</a:t>
            </a:r>
            <a:endParaRPr sz="7750">
              <a:latin typeface="Calibri"/>
              <a:cs typeface="Calibri"/>
            </a:endParaRPr>
          </a:p>
          <a:p>
            <a:pPr marL="18415">
              <a:lnSpc>
                <a:spcPts val="8545"/>
              </a:lnSpc>
            </a:pPr>
            <a:r>
              <a:rPr sz="8100" spc="-145" dirty="0">
                <a:solidFill>
                  <a:srgbClr val="1A1A1A"/>
                </a:solidFill>
                <a:latin typeface="Calibri"/>
                <a:cs typeface="Calibri"/>
              </a:rPr>
              <a:t>Computer</a:t>
            </a:r>
            <a:r>
              <a:rPr sz="8100" spc="-26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8100" spc="-10" dirty="0">
                <a:solidFill>
                  <a:srgbClr val="181818"/>
                </a:solidFill>
                <a:latin typeface="Calibri"/>
                <a:cs typeface="Calibri"/>
              </a:rPr>
              <a:t>Vision</a:t>
            </a:r>
            <a:endParaRPr sz="8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27109" y="4327877"/>
            <a:ext cx="5017770" cy="1069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3920"/>
              </a:lnSpc>
              <a:spcBef>
                <a:spcPts val="120"/>
              </a:spcBef>
            </a:pPr>
            <a:r>
              <a:rPr sz="3450" spc="-85" dirty="0">
                <a:solidFill>
                  <a:srgbClr val="080808"/>
                </a:solidFill>
                <a:latin typeface="Arial MT"/>
                <a:cs typeface="Arial MT"/>
              </a:rPr>
              <a:t>Noise</a:t>
            </a:r>
            <a:r>
              <a:rPr sz="3450" spc="-135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3450" spc="-10" dirty="0">
                <a:solidFill>
                  <a:srgbClr val="0E0E0E"/>
                </a:solidFill>
                <a:latin typeface="Arial MT"/>
                <a:cs typeface="Arial MT"/>
              </a:rPr>
              <a:t>Removal.</a:t>
            </a:r>
            <a:endParaRPr sz="3450">
              <a:latin typeface="Arial MT"/>
              <a:cs typeface="Arial MT"/>
            </a:endParaRPr>
          </a:p>
          <a:p>
            <a:pPr marL="28575">
              <a:lnSpc>
                <a:spcPts val="4280"/>
              </a:lnSpc>
            </a:pPr>
            <a:r>
              <a:rPr sz="3750" spc="-60" dirty="0">
                <a:solidFill>
                  <a:srgbClr val="0C0C0C"/>
                </a:solidFill>
                <a:latin typeface="Times New Roman"/>
                <a:cs typeface="Times New Roman"/>
              </a:rPr>
              <a:t>Cleaning</a:t>
            </a:r>
            <a:r>
              <a:rPr sz="3750" spc="-1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3750" dirty="0">
                <a:solidFill>
                  <a:srgbClr val="131313"/>
                </a:solidFill>
                <a:latin typeface="Times New Roman"/>
                <a:cs typeface="Times New Roman"/>
              </a:rPr>
              <a:t>up</a:t>
            </a:r>
            <a:r>
              <a:rPr sz="3750" spc="-23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750" spc="-60" dirty="0">
                <a:latin typeface="Times New Roman"/>
                <a:cs typeface="Times New Roman"/>
              </a:rPr>
              <a:t>grainy</a:t>
            </a:r>
            <a:r>
              <a:rPr sz="3750" spc="-125" dirty="0">
                <a:latin typeface="Times New Roman"/>
                <a:cs typeface="Times New Roman"/>
              </a:rPr>
              <a:t> </a:t>
            </a:r>
            <a:r>
              <a:rPr sz="3750" spc="-10" dirty="0">
                <a:solidFill>
                  <a:srgbClr val="0F0F0F"/>
                </a:solidFill>
                <a:latin typeface="Times New Roman"/>
                <a:cs typeface="Times New Roman"/>
              </a:rPr>
              <a:t>photos.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44719" y="7503230"/>
            <a:ext cx="5144135" cy="111252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3020">
              <a:lnSpc>
                <a:spcPts val="4355"/>
              </a:lnSpc>
              <a:spcBef>
                <a:spcPts val="120"/>
              </a:spcBef>
            </a:pPr>
            <a:r>
              <a:rPr sz="3800" spc="-20" dirty="0">
                <a:solidFill>
                  <a:srgbClr val="080808"/>
                </a:solidFill>
                <a:latin typeface="Times New Roman"/>
                <a:cs typeface="Times New Roman"/>
              </a:rPr>
              <a:t>Feature</a:t>
            </a:r>
            <a:r>
              <a:rPr sz="3800" spc="-100" dirty="0">
                <a:solidFill>
                  <a:srgbClr val="080808"/>
                </a:solidFill>
                <a:latin typeface="Times New Roman"/>
                <a:cs typeface="Times New Roman"/>
              </a:rPr>
              <a:t> </a:t>
            </a:r>
            <a:r>
              <a:rPr sz="3800" spc="-105" dirty="0">
                <a:latin typeface="Times New Roman"/>
                <a:cs typeface="Times New Roman"/>
              </a:rPr>
              <a:t>Extraction.</a:t>
            </a:r>
            <a:r>
              <a:rPr sz="3800" spc="-130" dirty="0">
                <a:latin typeface="Times New Roman"/>
                <a:cs typeface="Times New Roman"/>
              </a:rPr>
              <a:t> </a:t>
            </a:r>
            <a:r>
              <a:rPr sz="3800" spc="-90" dirty="0">
                <a:solidFill>
                  <a:srgbClr val="0A0A0A"/>
                </a:solidFill>
                <a:latin typeface="Times New Roman"/>
                <a:cs typeface="Times New Roman"/>
              </a:rPr>
              <a:t>Helping</a:t>
            </a:r>
            <a:endParaRPr sz="3800">
              <a:latin typeface="Times New Roman"/>
              <a:cs typeface="Times New Roman"/>
            </a:endParaRPr>
          </a:p>
          <a:p>
            <a:pPr marL="12700">
              <a:lnSpc>
                <a:spcPts val="4175"/>
              </a:lnSpc>
            </a:pPr>
            <a:r>
              <a:rPr sz="3650" dirty="0">
                <a:latin typeface="Times New Roman"/>
                <a:cs typeface="Times New Roman"/>
              </a:rPr>
              <a:t>computers</a:t>
            </a:r>
            <a:r>
              <a:rPr sz="3650" spc="85" dirty="0"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0C0C0C"/>
                </a:solidFill>
                <a:latin typeface="Times New Roman"/>
                <a:cs typeface="Times New Roman"/>
              </a:rPr>
              <a:t>find</a:t>
            </a:r>
            <a:r>
              <a:rPr sz="3650" spc="-10" dirty="0">
                <a:solidFill>
                  <a:srgbClr val="0C0C0C"/>
                </a:solidFill>
                <a:latin typeface="Times New Roman"/>
                <a:cs typeface="Times New Roman"/>
              </a:rPr>
              <a:t> objects.</a:t>
            </a:r>
            <a:endParaRPr sz="3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12933" y="4319058"/>
            <a:ext cx="4930775" cy="1078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4029"/>
              </a:lnSpc>
              <a:spcBef>
                <a:spcPts val="90"/>
              </a:spcBef>
            </a:pPr>
            <a:r>
              <a:rPr sz="3550" spc="-165" dirty="0">
                <a:solidFill>
                  <a:srgbClr val="0C0C0C"/>
                </a:solidFill>
                <a:latin typeface="Arial MT"/>
                <a:cs typeface="Arial MT"/>
              </a:rPr>
              <a:t>Image</a:t>
            </a:r>
            <a:r>
              <a:rPr sz="3550" spc="-7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3550" spc="-65" dirty="0">
                <a:latin typeface="Arial MT"/>
                <a:cs typeface="Arial MT"/>
              </a:rPr>
              <a:t>Enhancement.</a:t>
            </a:r>
            <a:endParaRPr sz="3550">
              <a:latin typeface="Arial MT"/>
              <a:cs typeface="Arial MT"/>
            </a:endParaRPr>
          </a:p>
          <a:p>
            <a:pPr marL="12700">
              <a:lnSpc>
                <a:spcPts val="4270"/>
              </a:lnSpc>
            </a:pPr>
            <a:r>
              <a:rPr sz="3750" spc="-10" dirty="0">
                <a:latin typeface="Times New Roman"/>
                <a:cs typeface="Times New Roman"/>
              </a:rPr>
              <a:t>Sharpening</a:t>
            </a:r>
            <a:r>
              <a:rPr sz="3750" spc="-145" dirty="0">
                <a:latin typeface="Times New Roman"/>
                <a:cs typeface="Times New Roman"/>
              </a:rPr>
              <a:t> </a:t>
            </a:r>
            <a:r>
              <a:rPr sz="3750" spc="-25" dirty="0">
                <a:latin typeface="Times New Roman"/>
                <a:cs typeface="Times New Roman"/>
              </a:rPr>
              <a:t>blurry</a:t>
            </a:r>
            <a:r>
              <a:rPr sz="3750" spc="-210" dirty="0">
                <a:latin typeface="Times New Roman"/>
                <a:cs typeface="Times New Roman"/>
              </a:rPr>
              <a:t> </a:t>
            </a:r>
            <a:r>
              <a:rPr sz="3750" spc="-65" dirty="0">
                <a:latin typeface="Times New Roman"/>
                <a:cs typeface="Times New Roman"/>
              </a:rPr>
              <a:t>images.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61166" y="7512050"/>
            <a:ext cx="4518025" cy="1103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4">
              <a:lnSpc>
                <a:spcPts val="4300"/>
              </a:lnSpc>
              <a:spcBef>
                <a:spcPts val="100"/>
              </a:spcBef>
            </a:pPr>
            <a:r>
              <a:rPr sz="3750" spc="-10" dirty="0">
                <a:latin typeface="Times New Roman"/>
                <a:cs typeface="Times New Roman"/>
              </a:rPr>
              <a:t>Compression.</a:t>
            </a:r>
            <a:r>
              <a:rPr sz="3750" spc="-80" dirty="0">
                <a:latin typeface="Times New Roman"/>
                <a:cs typeface="Times New Roman"/>
              </a:rPr>
              <a:t> </a:t>
            </a:r>
            <a:r>
              <a:rPr sz="3750" spc="-70" dirty="0">
                <a:latin typeface="Times New Roman"/>
                <a:cs typeface="Times New Roman"/>
              </a:rPr>
              <a:t>Reducing</a:t>
            </a:r>
            <a:endParaRPr sz="3750">
              <a:latin typeface="Times New Roman"/>
              <a:cs typeface="Times New Roman"/>
            </a:endParaRPr>
          </a:p>
          <a:p>
            <a:pPr marL="12700">
              <a:lnSpc>
                <a:spcPts val="4180"/>
              </a:lnSpc>
            </a:pPr>
            <a:r>
              <a:rPr sz="3650" spc="-50" dirty="0">
                <a:solidFill>
                  <a:srgbClr val="0F0F0F"/>
                </a:solidFill>
                <a:latin typeface="Times New Roman"/>
                <a:cs typeface="Times New Roman"/>
              </a:rPr>
              <a:t>file</a:t>
            </a:r>
            <a:r>
              <a:rPr sz="3650" spc="-18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0C0C0C"/>
                </a:solidFill>
                <a:latin typeface="Times New Roman"/>
                <a:cs typeface="Times New Roman"/>
              </a:rPr>
              <a:t>sizes</a:t>
            </a:r>
            <a:r>
              <a:rPr sz="3650" spc="-7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3650" spc="-90" dirty="0">
                <a:solidFill>
                  <a:srgbClr val="0E0E0E"/>
                </a:solidFill>
                <a:latin typeface="Times New Roman"/>
                <a:cs typeface="Times New Roman"/>
              </a:rPr>
              <a:t>(JPEG</a:t>
            </a:r>
            <a:r>
              <a:rPr sz="3650" spc="-95" dirty="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sz="3650" spc="-10" dirty="0">
                <a:latin typeface="Times New Roman"/>
                <a:cs typeface="Times New Roman"/>
              </a:rPr>
              <a:t>logic).</a:t>
            </a:r>
            <a:endParaRPr sz="3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8100" y="7670800"/>
            <a:ext cx="889000" cy="9144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8100" y="5994400"/>
            <a:ext cx="889000" cy="901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83800" y="2133600"/>
            <a:ext cx="6400800" cy="16891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75079" y="734836"/>
            <a:ext cx="8806815" cy="904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750" spc="-85" dirty="0">
                <a:solidFill>
                  <a:srgbClr val="181818"/>
                </a:solidFill>
              </a:rPr>
              <a:t>Key</a:t>
            </a:r>
            <a:r>
              <a:rPr sz="5750" dirty="0">
                <a:solidFill>
                  <a:srgbClr val="181818"/>
                </a:solidFill>
              </a:rPr>
              <a:t> </a:t>
            </a:r>
            <a:r>
              <a:rPr sz="5750" dirty="0">
                <a:solidFill>
                  <a:srgbClr val="1A1A1A"/>
                </a:solidFill>
              </a:rPr>
              <a:t>Definitions</a:t>
            </a:r>
            <a:r>
              <a:rPr sz="5750" spc="75" dirty="0">
                <a:solidFill>
                  <a:srgbClr val="1A1A1A"/>
                </a:solidFill>
              </a:rPr>
              <a:t> </a:t>
            </a:r>
            <a:r>
              <a:rPr sz="5750" dirty="0">
                <a:solidFill>
                  <a:srgbClr val="1C1C1C"/>
                </a:solidFill>
              </a:rPr>
              <a:t>&amp;</a:t>
            </a:r>
            <a:r>
              <a:rPr sz="5750" spc="-275" dirty="0">
                <a:solidFill>
                  <a:srgbClr val="1C1C1C"/>
                </a:solidFill>
              </a:rPr>
              <a:t> </a:t>
            </a:r>
            <a:r>
              <a:rPr sz="5750" spc="-10" dirty="0">
                <a:solidFill>
                  <a:srgbClr val="161616"/>
                </a:solidFill>
              </a:rPr>
              <a:t>Concepts</a:t>
            </a:r>
            <a:endParaRPr sz="5750"/>
          </a:p>
        </p:txBody>
      </p:sp>
      <p:sp>
        <p:nvSpPr>
          <p:cNvPr id="6" name="object 6"/>
          <p:cNvSpPr txBox="1"/>
          <p:nvPr/>
        </p:nvSpPr>
        <p:spPr>
          <a:xfrm>
            <a:off x="1268826" y="2356908"/>
            <a:ext cx="3605529" cy="565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50" dirty="0">
                <a:latin typeface="Cambria"/>
                <a:cs typeface="Cambria"/>
              </a:rPr>
              <a:t>Fourier</a:t>
            </a:r>
            <a:r>
              <a:rPr sz="3550" spc="-100" dirty="0">
                <a:latin typeface="Cambria"/>
                <a:cs typeface="Cambria"/>
              </a:rPr>
              <a:t> </a:t>
            </a:r>
            <a:r>
              <a:rPr sz="3550" spc="-10" dirty="0">
                <a:latin typeface="Cambria"/>
                <a:cs typeface="Cambria"/>
              </a:rPr>
              <a:t>Transform</a:t>
            </a:r>
            <a:endParaRPr sz="35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15863" y="2328481"/>
            <a:ext cx="8905875" cy="115062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3550" spc="-55" dirty="0">
                <a:latin typeface="Cambria"/>
                <a:cs typeface="Cambria"/>
              </a:rPr>
              <a:t>ConveGs</a:t>
            </a:r>
            <a:r>
              <a:rPr sz="3550" spc="-145" dirty="0">
                <a:latin typeface="Cambria"/>
                <a:cs typeface="Cambria"/>
              </a:rPr>
              <a:t> </a:t>
            </a:r>
            <a:r>
              <a:rPr sz="3550" spc="-140" dirty="0">
                <a:latin typeface="Cambria"/>
                <a:cs typeface="Cambria"/>
              </a:rPr>
              <a:t>an</a:t>
            </a:r>
            <a:r>
              <a:rPr sz="3550" spc="-70" dirty="0">
                <a:latin typeface="Cambria"/>
                <a:cs typeface="Cambria"/>
              </a:rPr>
              <a:t> </a:t>
            </a:r>
            <a:r>
              <a:rPr sz="3550" spc="-140" dirty="0">
                <a:latin typeface="Cambria"/>
                <a:cs typeface="Cambria"/>
              </a:rPr>
              <a:t>image</a:t>
            </a:r>
            <a:r>
              <a:rPr sz="3550" spc="-60" dirty="0">
                <a:latin typeface="Cambria"/>
                <a:cs typeface="Cambria"/>
              </a:rPr>
              <a:t> </a:t>
            </a:r>
            <a:r>
              <a:rPr sz="3550" spc="-90" dirty="0">
                <a:latin typeface="Cambria"/>
                <a:cs typeface="Cambria"/>
              </a:rPr>
              <a:t>from</a:t>
            </a:r>
            <a:r>
              <a:rPr sz="3550" spc="-110" dirty="0">
                <a:latin typeface="Cambria"/>
                <a:cs typeface="Cambria"/>
              </a:rPr>
              <a:t> </a:t>
            </a:r>
            <a:r>
              <a:rPr sz="3550" spc="-114" dirty="0">
                <a:latin typeface="Cambria"/>
                <a:cs typeface="Cambria"/>
              </a:rPr>
              <a:t>the</a:t>
            </a:r>
            <a:r>
              <a:rPr sz="3550" spc="-75" dirty="0">
                <a:latin typeface="Cambria"/>
                <a:cs typeface="Cambria"/>
              </a:rPr>
              <a:t> </a:t>
            </a:r>
            <a:r>
              <a:rPr sz="3550" spc="-110" dirty="0">
                <a:solidFill>
                  <a:srgbClr val="0C2A69"/>
                </a:solidFill>
                <a:latin typeface="Cambria"/>
                <a:cs typeface="Cambria"/>
              </a:rPr>
              <a:t>spatial</a:t>
            </a:r>
            <a:r>
              <a:rPr sz="3550" spc="-20" dirty="0">
                <a:solidFill>
                  <a:srgbClr val="0C2A69"/>
                </a:solidFill>
                <a:latin typeface="Cambria"/>
                <a:cs typeface="Cambria"/>
              </a:rPr>
              <a:t> </a:t>
            </a:r>
            <a:r>
              <a:rPr sz="3550" spc="-125" dirty="0">
                <a:solidFill>
                  <a:srgbClr val="133882"/>
                </a:solidFill>
                <a:latin typeface="Cambria"/>
                <a:cs typeface="Cambria"/>
              </a:rPr>
              <a:t>domain</a:t>
            </a:r>
            <a:r>
              <a:rPr sz="3550" spc="15" dirty="0">
                <a:solidFill>
                  <a:srgbClr val="133882"/>
                </a:solidFill>
                <a:latin typeface="Cambria"/>
                <a:cs typeface="Cambria"/>
              </a:rPr>
              <a:t> </a:t>
            </a:r>
            <a:r>
              <a:rPr sz="3550" spc="-105" dirty="0">
                <a:latin typeface="Cambria"/>
                <a:cs typeface="Cambria"/>
              </a:rPr>
              <a:t>to</a:t>
            </a:r>
            <a:r>
              <a:rPr sz="3550" spc="-95" dirty="0">
                <a:latin typeface="Cambria"/>
                <a:cs typeface="Cambria"/>
              </a:rPr>
              <a:t> </a:t>
            </a:r>
            <a:r>
              <a:rPr sz="3550" spc="-25" dirty="0">
                <a:latin typeface="Cambria"/>
                <a:cs typeface="Cambria"/>
              </a:rPr>
              <a:t>the</a:t>
            </a:r>
            <a:endParaRPr sz="3550">
              <a:latin typeface="Cambria"/>
              <a:cs typeface="Cambria"/>
            </a:endParaRPr>
          </a:p>
          <a:p>
            <a:pPr marL="17780">
              <a:lnSpc>
                <a:spcPct val="100000"/>
              </a:lnSpc>
              <a:spcBef>
                <a:spcPts val="240"/>
              </a:spcBef>
            </a:pPr>
            <a:r>
              <a:rPr sz="3450" spc="-65" dirty="0">
                <a:latin typeface="Cambria"/>
                <a:cs typeface="Cambria"/>
              </a:rPr>
              <a:t>the</a:t>
            </a:r>
            <a:r>
              <a:rPr sz="3450" spc="-130" dirty="0">
                <a:latin typeface="Cambria"/>
                <a:cs typeface="Cambria"/>
              </a:rPr>
              <a:t> </a:t>
            </a:r>
            <a:r>
              <a:rPr sz="3450" spc="-90" dirty="0">
                <a:solidFill>
                  <a:srgbClr val="11347B"/>
                </a:solidFill>
                <a:latin typeface="Cambria"/>
                <a:cs typeface="Cambria"/>
              </a:rPr>
              <a:t>frequency</a:t>
            </a:r>
            <a:r>
              <a:rPr sz="3450" spc="-15" dirty="0">
                <a:solidFill>
                  <a:srgbClr val="11347B"/>
                </a:solidFill>
                <a:latin typeface="Cambria"/>
                <a:cs typeface="Cambria"/>
              </a:rPr>
              <a:t> </a:t>
            </a:r>
            <a:r>
              <a:rPr sz="3450" spc="-10" dirty="0">
                <a:latin typeface="Cambria"/>
                <a:cs typeface="Cambria"/>
              </a:rPr>
              <a:t>domain.</a:t>
            </a:r>
            <a:endParaRPr sz="34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8653" y="4019550"/>
            <a:ext cx="1710689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50" spc="-100" dirty="0">
                <a:latin typeface="Arial MT"/>
                <a:cs typeface="Arial MT"/>
              </a:rPr>
              <a:t>Purpose</a:t>
            </a:r>
            <a:endParaRPr sz="37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15084" y="4012494"/>
            <a:ext cx="10314940" cy="1155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" marR="5080" indent="-9525">
              <a:lnSpc>
                <a:spcPct val="107500"/>
              </a:lnSpc>
              <a:spcBef>
                <a:spcPts val="95"/>
              </a:spcBef>
            </a:pPr>
            <a:r>
              <a:rPr sz="3450" dirty="0">
                <a:latin typeface="Cambria"/>
                <a:cs typeface="Cambria"/>
              </a:rPr>
              <a:t>To</a:t>
            </a:r>
            <a:r>
              <a:rPr sz="3450" spc="-195" dirty="0">
                <a:latin typeface="Cambria"/>
                <a:cs typeface="Cambria"/>
              </a:rPr>
              <a:t> </a:t>
            </a:r>
            <a:r>
              <a:rPr sz="3450" spc="-80" dirty="0">
                <a:latin typeface="Cambria"/>
                <a:cs typeface="Cambria"/>
              </a:rPr>
              <a:t>analyze</a:t>
            </a:r>
            <a:r>
              <a:rPr sz="3450" spc="-110" dirty="0">
                <a:latin typeface="Cambria"/>
                <a:cs typeface="Cambria"/>
              </a:rPr>
              <a:t> </a:t>
            </a:r>
            <a:r>
              <a:rPr sz="3450" spc="-20" dirty="0">
                <a:latin typeface="Cambria"/>
                <a:cs typeface="Cambria"/>
              </a:rPr>
              <a:t>and</a:t>
            </a:r>
            <a:r>
              <a:rPr sz="3450" spc="-170" dirty="0">
                <a:latin typeface="Cambria"/>
                <a:cs typeface="Cambria"/>
              </a:rPr>
              <a:t> </a:t>
            </a:r>
            <a:r>
              <a:rPr sz="3450" spc="-110" dirty="0">
                <a:latin typeface="Cambria"/>
                <a:cs typeface="Cambria"/>
              </a:rPr>
              <a:t>process</a:t>
            </a:r>
            <a:r>
              <a:rPr sz="3450" spc="-80" dirty="0">
                <a:latin typeface="Cambria"/>
                <a:cs typeface="Cambria"/>
              </a:rPr>
              <a:t> </a:t>
            </a:r>
            <a:r>
              <a:rPr sz="3450" spc="-45" dirty="0">
                <a:latin typeface="Cambria"/>
                <a:cs typeface="Cambria"/>
              </a:rPr>
              <a:t>image</a:t>
            </a:r>
            <a:r>
              <a:rPr sz="3450" spc="-145" dirty="0">
                <a:latin typeface="Cambria"/>
                <a:cs typeface="Cambria"/>
              </a:rPr>
              <a:t> </a:t>
            </a:r>
            <a:r>
              <a:rPr sz="3450" spc="-85" dirty="0">
                <a:latin typeface="Cambria"/>
                <a:cs typeface="Cambria"/>
              </a:rPr>
              <a:t>components</a:t>
            </a:r>
            <a:r>
              <a:rPr sz="3450" spc="-10" dirty="0">
                <a:latin typeface="Cambria"/>
                <a:cs typeface="Cambria"/>
              </a:rPr>
              <a:t> </a:t>
            </a:r>
            <a:r>
              <a:rPr sz="3450" spc="-25" dirty="0">
                <a:latin typeface="Cambria"/>
                <a:cs typeface="Cambria"/>
              </a:rPr>
              <a:t>like</a:t>
            </a:r>
            <a:r>
              <a:rPr sz="3450" spc="-145" dirty="0">
                <a:latin typeface="Cambria"/>
                <a:cs typeface="Cambria"/>
              </a:rPr>
              <a:t> </a:t>
            </a:r>
            <a:r>
              <a:rPr sz="3450" spc="-95" dirty="0">
                <a:latin typeface="Cambria"/>
                <a:cs typeface="Cambria"/>
              </a:rPr>
              <a:t>edges</a:t>
            </a:r>
            <a:r>
              <a:rPr sz="3450" spc="-45" dirty="0">
                <a:latin typeface="Cambria"/>
                <a:cs typeface="Cambria"/>
              </a:rPr>
              <a:t> </a:t>
            </a:r>
            <a:r>
              <a:rPr sz="3450" spc="-25" dirty="0">
                <a:latin typeface="Cambria"/>
                <a:cs typeface="Cambria"/>
              </a:rPr>
              <a:t>and </a:t>
            </a:r>
            <a:r>
              <a:rPr sz="3450" spc="-90" dirty="0">
                <a:latin typeface="Cambria"/>
                <a:cs typeface="Cambria"/>
              </a:rPr>
              <a:t>noise </a:t>
            </a:r>
            <a:r>
              <a:rPr sz="3450" spc="-10" dirty="0">
                <a:latin typeface="Cambria"/>
                <a:cs typeface="Cambria"/>
              </a:rPr>
              <a:t>effectively.</a:t>
            </a:r>
            <a:endParaRPr sz="34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90737" y="5821538"/>
            <a:ext cx="1543685" cy="1139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4260"/>
              </a:lnSpc>
              <a:spcBef>
                <a:spcPts val="110"/>
              </a:spcBef>
            </a:pPr>
            <a:r>
              <a:rPr sz="3600" spc="95" dirty="0">
                <a:latin typeface="Times New Roman"/>
                <a:cs typeface="Times New Roman"/>
              </a:rPr>
              <a:t>Spatial</a:t>
            </a:r>
            <a:endParaRPr sz="3600">
              <a:latin typeface="Times New Roman"/>
              <a:cs typeface="Times New Roman"/>
            </a:endParaRPr>
          </a:p>
          <a:p>
            <a:pPr marL="45720">
              <a:lnSpc>
                <a:spcPts val="4500"/>
              </a:lnSpc>
            </a:pPr>
            <a:r>
              <a:rPr sz="3800" spc="-90" dirty="0">
                <a:latin typeface="Times New Roman"/>
                <a:cs typeface="Times New Roman"/>
              </a:rPr>
              <a:t>Domain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02712" y="5821538"/>
            <a:ext cx="10114915" cy="1139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4260"/>
              </a:lnSpc>
              <a:spcBef>
                <a:spcPts val="110"/>
              </a:spcBef>
            </a:pPr>
            <a:r>
              <a:rPr sz="3600" spc="-10" dirty="0">
                <a:latin typeface="Times New Roman"/>
                <a:cs typeface="Times New Roman"/>
              </a:rPr>
              <a:t>The</a:t>
            </a:r>
            <a:r>
              <a:rPr sz="3600" spc="-2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normal</a:t>
            </a:r>
            <a:r>
              <a:rPr sz="3600" spc="-145" dirty="0">
                <a:latin typeface="Times New Roman"/>
                <a:cs typeface="Times New Roman"/>
              </a:rPr>
              <a:t> </a:t>
            </a:r>
            <a:r>
              <a:rPr sz="3600" spc="-150" dirty="0">
                <a:latin typeface="Times New Roman"/>
                <a:cs typeface="Times New Roman"/>
              </a:rPr>
              <a:t>view </a:t>
            </a:r>
            <a:r>
              <a:rPr sz="3600" spc="-10" dirty="0">
                <a:latin typeface="Times New Roman"/>
                <a:cs typeface="Times New Roman"/>
              </a:rPr>
              <a:t>where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</a:t>
            </a:r>
            <a:r>
              <a:rPr sz="3600" spc="-190" dirty="0">
                <a:latin typeface="Times New Roman"/>
                <a:cs typeface="Times New Roman"/>
              </a:rPr>
              <a:t> </a:t>
            </a:r>
            <a:r>
              <a:rPr sz="3600" spc="-30" dirty="0">
                <a:latin typeface="Times New Roman"/>
                <a:cs typeface="Times New Roman"/>
              </a:rPr>
              <a:t>image</a:t>
            </a:r>
            <a:r>
              <a:rPr sz="3600" spc="-1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is</a:t>
            </a:r>
            <a:r>
              <a:rPr sz="3600" spc="-2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</a:t>
            </a:r>
            <a:r>
              <a:rPr sz="3600" spc="-225" dirty="0">
                <a:latin typeface="Times New Roman"/>
                <a:cs typeface="Times New Roman"/>
              </a:rPr>
              <a:t> </a:t>
            </a:r>
            <a:r>
              <a:rPr sz="3600" spc="-50" dirty="0">
                <a:latin typeface="Times New Roman"/>
                <a:cs typeface="Times New Roman"/>
              </a:rPr>
              <a:t>collection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of</a:t>
            </a:r>
            <a:r>
              <a:rPr sz="3600" spc="35" dirty="0">
                <a:latin typeface="Times New Roman"/>
                <a:cs typeface="Times New Roman"/>
              </a:rPr>
              <a:t> </a:t>
            </a:r>
            <a:r>
              <a:rPr sz="3600" spc="-55" dirty="0">
                <a:solidFill>
                  <a:srgbClr val="112F80"/>
                </a:solidFill>
                <a:latin typeface="Times New Roman"/>
                <a:cs typeface="Times New Roman"/>
              </a:rPr>
              <a:t>pixels</a:t>
            </a:r>
            <a:endParaRPr sz="3600">
              <a:latin typeface="Times New Roman"/>
              <a:cs typeface="Times New Roman"/>
            </a:endParaRPr>
          </a:p>
          <a:p>
            <a:pPr marL="21590">
              <a:lnSpc>
                <a:spcPts val="4500"/>
              </a:lnSpc>
            </a:pPr>
            <a:r>
              <a:rPr sz="3800" dirty="0">
                <a:latin typeface="Times New Roman"/>
                <a:cs typeface="Times New Roman"/>
              </a:rPr>
              <a:t>at</a:t>
            </a:r>
            <a:r>
              <a:rPr sz="3800" spc="-135" dirty="0">
                <a:latin typeface="Times New Roman"/>
                <a:cs typeface="Times New Roman"/>
              </a:rPr>
              <a:t> </a:t>
            </a:r>
            <a:r>
              <a:rPr sz="3800" spc="-30" dirty="0">
                <a:latin typeface="Times New Roman"/>
                <a:cs typeface="Times New Roman"/>
              </a:rPr>
              <a:t>(x,y).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05527" y="7519458"/>
            <a:ext cx="2139950" cy="11112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-635">
              <a:lnSpc>
                <a:spcPct val="100899"/>
              </a:lnSpc>
              <a:spcBef>
                <a:spcPts val="50"/>
              </a:spcBef>
            </a:pPr>
            <a:r>
              <a:rPr sz="3550" spc="-10" dirty="0">
                <a:latin typeface="Cambria"/>
                <a:cs typeface="Cambria"/>
              </a:rPr>
              <a:t>Frequency Domain</a:t>
            </a:r>
            <a:endParaRPr sz="35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02101" y="7519458"/>
            <a:ext cx="9558655" cy="11112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6510" marR="5080" indent="-4445">
              <a:lnSpc>
                <a:spcPct val="100899"/>
              </a:lnSpc>
              <a:spcBef>
                <a:spcPts val="50"/>
              </a:spcBef>
            </a:pPr>
            <a:r>
              <a:rPr sz="3550" spc="-125" dirty="0">
                <a:latin typeface="Cambria"/>
                <a:cs typeface="Cambria"/>
              </a:rPr>
              <a:t>The</a:t>
            </a:r>
            <a:r>
              <a:rPr sz="3550" spc="-70" dirty="0">
                <a:latin typeface="Cambria"/>
                <a:cs typeface="Cambria"/>
              </a:rPr>
              <a:t> </a:t>
            </a:r>
            <a:r>
              <a:rPr sz="3550" spc="-204" dirty="0">
                <a:latin typeface="Cambria"/>
                <a:cs typeface="Cambria"/>
              </a:rPr>
              <a:t>view</a:t>
            </a:r>
            <a:r>
              <a:rPr sz="3550" spc="-15" dirty="0">
                <a:latin typeface="Cambria"/>
                <a:cs typeface="Cambria"/>
              </a:rPr>
              <a:t> </a:t>
            </a:r>
            <a:r>
              <a:rPr sz="3550" spc="-210" dirty="0">
                <a:latin typeface="Cambria"/>
                <a:cs typeface="Cambria"/>
              </a:rPr>
              <a:t>where</a:t>
            </a:r>
            <a:r>
              <a:rPr sz="3550" spc="10" dirty="0">
                <a:latin typeface="Cambria"/>
                <a:cs typeface="Cambria"/>
              </a:rPr>
              <a:t> </a:t>
            </a:r>
            <a:r>
              <a:rPr sz="3550" spc="-50" dirty="0">
                <a:latin typeface="Cambria"/>
                <a:cs typeface="Cambria"/>
              </a:rPr>
              <a:t>an</a:t>
            </a:r>
            <a:r>
              <a:rPr sz="3550" spc="-150" dirty="0">
                <a:latin typeface="Cambria"/>
                <a:cs typeface="Cambria"/>
              </a:rPr>
              <a:t> </a:t>
            </a:r>
            <a:r>
              <a:rPr sz="3550" spc="-110" dirty="0">
                <a:latin typeface="Cambria"/>
                <a:cs typeface="Cambria"/>
              </a:rPr>
              <a:t>image</a:t>
            </a:r>
            <a:r>
              <a:rPr sz="3550" spc="-85" dirty="0">
                <a:latin typeface="Cambria"/>
                <a:cs typeface="Cambria"/>
              </a:rPr>
              <a:t> </a:t>
            </a:r>
            <a:r>
              <a:rPr sz="3550" spc="-20" dirty="0">
                <a:latin typeface="Cambria"/>
                <a:cs typeface="Cambria"/>
              </a:rPr>
              <a:t>is</a:t>
            </a:r>
            <a:r>
              <a:rPr sz="3550" spc="-175" dirty="0">
                <a:latin typeface="Cambria"/>
                <a:cs typeface="Cambria"/>
              </a:rPr>
              <a:t> </a:t>
            </a:r>
            <a:r>
              <a:rPr sz="3550" dirty="0">
                <a:latin typeface="Cambria"/>
                <a:cs typeface="Cambria"/>
              </a:rPr>
              <a:t>a</a:t>
            </a:r>
            <a:r>
              <a:rPr sz="3550" spc="-200" dirty="0">
                <a:latin typeface="Cambria"/>
                <a:cs typeface="Cambria"/>
              </a:rPr>
              <a:t> </a:t>
            </a:r>
            <a:r>
              <a:rPr sz="3550" spc="-105" dirty="0">
                <a:latin typeface="Cambria"/>
                <a:cs typeface="Cambria"/>
              </a:rPr>
              <a:t>collection</a:t>
            </a:r>
            <a:r>
              <a:rPr sz="3550" spc="15" dirty="0">
                <a:latin typeface="Cambria"/>
                <a:cs typeface="Cambria"/>
              </a:rPr>
              <a:t> </a:t>
            </a:r>
            <a:r>
              <a:rPr sz="3550" dirty="0">
                <a:latin typeface="Cambria"/>
                <a:cs typeface="Cambria"/>
              </a:rPr>
              <a:t>of</a:t>
            </a:r>
            <a:r>
              <a:rPr sz="3550" spc="-110" dirty="0">
                <a:latin typeface="Cambria"/>
                <a:cs typeface="Cambria"/>
              </a:rPr>
              <a:t> </a:t>
            </a:r>
            <a:r>
              <a:rPr sz="3550" spc="-100" dirty="0">
                <a:solidFill>
                  <a:srgbClr val="D15724"/>
                </a:solidFill>
                <a:latin typeface="Cambria"/>
                <a:cs typeface="Cambria"/>
              </a:rPr>
              <a:t>brightness </a:t>
            </a:r>
            <a:r>
              <a:rPr sz="3550" spc="-114" dirty="0">
                <a:solidFill>
                  <a:srgbClr val="D45624"/>
                </a:solidFill>
                <a:latin typeface="Cambria"/>
                <a:cs typeface="Cambria"/>
              </a:rPr>
              <a:t>changes</a:t>
            </a:r>
            <a:r>
              <a:rPr sz="3550" spc="-75" dirty="0">
                <a:solidFill>
                  <a:srgbClr val="D45624"/>
                </a:solidFill>
                <a:latin typeface="Cambria"/>
                <a:cs typeface="Cambria"/>
              </a:rPr>
              <a:t> </a:t>
            </a:r>
            <a:r>
              <a:rPr sz="3550" spc="-45" dirty="0">
                <a:latin typeface="Cambria"/>
                <a:cs typeface="Cambria"/>
              </a:rPr>
              <a:t>(waves).</a:t>
            </a:r>
            <a:endParaRPr sz="35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4D84A-E185-6EC8-4AF2-717A7970D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754" y="386592"/>
            <a:ext cx="15634646" cy="738664"/>
          </a:xfrm>
        </p:spPr>
        <p:txBody>
          <a:bodyPr/>
          <a:lstStyle/>
          <a:p>
            <a:r>
              <a:rPr lang="en-US" sz="4800" dirty="0"/>
              <a:t>Fourier Transforms USED in Computer Vision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4AE95-4DE2-8A73-B908-4F9857298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800" y="2148116"/>
            <a:ext cx="13639799" cy="4557484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3600" dirty="0"/>
              <a:t>Discrete Fourier Transform (DFT)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3600" dirty="0"/>
              <a:t>Fast Fourier Transform (FFT)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3600" dirty="0"/>
              <a:t>2D Fourier Transform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3600" dirty="0"/>
              <a:t>Inverse Fourier Transform (IFT)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946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C1F84-6B32-4A1D-7FD3-0000E0852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415A94-1C66-1450-E033-3CB950FB3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54" y="2407818"/>
            <a:ext cx="7576127" cy="29104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9D8A99-AC9E-0745-4A68-0CCD143F6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00" y="2407818"/>
            <a:ext cx="6934200" cy="29104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D89961-3EBB-9022-96FA-3671F66CF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5400" y="6096000"/>
            <a:ext cx="11963400" cy="327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544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73379" y="3251200"/>
            <a:ext cx="12564110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0" spc="-105" dirty="0">
                <a:solidFill>
                  <a:srgbClr val="013485"/>
                </a:solidFill>
                <a:latin typeface="Times New Roman"/>
                <a:cs typeface="Times New Roman"/>
              </a:rPr>
              <a:t>Pixels</a:t>
            </a:r>
            <a:r>
              <a:rPr sz="7500" spc="-80" dirty="0">
                <a:solidFill>
                  <a:srgbClr val="013485"/>
                </a:solidFill>
                <a:latin typeface="Times New Roman"/>
                <a:cs typeface="Times New Roman"/>
              </a:rPr>
              <a:t> </a:t>
            </a:r>
            <a:r>
              <a:rPr sz="7500" dirty="0">
                <a:solidFill>
                  <a:srgbClr val="053485"/>
                </a:solidFill>
                <a:latin typeface="Times New Roman"/>
                <a:cs typeface="Times New Roman"/>
              </a:rPr>
              <a:t>tell</a:t>
            </a:r>
            <a:r>
              <a:rPr sz="7500" spc="-125" dirty="0">
                <a:solidFill>
                  <a:srgbClr val="053485"/>
                </a:solidFill>
                <a:latin typeface="Times New Roman"/>
                <a:cs typeface="Times New Roman"/>
              </a:rPr>
              <a:t> </a:t>
            </a:r>
            <a:r>
              <a:rPr sz="7500" spc="95" dirty="0">
                <a:solidFill>
                  <a:srgbClr val="0C429A"/>
                </a:solidFill>
                <a:latin typeface="Times New Roman"/>
                <a:cs typeface="Times New Roman"/>
              </a:rPr>
              <a:t>us</a:t>
            </a:r>
            <a:r>
              <a:rPr sz="7500" spc="-380" dirty="0">
                <a:solidFill>
                  <a:srgbClr val="0C429A"/>
                </a:solidFill>
                <a:latin typeface="Times New Roman"/>
                <a:cs typeface="Times New Roman"/>
              </a:rPr>
              <a:t> </a:t>
            </a:r>
            <a:r>
              <a:rPr sz="7500" spc="-330" dirty="0">
                <a:solidFill>
                  <a:srgbClr val="053B91"/>
                </a:solidFill>
                <a:latin typeface="Times New Roman"/>
                <a:cs typeface="Times New Roman"/>
              </a:rPr>
              <a:t>WHERE</a:t>
            </a:r>
            <a:r>
              <a:rPr sz="7500" spc="185" dirty="0">
                <a:solidFill>
                  <a:srgbClr val="053B91"/>
                </a:solidFill>
                <a:latin typeface="Times New Roman"/>
                <a:cs typeface="Times New Roman"/>
              </a:rPr>
              <a:t> </a:t>
            </a:r>
            <a:r>
              <a:rPr sz="7500" dirty="0">
                <a:solidFill>
                  <a:srgbClr val="013183"/>
                </a:solidFill>
                <a:latin typeface="Times New Roman"/>
                <a:cs typeface="Times New Roman"/>
              </a:rPr>
              <a:t>things</a:t>
            </a:r>
            <a:r>
              <a:rPr sz="7500" spc="-25" dirty="0">
                <a:solidFill>
                  <a:srgbClr val="013183"/>
                </a:solidFill>
                <a:latin typeface="Times New Roman"/>
                <a:cs typeface="Times New Roman"/>
              </a:rPr>
              <a:t> </a:t>
            </a:r>
            <a:r>
              <a:rPr sz="7500" spc="90" dirty="0">
                <a:solidFill>
                  <a:srgbClr val="033D95"/>
                </a:solidFill>
                <a:latin typeface="Times New Roman"/>
                <a:cs typeface="Times New Roman"/>
              </a:rPr>
              <a:t>are.</a:t>
            </a:r>
            <a:endParaRPr sz="7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4582" y="4763558"/>
            <a:ext cx="15343505" cy="1136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300" spc="55" dirty="0">
                <a:solidFill>
                  <a:srgbClr val="E6520C"/>
                </a:solidFill>
                <a:latin typeface="Times New Roman"/>
                <a:cs typeface="Times New Roman"/>
              </a:rPr>
              <a:t>Frequencies</a:t>
            </a:r>
            <a:r>
              <a:rPr sz="7300" spc="310" dirty="0">
                <a:solidFill>
                  <a:srgbClr val="E6520C"/>
                </a:solidFill>
                <a:latin typeface="Times New Roman"/>
                <a:cs typeface="Times New Roman"/>
              </a:rPr>
              <a:t> </a:t>
            </a:r>
            <a:r>
              <a:rPr sz="7300" dirty="0">
                <a:solidFill>
                  <a:srgbClr val="D83D00"/>
                </a:solidFill>
                <a:latin typeface="Times New Roman"/>
                <a:cs typeface="Times New Roman"/>
              </a:rPr>
              <a:t>tell</a:t>
            </a:r>
            <a:r>
              <a:rPr sz="7300" spc="114" dirty="0">
                <a:solidFill>
                  <a:srgbClr val="D83D00"/>
                </a:solidFill>
                <a:latin typeface="Times New Roman"/>
                <a:cs typeface="Times New Roman"/>
              </a:rPr>
              <a:t> </a:t>
            </a:r>
            <a:r>
              <a:rPr sz="7300" spc="90" dirty="0">
                <a:solidFill>
                  <a:srgbClr val="E44903"/>
                </a:solidFill>
                <a:latin typeface="Times New Roman"/>
                <a:cs typeface="Times New Roman"/>
              </a:rPr>
              <a:t>us</a:t>
            </a:r>
            <a:r>
              <a:rPr sz="7300" spc="180" dirty="0">
                <a:solidFill>
                  <a:srgbClr val="E44903"/>
                </a:solidFill>
                <a:latin typeface="Times New Roman"/>
                <a:cs typeface="Times New Roman"/>
              </a:rPr>
              <a:t> </a:t>
            </a:r>
            <a:r>
              <a:rPr sz="10950" spc="-104" baseline="1141" dirty="0">
                <a:solidFill>
                  <a:srgbClr val="EB540F"/>
                </a:solidFill>
                <a:latin typeface="Times New Roman"/>
                <a:cs typeface="Times New Roman"/>
              </a:rPr>
              <a:t>H</a:t>
            </a:r>
            <a:r>
              <a:rPr sz="7300" spc="-70" dirty="0">
                <a:solidFill>
                  <a:srgbClr val="EB540F"/>
                </a:solidFill>
                <a:latin typeface="Times New Roman"/>
                <a:cs typeface="Times New Roman"/>
              </a:rPr>
              <a:t>OW</a:t>
            </a:r>
            <a:r>
              <a:rPr sz="7300" spc="-650" dirty="0">
                <a:solidFill>
                  <a:srgbClr val="EB540F"/>
                </a:solidFill>
                <a:latin typeface="Times New Roman"/>
                <a:cs typeface="Times New Roman"/>
              </a:rPr>
              <a:t> </a:t>
            </a:r>
            <a:r>
              <a:rPr sz="7300" spc="110" dirty="0">
                <a:solidFill>
                  <a:srgbClr val="E84F08"/>
                </a:solidFill>
                <a:latin typeface="Times New Roman"/>
                <a:cs typeface="Times New Roman"/>
              </a:rPr>
              <a:t>things</a:t>
            </a:r>
            <a:r>
              <a:rPr sz="7300" spc="40" dirty="0">
                <a:solidFill>
                  <a:srgbClr val="E84F08"/>
                </a:solidFill>
                <a:latin typeface="Times New Roman"/>
                <a:cs typeface="Times New Roman"/>
              </a:rPr>
              <a:t> </a:t>
            </a:r>
            <a:r>
              <a:rPr sz="7300" spc="50" dirty="0">
                <a:solidFill>
                  <a:srgbClr val="E64B05"/>
                </a:solidFill>
                <a:latin typeface="Times New Roman"/>
                <a:cs typeface="Times New Roman"/>
              </a:rPr>
              <a:t>change.</a:t>
            </a:r>
            <a:endParaRPr sz="7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Words>681</Words>
  <Application>Microsoft Office PowerPoint</Application>
  <PresentationFormat>Custom</PresentationFormat>
  <Paragraphs>136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 MT</vt:lpstr>
      <vt:lpstr>Calibri</vt:lpstr>
      <vt:lpstr>Cambria</vt:lpstr>
      <vt:lpstr>Times New Roman</vt:lpstr>
      <vt:lpstr>Wingdings</vt:lpstr>
      <vt:lpstr>Office Theme</vt:lpstr>
      <vt:lpstr>PowerPoint Presentation</vt:lpstr>
      <vt:lpstr>How do we really ‘see’ an image?</vt:lpstr>
      <vt:lpstr>The ‘Normal’ View: The Spatial Domain</vt:lpstr>
      <vt:lpstr>A New Perspective: The Frequency Domain The Pourier Transform changes the question we ask.</vt:lpstr>
      <vt:lpstr>If Images Were Music...</vt:lpstr>
      <vt:lpstr>Mapping Frequencies</vt:lpstr>
      <vt:lpstr>Visualizing the Change</vt:lpstr>
      <vt:lpstr>The Mathematical Mechanism</vt:lpstr>
      <vt:lpstr>The Power of Separation</vt:lpstr>
      <vt:lpstr>The Filtering Workflow</vt:lpstr>
      <vt:lpstr>The Tools of the Trade: Filters</vt:lpstr>
      <vt:lpstr>Case Study: The Robot's Vision</vt:lpstr>
      <vt:lpstr>Why This Mahers for Computer Vision</vt:lpstr>
      <vt:lpstr>Key Definitions &amp; Concepts</vt:lpstr>
      <vt:lpstr>Fourier Transforms USED in Computer Vision</vt:lpstr>
      <vt:lpstr>PowerPoint Presentation</vt:lpstr>
      <vt:lpstr>Pixels tell us WHERE things are.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Anjali T</cp:lastModifiedBy>
  <cp:revision>6</cp:revision>
  <dcterms:created xsi:type="dcterms:W3CDTF">2026-01-29T03:12:03Z</dcterms:created>
  <dcterms:modified xsi:type="dcterms:W3CDTF">2026-01-29T05:14:51Z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2026-01-29T00:00:00Z</vt:filetime>
  </property>
  <property fmtid="{D5CDD505-2E9C-101B-9397-08002B2CF9AE}" pid="3" name="LastSaved">
    <vt:filetime>2026-01-29T00:00:00Z</vt:filetime>
  </property>
</Properties>
</file>