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9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684" y="494594"/>
            <a:ext cx="8309609" cy="681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0316" y="2296583"/>
            <a:ext cx="7594600" cy="4635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384" y="9455853"/>
            <a:ext cx="1232534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dirty="0"/>
              <a:t>The</a:t>
            </a:r>
            <a:r>
              <a:rPr sz="4300" spc="90" dirty="0"/>
              <a:t> </a:t>
            </a:r>
            <a:r>
              <a:rPr sz="4300" spc="95" dirty="0">
                <a:solidFill>
                  <a:srgbClr val="282828"/>
                </a:solidFill>
              </a:rPr>
              <a:t>world</a:t>
            </a:r>
            <a:r>
              <a:rPr sz="4300" spc="-50" dirty="0">
                <a:solidFill>
                  <a:srgbClr val="282828"/>
                </a:solidFill>
              </a:rPr>
              <a:t> </a:t>
            </a:r>
            <a:r>
              <a:rPr sz="4300" spc="75" dirty="0">
                <a:solidFill>
                  <a:srgbClr val="2A2A2A"/>
                </a:solidFill>
              </a:rPr>
              <a:t>is</a:t>
            </a:r>
            <a:r>
              <a:rPr sz="4300" spc="65" dirty="0">
                <a:solidFill>
                  <a:srgbClr val="2A2A2A"/>
                </a:solidFill>
              </a:rPr>
              <a:t> </a:t>
            </a:r>
            <a:r>
              <a:rPr sz="4300" spc="-20" dirty="0">
                <a:solidFill>
                  <a:srgbClr val="2B2B2B"/>
                </a:solidFill>
              </a:rPr>
              <a:t>3D.</a:t>
            </a:r>
            <a:r>
              <a:rPr sz="4300" spc="-95" dirty="0">
                <a:solidFill>
                  <a:srgbClr val="2B2B2B"/>
                </a:solidFill>
              </a:rPr>
              <a:t> </a:t>
            </a:r>
            <a:r>
              <a:rPr sz="4300" dirty="0">
                <a:solidFill>
                  <a:srgbClr val="2B2B2B"/>
                </a:solidFill>
              </a:rPr>
              <a:t>The</a:t>
            </a:r>
            <a:r>
              <a:rPr sz="4300" spc="-85" dirty="0">
                <a:solidFill>
                  <a:srgbClr val="2B2B2B"/>
                </a:solidFill>
              </a:rPr>
              <a:t> </a:t>
            </a:r>
            <a:r>
              <a:rPr sz="4300" dirty="0">
                <a:solidFill>
                  <a:srgbClr val="282828"/>
                </a:solidFill>
              </a:rPr>
              <a:t>image</a:t>
            </a:r>
            <a:r>
              <a:rPr sz="4300" spc="-35" dirty="0">
                <a:solidFill>
                  <a:srgbClr val="282828"/>
                </a:solidFill>
              </a:rPr>
              <a:t> </a:t>
            </a:r>
            <a:r>
              <a:rPr sz="4300" dirty="0">
                <a:solidFill>
                  <a:srgbClr val="2A2A2A"/>
                </a:solidFill>
              </a:rPr>
              <a:t>is</a:t>
            </a:r>
            <a:r>
              <a:rPr sz="4300" spc="210" dirty="0">
                <a:solidFill>
                  <a:srgbClr val="2A2A2A"/>
                </a:solidFill>
              </a:rPr>
              <a:t> </a:t>
            </a:r>
            <a:r>
              <a:rPr sz="4300" spc="-50" dirty="0">
                <a:solidFill>
                  <a:srgbClr val="2A2A2A"/>
                </a:solidFill>
              </a:rPr>
              <a:t>2D.</a:t>
            </a:r>
            <a:endParaRPr sz="4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B83AA29-3BE5-A26B-02A4-3C0013AB4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123691"/>
            <a:ext cx="13669219" cy="5506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dirty="0">
                <a:solidFill>
                  <a:srgbClr val="242424"/>
                </a:solidFill>
              </a:rPr>
              <a:t>The</a:t>
            </a:r>
            <a:r>
              <a:rPr sz="4300" spc="75" dirty="0">
                <a:solidFill>
                  <a:srgbClr val="242424"/>
                </a:solidFill>
              </a:rPr>
              <a:t> </a:t>
            </a:r>
            <a:r>
              <a:rPr sz="4300" dirty="0">
                <a:solidFill>
                  <a:srgbClr val="262626"/>
                </a:solidFill>
              </a:rPr>
              <a:t>Pinhole</a:t>
            </a:r>
            <a:r>
              <a:rPr sz="4300" spc="95" dirty="0">
                <a:solidFill>
                  <a:srgbClr val="262626"/>
                </a:solidFill>
              </a:rPr>
              <a:t> </a:t>
            </a:r>
            <a:r>
              <a:rPr sz="4300" spc="100" dirty="0">
                <a:solidFill>
                  <a:srgbClr val="282828"/>
                </a:solidFill>
              </a:rPr>
              <a:t>Model</a:t>
            </a:r>
            <a:endParaRPr sz="43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1815D7-75CD-F4B4-0C68-473791E2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2590800"/>
            <a:ext cx="13030200" cy="51156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2882900"/>
            <a:ext cx="4318000" cy="354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4500" y="2679700"/>
            <a:ext cx="3822700" cy="3695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25300" y="3302000"/>
            <a:ext cx="4406900" cy="2997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300" spc="60" dirty="0">
                <a:solidFill>
                  <a:srgbClr val="232323"/>
                </a:solidFill>
              </a:rPr>
              <a:t>Three</a:t>
            </a:r>
            <a:r>
              <a:rPr sz="4300" spc="55" dirty="0">
                <a:solidFill>
                  <a:srgbClr val="232323"/>
                </a:solidFill>
              </a:rPr>
              <a:t> </a:t>
            </a:r>
            <a:r>
              <a:rPr sz="4300" spc="165" dirty="0">
                <a:solidFill>
                  <a:srgbClr val="232323"/>
                </a:solidFill>
              </a:rPr>
              <a:t>factors</a:t>
            </a:r>
            <a:r>
              <a:rPr sz="4300" spc="-10" dirty="0">
                <a:solidFill>
                  <a:srgbClr val="232323"/>
                </a:solidFill>
              </a:rPr>
              <a:t> </a:t>
            </a:r>
            <a:r>
              <a:rPr sz="4300" spc="130" dirty="0">
                <a:solidFill>
                  <a:srgbClr val="262626"/>
                </a:solidFill>
              </a:rPr>
              <a:t>define</a:t>
            </a:r>
            <a:r>
              <a:rPr sz="4300" spc="25" dirty="0">
                <a:solidFill>
                  <a:srgbClr val="262626"/>
                </a:solidFill>
              </a:rPr>
              <a:t> </a:t>
            </a:r>
            <a:r>
              <a:rPr sz="4300" dirty="0">
                <a:solidFill>
                  <a:srgbClr val="363636"/>
                </a:solidFill>
              </a:rPr>
              <a:t>a</a:t>
            </a:r>
            <a:r>
              <a:rPr sz="4300" spc="-105" dirty="0">
                <a:solidFill>
                  <a:srgbClr val="363636"/>
                </a:solidFill>
              </a:rPr>
              <a:t> </a:t>
            </a:r>
            <a:r>
              <a:rPr sz="4300" spc="-10" dirty="0">
                <a:solidFill>
                  <a:srgbClr val="242424"/>
                </a:solidFill>
              </a:rPr>
              <a:t>camera</a:t>
            </a:r>
            <a:endParaRPr sz="4300"/>
          </a:p>
        </p:txBody>
      </p:sp>
      <p:sp>
        <p:nvSpPr>
          <p:cNvPr id="6" name="object 6"/>
          <p:cNvSpPr txBox="1"/>
          <p:nvPr/>
        </p:nvSpPr>
        <p:spPr>
          <a:xfrm>
            <a:off x="859739" y="1786113"/>
            <a:ext cx="690499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536565" algn="l"/>
              </a:tabLst>
            </a:pPr>
            <a:r>
              <a:rPr sz="2950" spc="-10" dirty="0">
                <a:latin typeface="Arial MT"/>
                <a:cs typeface="Arial MT"/>
              </a:rPr>
              <a:t>Position</a:t>
            </a:r>
            <a:r>
              <a:rPr sz="2950" dirty="0">
                <a:latin typeface="Arial MT"/>
                <a:cs typeface="Arial MT"/>
              </a:rPr>
              <a:t>	</a:t>
            </a:r>
            <a:r>
              <a:rPr sz="2950" spc="-40" dirty="0">
                <a:latin typeface="Arial MT"/>
                <a:cs typeface="Arial MT"/>
              </a:rPr>
              <a:t>Rotation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5374" y="4907491"/>
            <a:ext cx="9080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200" dirty="0">
                <a:latin typeface="Arial MT"/>
                <a:cs typeface="Arial MT"/>
              </a:rPr>
              <a:t>(0,0,0),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4932" y="5393972"/>
            <a:ext cx="1578610" cy="781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900"/>
              </a:lnSpc>
              <a:spcBef>
                <a:spcPts val="125"/>
              </a:spcBef>
            </a:pPr>
            <a:r>
              <a:rPr sz="2750" spc="-114" dirty="0">
                <a:latin typeface="Arial MT"/>
                <a:cs typeface="Arial MT"/>
              </a:rPr>
              <a:t>Translation</a:t>
            </a:r>
            <a:endParaRPr sz="2750">
              <a:latin typeface="Arial MT"/>
              <a:cs typeface="Arial MT"/>
            </a:endParaRPr>
          </a:p>
          <a:p>
            <a:pPr marL="1270" algn="ctr">
              <a:lnSpc>
                <a:spcPts val="3020"/>
              </a:lnSpc>
            </a:pPr>
            <a:r>
              <a:rPr sz="2850" spc="-10" dirty="0">
                <a:latin typeface="Arial MT"/>
                <a:cs typeface="Arial MT"/>
              </a:rPr>
              <a:t>vector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6574" y="4996391"/>
            <a:ext cx="8509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85" dirty="0">
                <a:latin typeface="Arial MT"/>
                <a:cs typeface="Arial MT"/>
              </a:rPr>
              <a:t>(1,0,0)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0202" y="6772275"/>
            <a:ext cx="3204845" cy="924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78485">
              <a:lnSpc>
                <a:spcPts val="3435"/>
              </a:lnSpc>
              <a:spcBef>
                <a:spcPts val="125"/>
              </a:spcBef>
            </a:pPr>
            <a:r>
              <a:rPr sz="3100" spc="-160" dirty="0">
                <a:latin typeface="Arial MT"/>
                <a:cs typeface="Arial MT"/>
              </a:rPr>
              <a:t>Where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is</a:t>
            </a:r>
            <a:r>
              <a:rPr sz="3100" spc="-254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it?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ts val="3615"/>
              </a:lnSpc>
            </a:pPr>
            <a:r>
              <a:rPr sz="3250" spc="-180" dirty="0">
                <a:latin typeface="Arial MT"/>
                <a:cs typeface="Arial MT"/>
              </a:rPr>
              <a:t>(Translation</a:t>
            </a:r>
            <a:r>
              <a:rPr sz="3250" spc="20" dirty="0">
                <a:latin typeface="Arial MT"/>
                <a:cs typeface="Arial MT"/>
              </a:rPr>
              <a:t> </a:t>
            </a:r>
            <a:r>
              <a:rPr sz="3250" spc="-125" dirty="0">
                <a:latin typeface="Arial MT"/>
                <a:cs typeface="Arial MT"/>
              </a:rPr>
              <a:t>vector)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1157" y="5682897"/>
            <a:ext cx="82296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75" dirty="0">
                <a:latin typeface="Arial MT"/>
                <a:cs typeface="Arial MT"/>
              </a:rPr>
              <a:t>Pitch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96963" y="2853972"/>
            <a:ext cx="65024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35" dirty="0">
                <a:latin typeface="Arial MT"/>
                <a:cs typeface="Arial MT"/>
              </a:rPr>
              <a:t>Yaw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04094" y="5536494"/>
            <a:ext cx="59372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190" dirty="0">
                <a:latin typeface="Arial MT"/>
                <a:cs typeface="Arial MT"/>
              </a:rPr>
              <a:t>Roll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23230" y="1786113"/>
            <a:ext cx="149225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10" dirty="0">
                <a:latin typeface="Arial MT"/>
                <a:cs typeface="Arial MT"/>
              </a:rPr>
              <a:t>Intrinsics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271649" y="2834922"/>
            <a:ext cx="219900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latin typeface="Arial MT"/>
                <a:cs typeface="Arial MT"/>
              </a:rPr>
              <a:t>Sensor</a:t>
            </a:r>
            <a:r>
              <a:rPr sz="2750" spc="-16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center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1557" y="6772275"/>
            <a:ext cx="3957954" cy="922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3460"/>
              </a:lnSpc>
              <a:spcBef>
                <a:spcPts val="125"/>
              </a:spcBef>
            </a:pPr>
            <a:r>
              <a:rPr sz="3100" spc="-105" dirty="0">
                <a:latin typeface="Arial MT"/>
                <a:cs typeface="Arial MT"/>
              </a:rPr>
              <a:t>Which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way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is</a:t>
            </a:r>
            <a:r>
              <a:rPr sz="3100" spc="-1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it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looking?</a:t>
            </a:r>
            <a:endParaRPr sz="3100">
              <a:latin typeface="Arial MT"/>
              <a:cs typeface="Arial MT"/>
            </a:endParaRPr>
          </a:p>
          <a:p>
            <a:pPr marR="18415" algn="ctr">
              <a:lnSpc>
                <a:spcPts val="3579"/>
              </a:lnSpc>
            </a:pPr>
            <a:r>
              <a:rPr sz="3200" spc="-120" dirty="0">
                <a:latin typeface="Arial MT"/>
                <a:cs typeface="Arial MT"/>
              </a:rPr>
              <a:t>(Orientation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matrix)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48337" y="6772275"/>
            <a:ext cx="4726940" cy="922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540" algn="ctr">
              <a:lnSpc>
                <a:spcPts val="3460"/>
              </a:lnSpc>
              <a:spcBef>
                <a:spcPts val="125"/>
              </a:spcBef>
            </a:pPr>
            <a:r>
              <a:rPr sz="3100" spc="-60" dirty="0">
                <a:latin typeface="Arial MT"/>
                <a:cs typeface="Arial MT"/>
              </a:rPr>
              <a:t>Internal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settings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ts val="3579"/>
              </a:lnSpc>
            </a:pPr>
            <a:r>
              <a:rPr sz="3200" spc="-210" dirty="0">
                <a:latin typeface="Arial MT"/>
                <a:cs typeface="Arial MT"/>
              </a:rPr>
              <a:t>(Focal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85" dirty="0">
                <a:latin typeface="Arial MT"/>
                <a:cs typeface="Arial MT"/>
              </a:rPr>
              <a:t>length,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sensor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center)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3058" y="8497358"/>
            <a:ext cx="15628619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175" dirty="0">
                <a:latin typeface="Arial MT"/>
                <a:cs typeface="Arial MT"/>
              </a:rPr>
              <a:t>Together,</a:t>
            </a:r>
            <a:r>
              <a:rPr sz="3550" spc="-80" dirty="0">
                <a:latin typeface="Arial MT"/>
                <a:cs typeface="Arial MT"/>
              </a:rPr>
              <a:t> </a:t>
            </a:r>
            <a:r>
              <a:rPr sz="3550" spc="-100" dirty="0">
                <a:latin typeface="Arial MT"/>
                <a:cs typeface="Arial MT"/>
              </a:rPr>
              <a:t>these</a:t>
            </a:r>
            <a:r>
              <a:rPr sz="3550" spc="-150" dirty="0">
                <a:latin typeface="Arial MT"/>
                <a:cs typeface="Arial MT"/>
              </a:rPr>
              <a:t> </a:t>
            </a:r>
            <a:r>
              <a:rPr sz="3550" spc="-130" dirty="0">
                <a:latin typeface="Arial MT"/>
                <a:cs typeface="Arial MT"/>
              </a:rPr>
              <a:t>parameters</a:t>
            </a:r>
            <a:r>
              <a:rPr sz="3550" spc="-120" dirty="0">
                <a:latin typeface="Arial MT"/>
                <a:cs typeface="Arial MT"/>
              </a:rPr>
              <a:t> </a:t>
            </a:r>
            <a:r>
              <a:rPr sz="3550" spc="-40" dirty="0">
                <a:latin typeface="Arial MT"/>
                <a:cs typeface="Arial MT"/>
              </a:rPr>
              <a:t>dictate</a:t>
            </a:r>
            <a:r>
              <a:rPr sz="3550" spc="-204" dirty="0">
                <a:latin typeface="Arial MT"/>
                <a:cs typeface="Arial MT"/>
              </a:rPr>
              <a:t> </a:t>
            </a:r>
            <a:r>
              <a:rPr sz="3550" spc="-85" dirty="0">
                <a:latin typeface="Arial MT"/>
                <a:cs typeface="Arial MT"/>
              </a:rPr>
              <a:t>exactly</a:t>
            </a:r>
            <a:r>
              <a:rPr sz="3550" spc="-160" dirty="0">
                <a:latin typeface="Arial MT"/>
                <a:cs typeface="Arial MT"/>
              </a:rPr>
              <a:t> </a:t>
            </a:r>
            <a:r>
              <a:rPr sz="3550" spc="-110" dirty="0">
                <a:latin typeface="Arial MT"/>
                <a:cs typeface="Arial MT"/>
              </a:rPr>
              <a:t>how</a:t>
            </a:r>
            <a:r>
              <a:rPr sz="3550" spc="-140" dirty="0">
                <a:latin typeface="Arial MT"/>
                <a:cs typeface="Arial MT"/>
              </a:rPr>
              <a:t> </a:t>
            </a:r>
            <a:r>
              <a:rPr sz="3550" spc="-280" dirty="0">
                <a:latin typeface="Arial MT"/>
                <a:cs typeface="Arial MT"/>
              </a:rPr>
              <a:t>a</a:t>
            </a:r>
            <a:r>
              <a:rPr sz="3550" spc="-20" dirty="0">
                <a:latin typeface="Arial MT"/>
                <a:cs typeface="Arial MT"/>
              </a:rPr>
              <a:t> </a:t>
            </a:r>
            <a:r>
              <a:rPr sz="3550" spc="-235" dirty="0">
                <a:latin typeface="Arial MT"/>
                <a:cs typeface="Arial MT"/>
              </a:rPr>
              <a:t>3D</a:t>
            </a:r>
            <a:r>
              <a:rPr sz="3550" spc="-100" dirty="0">
                <a:latin typeface="Arial MT"/>
                <a:cs typeface="Arial MT"/>
              </a:rPr>
              <a:t> </a:t>
            </a:r>
            <a:r>
              <a:rPr sz="3550" spc="-60" dirty="0">
                <a:latin typeface="Arial MT"/>
                <a:cs typeface="Arial MT"/>
              </a:rPr>
              <a:t>point</a:t>
            </a:r>
            <a:r>
              <a:rPr sz="3550" spc="-150" dirty="0">
                <a:latin typeface="Arial MT"/>
                <a:cs typeface="Arial MT"/>
              </a:rPr>
              <a:t> </a:t>
            </a:r>
            <a:r>
              <a:rPr sz="3550" spc="-125" dirty="0">
                <a:latin typeface="Arial MT"/>
                <a:cs typeface="Arial MT"/>
              </a:rPr>
              <a:t>lands</a:t>
            </a:r>
            <a:r>
              <a:rPr sz="3550" spc="-95" dirty="0">
                <a:latin typeface="Arial MT"/>
                <a:cs typeface="Arial MT"/>
              </a:rPr>
              <a:t> </a:t>
            </a:r>
            <a:r>
              <a:rPr sz="3550" spc="-170" dirty="0">
                <a:latin typeface="Arial MT"/>
                <a:cs typeface="Arial MT"/>
              </a:rPr>
              <a:t>on</a:t>
            </a:r>
            <a:r>
              <a:rPr sz="3550" spc="-160" dirty="0">
                <a:latin typeface="Arial MT"/>
                <a:cs typeface="Arial MT"/>
              </a:rPr>
              <a:t> </a:t>
            </a:r>
            <a:r>
              <a:rPr sz="3550" spc="-280" dirty="0">
                <a:latin typeface="Arial MT"/>
                <a:cs typeface="Arial MT"/>
              </a:rPr>
              <a:t>a</a:t>
            </a:r>
            <a:r>
              <a:rPr sz="3550" spc="15" dirty="0">
                <a:latin typeface="Arial MT"/>
                <a:cs typeface="Arial MT"/>
              </a:rPr>
              <a:t> </a:t>
            </a:r>
            <a:r>
              <a:rPr sz="3550" spc="-75" dirty="0">
                <a:latin typeface="Arial MT"/>
                <a:cs typeface="Arial MT"/>
              </a:rPr>
              <a:t>specific</a:t>
            </a:r>
            <a:r>
              <a:rPr sz="3550" spc="60" dirty="0">
                <a:latin typeface="Arial MT"/>
                <a:cs typeface="Arial MT"/>
              </a:rPr>
              <a:t> </a:t>
            </a:r>
            <a:r>
              <a:rPr sz="3550" spc="-10" dirty="0">
                <a:latin typeface="Arial MT"/>
                <a:cs typeface="Arial MT"/>
              </a:rPr>
              <a:t>pixel.</a:t>
            </a:r>
            <a:endParaRPr sz="3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800" y="5194300"/>
            <a:ext cx="5588000" cy="2146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41200" y="6438900"/>
            <a:ext cx="4470400" cy="2413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41200" y="3289300"/>
            <a:ext cx="4470400" cy="2400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8478" y="291707"/>
            <a:ext cx="12117705" cy="190055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6150" spc="-20" dirty="0">
                <a:latin typeface="Calibri"/>
                <a:cs typeface="Calibri"/>
              </a:rPr>
              <a:t>Position</a:t>
            </a:r>
            <a:r>
              <a:rPr sz="6150" spc="-285" dirty="0">
                <a:latin typeface="Calibri"/>
                <a:cs typeface="Calibri"/>
              </a:rPr>
              <a:t> </a:t>
            </a:r>
            <a:r>
              <a:rPr sz="6150" dirty="0">
                <a:solidFill>
                  <a:srgbClr val="282828"/>
                </a:solidFill>
                <a:latin typeface="Calibri"/>
                <a:cs typeface="Calibri"/>
              </a:rPr>
              <a:t>dictates</a:t>
            </a:r>
            <a:r>
              <a:rPr sz="6150" spc="-29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6150" spc="-10" dirty="0">
                <a:solidFill>
                  <a:srgbClr val="2B2B2B"/>
                </a:solidFill>
                <a:latin typeface="Calibri"/>
                <a:cs typeface="Calibri"/>
              </a:rPr>
              <a:t>perspective</a:t>
            </a:r>
            <a:endParaRPr sz="6150">
              <a:latin typeface="Calibri"/>
              <a:cs typeface="Calibri"/>
            </a:endParaRPr>
          </a:p>
          <a:p>
            <a:pPr marL="36830" marR="5080" indent="-16510">
              <a:lnSpc>
                <a:spcPct val="79200"/>
              </a:lnSpc>
              <a:spcBef>
                <a:spcPts val="1035"/>
              </a:spcBef>
            </a:pPr>
            <a:r>
              <a:rPr sz="3050" spc="-45" dirty="0">
                <a:solidFill>
                  <a:srgbClr val="131313"/>
                </a:solidFill>
                <a:latin typeface="Calibri"/>
                <a:cs typeface="Calibri"/>
              </a:rPr>
              <a:t>Imagine</a:t>
            </a:r>
            <a:r>
              <a:rPr sz="3050" spc="-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050" spc="-95" dirty="0">
                <a:solidFill>
                  <a:srgbClr val="181818"/>
                </a:solidFill>
                <a:latin typeface="Calibri"/>
                <a:cs typeface="Calibri"/>
              </a:rPr>
              <a:t>taking</a:t>
            </a:r>
            <a:r>
              <a:rPr sz="3050" spc="-6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050" spc="1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3050" spc="-3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050" spc="-175" dirty="0">
                <a:solidFill>
                  <a:srgbClr val="1C1C1C"/>
                </a:solidFill>
                <a:latin typeface="Calibri"/>
                <a:cs typeface="Calibri"/>
              </a:rPr>
              <a:t>photo</a:t>
            </a:r>
            <a:r>
              <a:rPr sz="3050" spc="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050" spc="-155" dirty="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sz="3050" spc="-3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050" spc="1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3050" spc="-3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50" spc="-105" dirty="0">
                <a:solidFill>
                  <a:srgbClr val="151515"/>
                </a:solidFill>
                <a:latin typeface="Calibri"/>
                <a:cs typeface="Calibri"/>
              </a:rPr>
              <a:t>chair,</a:t>
            </a:r>
            <a:r>
              <a:rPr sz="3050" spc="-4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050" spc="-100" dirty="0">
                <a:solidFill>
                  <a:srgbClr val="181818"/>
                </a:solidFill>
                <a:latin typeface="Calibri"/>
                <a:cs typeface="Calibri"/>
              </a:rPr>
              <a:t>stepping</a:t>
            </a:r>
            <a:r>
              <a:rPr sz="305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050" spc="-18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3050" spc="-1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050" spc="-120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3050" spc="-1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050" spc="-65" dirty="0">
                <a:solidFill>
                  <a:srgbClr val="161616"/>
                </a:solidFill>
                <a:latin typeface="Calibri"/>
                <a:cs typeface="Calibri"/>
              </a:rPr>
              <a:t>left,</a:t>
            </a:r>
            <a:r>
              <a:rPr sz="3050" spc="-1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050" spc="-110" dirty="0">
                <a:solidFill>
                  <a:srgbClr val="181818"/>
                </a:solidFill>
                <a:latin typeface="Calibri"/>
                <a:cs typeface="Calibri"/>
              </a:rPr>
              <a:t>and</a:t>
            </a:r>
            <a:r>
              <a:rPr sz="305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050" spc="-95" dirty="0">
                <a:solidFill>
                  <a:srgbClr val="151515"/>
                </a:solidFill>
                <a:latin typeface="Calibri"/>
                <a:cs typeface="Calibri"/>
              </a:rPr>
              <a:t>taking</a:t>
            </a:r>
            <a:r>
              <a:rPr sz="3050" spc="-6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050" spc="-160" dirty="0">
                <a:solidFill>
                  <a:srgbClr val="0F0F0F"/>
                </a:solidFill>
                <a:latin typeface="Calibri"/>
                <a:cs typeface="Calibri"/>
              </a:rPr>
              <a:t>another.</a:t>
            </a:r>
            <a:r>
              <a:rPr sz="3050" spc="4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050" spc="-120" dirty="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sz="3050" spc="-9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1A1A1A"/>
                </a:solidFill>
                <a:latin typeface="Calibri"/>
                <a:cs typeface="Calibri"/>
              </a:rPr>
              <a:t>chair </a:t>
            </a:r>
            <a:r>
              <a:rPr sz="3050" spc="-165" dirty="0">
                <a:solidFill>
                  <a:srgbClr val="161616"/>
                </a:solidFill>
                <a:latin typeface="Calibri"/>
                <a:cs typeface="Calibri"/>
              </a:rPr>
              <a:t>moves</a:t>
            </a:r>
            <a:r>
              <a:rPr sz="3050" spc="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050" spc="-85" dirty="0">
                <a:solidFill>
                  <a:srgbClr val="1D1D1D"/>
                </a:solidFill>
                <a:latin typeface="Calibri"/>
                <a:cs typeface="Calibri"/>
              </a:rPr>
              <a:t>in</a:t>
            </a:r>
            <a:r>
              <a:rPr sz="3050" spc="-7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050" spc="-165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3050" spc="-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050" spc="-145" dirty="0">
                <a:solidFill>
                  <a:srgbClr val="161616"/>
                </a:solidFill>
                <a:latin typeface="Calibri"/>
                <a:cs typeface="Calibri"/>
              </a:rPr>
              <a:t>frame</a:t>
            </a:r>
            <a:r>
              <a:rPr sz="3050" spc="-1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050" spc="-100" dirty="0">
                <a:solidFill>
                  <a:srgbClr val="1A1A1A"/>
                </a:solidFill>
                <a:latin typeface="Calibri"/>
                <a:cs typeface="Calibri"/>
              </a:rPr>
              <a:t>because</a:t>
            </a:r>
            <a:r>
              <a:rPr sz="3050" spc="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050" spc="-120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3050" spc="-18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050" spc="-114" dirty="0">
                <a:solidFill>
                  <a:srgbClr val="161616"/>
                </a:solidFill>
                <a:latin typeface="Calibri"/>
                <a:cs typeface="Calibri"/>
              </a:rPr>
              <a:t>camera's</a:t>
            </a:r>
            <a:r>
              <a:rPr sz="3050" spc="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050" spc="-114" dirty="0">
                <a:solidFill>
                  <a:srgbClr val="161616"/>
                </a:solidFill>
                <a:latin typeface="Calibri"/>
                <a:cs typeface="Calibri"/>
              </a:rPr>
              <a:t>position</a:t>
            </a:r>
            <a:r>
              <a:rPr sz="3050" spc="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050" spc="-85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3050" spc="-7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050" spc="-165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3050" spc="-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050" spc="-114" dirty="0">
                <a:solidFill>
                  <a:srgbClr val="212121"/>
                </a:solidFill>
                <a:latin typeface="Calibri"/>
                <a:cs typeface="Calibri"/>
              </a:rPr>
              <a:t>3D</a:t>
            </a:r>
            <a:r>
              <a:rPr sz="3050" spc="-1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050" spc="-155" dirty="0">
                <a:solidFill>
                  <a:srgbClr val="151515"/>
                </a:solidFill>
                <a:latin typeface="Calibri"/>
                <a:cs typeface="Calibri"/>
              </a:rPr>
              <a:t>world</a:t>
            </a:r>
            <a:r>
              <a:rPr sz="3050" spc="-8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111111"/>
                </a:solidFill>
                <a:latin typeface="Calibri"/>
                <a:cs typeface="Calibri"/>
              </a:rPr>
              <a:t>changed.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3262" y="2652536"/>
            <a:ext cx="1340993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273155" algn="l"/>
              </a:tabLst>
            </a:pPr>
            <a:r>
              <a:rPr sz="3250" spc="-120" dirty="0">
                <a:solidFill>
                  <a:srgbClr val="1A1A1A"/>
                </a:solidFill>
                <a:latin typeface="Calibri"/>
                <a:cs typeface="Calibri"/>
              </a:rPr>
              <a:t>Top-</a:t>
            </a:r>
            <a:r>
              <a:rPr sz="3250" spc="-90" dirty="0">
                <a:solidFill>
                  <a:srgbClr val="1A1A1A"/>
                </a:solidFill>
                <a:latin typeface="Calibri"/>
                <a:cs typeface="Calibri"/>
              </a:rPr>
              <a:t>Down</a:t>
            </a:r>
            <a:r>
              <a:rPr sz="325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50" spc="-100" dirty="0">
                <a:solidFill>
                  <a:srgbClr val="212121"/>
                </a:solidFill>
                <a:latin typeface="Calibri"/>
                <a:cs typeface="Calibri"/>
              </a:rPr>
              <a:t>View</a:t>
            </a:r>
            <a:r>
              <a:rPr sz="3250" spc="-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1F1F1F"/>
                </a:solidFill>
                <a:latin typeface="Calibri"/>
                <a:cs typeface="Calibri"/>
              </a:rPr>
              <a:t>(3D</a:t>
            </a:r>
            <a:r>
              <a:rPr sz="3250" spc="-1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12121"/>
                </a:solidFill>
                <a:latin typeface="Calibri"/>
                <a:cs typeface="Calibri"/>
              </a:rPr>
              <a:t>Space)</a:t>
            </a:r>
            <a:r>
              <a:rPr sz="32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3250" spc="-55" dirty="0">
                <a:solidFill>
                  <a:srgbClr val="212121"/>
                </a:solidFill>
                <a:latin typeface="Calibri"/>
                <a:cs typeface="Calibri"/>
              </a:rPr>
              <a:t>Camera</a:t>
            </a:r>
            <a:r>
              <a:rPr sz="3250" spc="-1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50" spc="-70" dirty="0">
                <a:solidFill>
                  <a:srgbClr val="242424"/>
                </a:solidFill>
                <a:latin typeface="Calibri"/>
                <a:cs typeface="Calibri"/>
              </a:rPr>
              <a:t>View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7616" y="5636683"/>
            <a:ext cx="1117600" cy="1130300"/>
          </a:xfrm>
          <a:prstGeom prst="rect">
            <a:avLst/>
          </a:prstGeom>
          <a:ln w="21166">
            <a:solidFill>
              <a:srgbClr val="136B77"/>
            </a:solidFill>
          </a:ln>
        </p:spPr>
        <p:txBody>
          <a:bodyPr vert="horz" wrap="square" lIns="0" tIns="255904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2014"/>
              </a:spcBef>
            </a:pPr>
            <a:r>
              <a:rPr sz="3050" spc="-10" dirty="0">
                <a:solidFill>
                  <a:srgbClr val="181818"/>
                </a:solidFill>
                <a:latin typeface="Calibri"/>
                <a:cs typeface="Calibri"/>
              </a:rPr>
              <a:t>Chair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36049" y="5692069"/>
            <a:ext cx="145415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85" dirty="0">
                <a:solidFill>
                  <a:srgbClr val="161616"/>
                </a:solidFill>
                <a:latin typeface="Calibri"/>
                <a:cs typeface="Calibri"/>
              </a:rPr>
              <a:t>View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95" dirty="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sz="24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36636" y="8889647"/>
            <a:ext cx="143192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131313"/>
                </a:solidFill>
                <a:latin typeface="Calibri"/>
                <a:cs typeface="Calibri"/>
              </a:rPr>
              <a:t>View</a:t>
            </a:r>
            <a:r>
              <a:rPr sz="2150" spc="17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sz="2150" spc="8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150" spc="-50" dirty="0">
                <a:solidFill>
                  <a:srgbClr val="151515"/>
                </a:solidFill>
                <a:latin typeface="Calibri"/>
                <a:cs typeface="Calibri"/>
              </a:rPr>
              <a:t>B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00" y="8026400"/>
            <a:ext cx="15963900" cy="1181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1900" y="2463800"/>
            <a:ext cx="9931400" cy="39243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787900" y="882650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6262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58249" y="582083"/>
            <a:ext cx="8126730" cy="1231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900" spc="155" dirty="0">
                <a:solidFill>
                  <a:srgbClr val="313131"/>
                </a:solidFill>
              </a:rPr>
              <a:t>“The</a:t>
            </a:r>
            <a:r>
              <a:rPr sz="7900" spc="-335" dirty="0">
                <a:solidFill>
                  <a:srgbClr val="313131"/>
                </a:solidFill>
              </a:rPr>
              <a:t> </a:t>
            </a:r>
            <a:r>
              <a:rPr sz="7900" dirty="0">
                <a:solidFill>
                  <a:srgbClr val="2F2F2F"/>
                </a:solidFill>
              </a:rPr>
              <a:t>Second</a:t>
            </a:r>
            <a:r>
              <a:rPr sz="7900" spc="-145" dirty="0">
                <a:solidFill>
                  <a:srgbClr val="2F2F2F"/>
                </a:solidFill>
              </a:rPr>
              <a:t> </a:t>
            </a:r>
            <a:r>
              <a:rPr sz="7900" spc="-35" dirty="0">
                <a:solidFill>
                  <a:srgbClr val="2B2B2B"/>
                </a:solidFill>
              </a:rPr>
              <a:t>Eye"</a:t>
            </a:r>
            <a:endParaRPr sz="7900"/>
          </a:p>
        </p:txBody>
      </p:sp>
      <p:sp>
        <p:nvSpPr>
          <p:cNvPr id="6" name="object 6"/>
          <p:cNvSpPr txBox="1"/>
          <p:nvPr/>
        </p:nvSpPr>
        <p:spPr>
          <a:xfrm>
            <a:off x="9560242" y="2429933"/>
            <a:ext cx="152146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latin typeface="Arial MT"/>
                <a:cs typeface="Arial MT"/>
              </a:rPr>
              <a:t>3D</a:t>
            </a:r>
            <a:r>
              <a:rPr sz="2900" spc="-14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Point)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7037" y="5248275"/>
            <a:ext cx="15272385" cy="39706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634" algn="ctr">
              <a:lnSpc>
                <a:spcPct val="100000"/>
              </a:lnSpc>
              <a:spcBef>
                <a:spcPts val="125"/>
              </a:spcBef>
            </a:pPr>
            <a:r>
              <a:rPr sz="3100" spc="-10" dirty="0">
                <a:latin typeface="Arial MT"/>
                <a:cs typeface="Arial MT"/>
              </a:rPr>
              <a:t>Baseline</a:t>
            </a:r>
            <a:endParaRPr sz="3100">
              <a:latin typeface="Arial MT"/>
              <a:cs typeface="Arial MT"/>
            </a:endParaRPr>
          </a:p>
          <a:p>
            <a:pPr marL="537845" algn="ctr">
              <a:lnSpc>
                <a:spcPct val="100000"/>
              </a:lnSpc>
              <a:spcBef>
                <a:spcPts val="2480"/>
              </a:spcBef>
              <a:tabLst>
                <a:tab pos="9732645" algn="l"/>
              </a:tabLst>
            </a:pPr>
            <a:r>
              <a:rPr sz="3200" spc="-130" dirty="0">
                <a:latin typeface="Arial MT"/>
                <a:cs typeface="Arial MT"/>
              </a:rPr>
              <a:t>Camera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350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14" dirty="0">
                <a:latin typeface="Arial MT"/>
                <a:cs typeface="Arial MT"/>
              </a:rPr>
              <a:t>Camera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395" dirty="0">
                <a:latin typeface="Arial MT"/>
                <a:cs typeface="Arial MT"/>
              </a:rPr>
              <a:t>B</a:t>
            </a:r>
            <a:endParaRPr sz="3200">
              <a:latin typeface="Arial MT"/>
              <a:cs typeface="Arial MT"/>
            </a:endParaRPr>
          </a:p>
          <a:p>
            <a:pPr marL="19685" marR="1115060" indent="-7620">
              <a:lnSpc>
                <a:spcPts val="4050"/>
              </a:lnSpc>
              <a:spcBef>
                <a:spcPts val="2270"/>
              </a:spcBef>
            </a:pPr>
            <a:r>
              <a:rPr sz="3750" spc="-290" dirty="0">
                <a:latin typeface="Arial MT"/>
                <a:cs typeface="Arial MT"/>
              </a:rPr>
              <a:t>To</a:t>
            </a:r>
            <a:r>
              <a:rPr sz="3750" spc="-15" dirty="0">
                <a:latin typeface="Arial MT"/>
                <a:cs typeface="Arial MT"/>
              </a:rPr>
              <a:t> </a:t>
            </a:r>
            <a:r>
              <a:rPr sz="3750" spc="-60" dirty="0">
                <a:latin typeface="Arial MT"/>
                <a:cs typeface="Arial MT"/>
              </a:rPr>
              <a:t>understand</a:t>
            </a:r>
            <a:r>
              <a:rPr sz="3750" spc="-19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depth,</a:t>
            </a:r>
            <a:r>
              <a:rPr sz="3750" spc="-220" dirty="0">
                <a:latin typeface="Arial MT"/>
                <a:cs typeface="Arial MT"/>
              </a:rPr>
              <a:t> </a:t>
            </a:r>
            <a:r>
              <a:rPr sz="3750" spc="-170" dirty="0">
                <a:latin typeface="Arial MT"/>
                <a:cs typeface="Arial MT"/>
              </a:rPr>
              <a:t>we</a:t>
            </a:r>
            <a:r>
              <a:rPr sz="3750" spc="-90" dirty="0">
                <a:latin typeface="Arial MT"/>
                <a:cs typeface="Arial MT"/>
              </a:rPr>
              <a:t> </a:t>
            </a:r>
            <a:r>
              <a:rPr sz="3750" spc="-55" dirty="0">
                <a:latin typeface="Arial MT"/>
                <a:cs typeface="Arial MT"/>
              </a:rPr>
              <a:t>need</a:t>
            </a:r>
            <a:r>
              <a:rPr sz="3750" spc="-110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two</a:t>
            </a:r>
            <a:r>
              <a:rPr sz="3750" spc="-125" dirty="0">
                <a:latin typeface="Arial MT"/>
                <a:cs typeface="Arial MT"/>
              </a:rPr>
              <a:t> </a:t>
            </a:r>
            <a:r>
              <a:rPr sz="3750" spc="-60" dirty="0">
                <a:latin typeface="Arial MT"/>
                <a:cs typeface="Arial MT"/>
              </a:rPr>
              <a:t>perspectives.</a:t>
            </a:r>
            <a:r>
              <a:rPr sz="3750" spc="65" dirty="0">
                <a:latin typeface="Arial MT"/>
                <a:cs typeface="Arial MT"/>
              </a:rPr>
              <a:t> </a:t>
            </a:r>
            <a:r>
              <a:rPr sz="3750" spc="-105" dirty="0">
                <a:latin typeface="Arial MT"/>
                <a:cs typeface="Arial MT"/>
              </a:rPr>
              <a:t>Epipolar</a:t>
            </a:r>
            <a:r>
              <a:rPr sz="3750" spc="20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geometry </a:t>
            </a:r>
            <a:r>
              <a:rPr sz="3750" spc="-55" dirty="0">
                <a:latin typeface="Arial MT"/>
                <a:cs typeface="Arial MT"/>
              </a:rPr>
              <a:t>describes</a:t>
            </a:r>
            <a:r>
              <a:rPr sz="3750" spc="-140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the</a:t>
            </a:r>
            <a:r>
              <a:rPr sz="3750" spc="-250" dirty="0">
                <a:latin typeface="Arial MT"/>
                <a:cs typeface="Arial MT"/>
              </a:rPr>
              <a:t> </a:t>
            </a:r>
            <a:r>
              <a:rPr sz="3750" spc="-65" dirty="0">
                <a:latin typeface="Arial MT"/>
                <a:cs typeface="Arial MT"/>
              </a:rPr>
              <a:t>mathematical</a:t>
            </a:r>
            <a:r>
              <a:rPr sz="3750" spc="-20" dirty="0">
                <a:latin typeface="Arial MT"/>
                <a:cs typeface="Arial MT"/>
              </a:rPr>
              <a:t> </a:t>
            </a:r>
            <a:r>
              <a:rPr sz="3750" spc="-65" dirty="0">
                <a:latin typeface="Arial MT"/>
                <a:cs typeface="Arial MT"/>
              </a:rPr>
              <a:t>relationship</a:t>
            </a:r>
            <a:r>
              <a:rPr sz="3750" spc="120" dirty="0">
                <a:latin typeface="Arial MT"/>
                <a:cs typeface="Arial MT"/>
              </a:rPr>
              <a:t> </a:t>
            </a:r>
            <a:r>
              <a:rPr sz="3750" spc="-45" dirty="0">
                <a:latin typeface="Arial MT"/>
                <a:cs typeface="Arial MT"/>
              </a:rPr>
              <a:t>between</a:t>
            </a:r>
            <a:r>
              <a:rPr sz="3750" spc="-160" dirty="0">
                <a:latin typeface="Arial MT"/>
                <a:cs typeface="Arial MT"/>
              </a:rPr>
              <a:t> </a:t>
            </a:r>
            <a:r>
              <a:rPr sz="3750" spc="-50" dirty="0">
                <a:latin typeface="Arial MT"/>
                <a:cs typeface="Arial MT"/>
              </a:rPr>
              <a:t>these</a:t>
            </a:r>
            <a:r>
              <a:rPr sz="3750" spc="-18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two</a:t>
            </a:r>
            <a:r>
              <a:rPr sz="3750" spc="-240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cameras.</a:t>
            </a:r>
            <a:endParaRPr sz="3750">
              <a:latin typeface="Arial MT"/>
              <a:cs typeface="Arial MT"/>
            </a:endParaRPr>
          </a:p>
          <a:p>
            <a:pPr marL="98425" marR="5080" indent="-20320">
              <a:lnSpc>
                <a:spcPts val="4100"/>
              </a:lnSpc>
              <a:spcBef>
                <a:spcPts val="2510"/>
              </a:spcBef>
              <a:tabLst>
                <a:tab pos="4298950" algn="l"/>
              </a:tabLst>
            </a:pPr>
            <a:r>
              <a:rPr sz="3650" spc="-100" dirty="0">
                <a:latin typeface="Arial MT"/>
                <a:cs typeface="Arial MT"/>
              </a:rPr>
              <a:t>Key</a:t>
            </a:r>
            <a:r>
              <a:rPr sz="3650" spc="-95" dirty="0">
                <a:latin typeface="Arial MT"/>
                <a:cs typeface="Arial MT"/>
              </a:rPr>
              <a:t> </a:t>
            </a:r>
            <a:r>
              <a:rPr sz="3650" spc="-40" dirty="0">
                <a:latin typeface="Arial MT"/>
                <a:cs typeface="Arial MT"/>
              </a:rPr>
              <a:t>Question:</a:t>
            </a:r>
            <a:r>
              <a:rPr sz="3650" spc="-11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If</a:t>
            </a:r>
            <a:r>
              <a:rPr sz="3650" spc="2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we</a:t>
            </a:r>
            <a:r>
              <a:rPr sz="3650" spc="-20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find</a:t>
            </a:r>
            <a:r>
              <a:rPr sz="3650" spc="-19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a</a:t>
            </a:r>
            <a:r>
              <a:rPr sz="3650" spc="-14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feature</a:t>
            </a:r>
            <a:r>
              <a:rPr sz="3650" spc="40" dirty="0">
                <a:latin typeface="Arial MT"/>
                <a:cs typeface="Arial MT"/>
              </a:rPr>
              <a:t> </a:t>
            </a:r>
            <a:r>
              <a:rPr sz="3650" spc="-40" dirty="0">
                <a:latin typeface="Arial MT"/>
                <a:cs typeface="Arial MT"/>
              </a:rPr>
              <a:t>(like</a:t>
            </a:r>
            <a:r>
              <a:rPr sz="3650" spc="-17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a</a:t>
            </a:r>
            <a:r>
              <a:rPr sz="3650" spc="-17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table</a:t>
            </a:r>
            <a:r>
              <a:rPr sz="3650" spc="-17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corner)</a:t>
            </a:r>
            <a:r>
              <a:rPr sz="3650" spc="4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in</a:t>
            </a:r>
            <a:r>
              <a:rPr sz="3650" spc="-225" dirty="0">
                <a:latin typeface="Arial MT"/>
                <a:cs typeface="Arial MT"/>
              </a:rPr>
              <a:t> </a:t>
            </a:r>
            <a:r>
              <a:rPr sz="3650" spc="-40" dirty="0">
                <a:latin typeface="Arial MT"/>
                <a:cs typeface="Arial MT"/>
              </a:rPr>
              <a:t>Image</a:t>
            </a:r>
            <a:r>
              <a:rPr sz="3650" spc="-100" dirty="0">
                <a:latin typeface="Arial MT"/>
                <a:cs typeface="Arial MT"/>
              </a:rPr>
              <a:t> </a:t>
            </a:r>
            <a:r>
              <a:rPr sz="3650" spc="-60" dirty="0">
                <a:latin typeface="Arial MT"/>
                <a:cs typeface="Arial MT"/>
              </a:rPr>
              <a:t>A,</a:t>
            </a:r>
            <a:r>
              <a:rPr sz="3650" spc="-160" dirty="0">
                <a:latin typeface="Arial MT"/>
                <a:cs typeface="Arial MT"/>
              </a:rPr>
              <a:t> </a:t>
            </a:r>
            <a:r>
              <a:rPr sz="3650" spc="-10" dirty="0">
                <a:latin typeface="Arial MT"/>
                <a:cs typeface="Arial MT"/>
              </a:rPr>
              <a:t>where</a:t>
            </a:r>
            <a:r>
              <a:rPr sz="3650" spc="-75" dirty="0">
                <a:latin typeface="Arial MT"/>
                <a:cs typeface="Arial MT"/>
              </a:rPr>
              <a:t> </a:t>
            </a:r>
            <a:r>
              <a:rPr sz="3650" spc="-25" dirty="0">
                <a:latin typeface="Arial MT"/>
                <a:cs typeface="Arial MT"/>
              </a:rPr>
              <a:t>do </a:t>
            </a:r>
            <a:r>
              <a:rPr sz="3650" dirty="0">
                <a:latin typeface="Arial MT"/>
                <a:cs typeface="Arial MT"/>
              </a:rPr>
              <a:t>we</a:t>
            </a:r>
            <a:r>
              <a:rPr sz="3650" spc="-12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look</a:t>
            </a:r>
            <a:r>
              <a:rPr sz="3650" spc="7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for</a:t>
            </a:r>
            <a:r>
              <a:rPr sz="3650" spc="-60" dirty="0">
                <a:latin typeface="Arial MT"/>
                <a:cs typeface="Arial MT"/>
              </a:rPr>
              <a:t> </a:t>
            </a:r>
            <a:r>
              <a:rPr sz="3650" spc="50" dirty="0">
                <a:latin typeface="Arial MT"/>
                <a:cs typeface="Arial MT"/>
              </a:rPr>
              <a:t>it</a:t>
            </a:r>
            <a:r>
              <a:rPr sz="3650" spc="-17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in</a:t>
            </a:r>
            <a:r>
              <a:rPr sz="3650" spc="-155" dirty="0">
                <a:latin typeface="Arial MT"/>
                <a:cs typeface="Arial MT"/>
              </a:rPr>
              <a:t> </a:t>
            </a:r>
            <a:r>
              <a:rPr sz="3650" spc="-25" dirty="0">
                <a:latin typeface="Arial MT"/>
                <a:cs typeface="Arial MT"/>
              </a:rPr>
              <a:t>Ima</a:t>
            </a:r>
            <a:r>
              <a:rPr sz="3650" dirty="0">
                <a:latin typeface="Arial MT"/>
                <a:cs typeface="Arial MT"/>
              </a:rPr>
              <a:t>	e</a:t>
            </a:r>
            <a:r>
              <a:rPr sz="3650" spc="-180" dirty="0">
                <a:latin typeface="Arial MT"/>
                <a:cs typeface="Arial MT"/>
              </a:rPr>
              <a:t> </a:t>
            </a:r>
            <a:r>
              <a:rPr sz="3650" spc="-365" dirty="0">
                <a:latin typeface="Arial MT"/>
                <a:cs typeface="Arial MT"/>
              </a:rPr>
              <a:t>B?</a:t>
            </a:r>
            <a:endParaRPr sz="3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2908300"/>
            <a:ext cx="11887200" cy="5715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40316" y="2586567"/>
            <a:ext cx="0" cy="6405245"/>
          </a:xfrm>
          <a:custGeom>
            <a:avLst/>
            <a:gdLst/>
            <a:ahLst/>
            <a:cxnLst/>
            <a:rect l="l" t="t" r="r" b="b"/>
            <a:pathLst>
              <a:path h="6405245">
                <a:moveTo>
                  <a:pt x="0" y="6405033"/>
                </a:moveTo>
                <a:lnTo>
                  <a:pt x="0" y="0"/>
                </a:lnTo>
              </a:path>
            </a:pathLst>
          </a:custGeom>
          <a:ln w="29633">
            <a:solidFill>
              <a:srgbClr val="34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25500" y="2586567"/>
            <a:ext cx="12577445" cy="6405245"/>
            <a:chOff x="825500" y="2586567"/>
            <a:chExt cx="12577445" cy="6405245"/>
          </a:xfrm>
        </p:grpSpPr>
        <p:sp>
          <p:nvSpPr>
            <p:cNvPr id="5" name="object 5"/>
            <p:cNvSpPr/>
            <p:nvPr/>
          </p:nvSpPr>
          <p:spPr>
            <a:xfrm>
              <a:off x="13387916" y="2586567"/>
              <a:ext cx="0" cy="6405245"/>
            </a:xfrm>
            <a:custGeom>
              <a:avLst/>
              <a:gdLst/>
              <a:ahLst/>
              <a:cxnLst/>
              <a:rect l="l" t="t" r="r" b="b"/>
              <a:pathLst>
                <a:path h="6405245">
                  <a:moveTo>
                    <a:pt x="0" y="64050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34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500" y="2601383"/>
              <a:ext cx="12577445" cy="0"/>
            </a:xfrm>
            <a:custGeom>
              <a:avLst/>
              <a:gdLst/>
              <a:ahLst/>
              <a:cxnLst/>
              <a:rect l="l" t="t" r="r" b="b"/>
              <a:pathLst>
                <a:path w="12577444">
                  <a:moveTo>
                    <a:pt x="0" y="0"/>
                  </a:moveTo>
                  <a:lnTo>
                    <a:pt x="12577233" y="0"/>
                  </a:lnTo>
                </a:path>
              </a:pathLst>
            </a:custGeom>
            <a:ln w="29633">
              <a:solidFill>
                <a:srgbClr val="34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5500" y="8976783"/>
              <a:ext cx="12577445" cy="0"/>
            </a:xfrm>
            <a:custGeom>
              <a:avLst/>
              <a:gdLst/>
              <a:ahLst/>
              <a:cxnLst/>
              <a:rect l="l" t="t" r="r" b="b"/>
              <a:pathLst>
                <a:path w="12577444">
                  <a:moveTo>
                    <a:pt x="0" y="0"/>
                  </a:moveTo>
                  <a:lnTo>
                    <a:pt x="12577233" y="0"/>
                  </a:lnTo>
                </a:path>
              </a:pathLst>
            </a:custGeom>
            <a:ln w="29633">
              <a:solidFill>
                <a:srgbClr val="34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2416" y="2882900"/>
              <a:ext cx="0" cy="5800090"/>
            </a:xfrm>
            <a:custGeom>
              <a:avLst/>
              <a:gdLst/>
              <a:ahLst/>
              <a:cxnLst/>
              <a:rect l="l" t="t" r="r" b="b"/>
              <a:pathLst>
                <a:path h="5800090">
                  <a:moveTo>
                    <a:pt x="0" y="57996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4B4F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83112" y="2882900"/>
              <a:ext cx="0" cy="5800090"/>
            </a:xfrm>
            <a:custGeom>
              <a:avLst/>
              <a:gdLst/>
              <a:ahLst/>
              <a:cxnLst/>
              <a:rect l="l" t="t" r="r" b="b"/>
              <a:pathLst>
                <a:path h="5800090">
                  <a:moveTo>
                    <a:pt x="0" y="57996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4B4F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1833" y="2893483"/>
              <a:ext cx="11972290" cy="0"/>
            </a:xfrm>
            <a:custGeom>
              <a:avLst/>
              <a:gdLst/>
              <a:ahLst/>
              <a:cxnLst/>
              <a:rect l="l" t="t" r="r" b="b"/>
              <a:pathLst>
                <a:path w="11972290">
                  <a:moveTo>
                    <a:pt x="0" y="0"/>
                  </a:moveTo>
                  <a:lnTo>
                    <a:pt x="11971867" y="0"/>
                  </a:lnTo>
                </a:path>
              </a:pathLst>
            </a:custGeom>
            <a:ln w="21166">
              <a:solidFill>
                <a:srgbClr val="4B4F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1833" y="8671983"/>
              <a:ext cx="11972290" cy="0"/>
            </a:xfrm>
            <a:custGeom>
              <a:avLst/>
              <a:gdLst/>
              <a:ahLst/>
              <a:cxnLst/>
              <a:rect l="l" t="t" r="r" b="b"/>
              <a:pathLst>
                <a:path w="11972290">
                  <a:moveTo>
                    <a:pt x="0" y="0"/>
                  </a:moveTo>
                  <a:lnTo>
                    <a:pt x="11971867" y="0"/>
                  </a:lnTo>
                </a:path>
              </a:pathLst>
            </a:custGeom>
            <a:ln w="21166">
              <a:solidFill>
                <a:srgbClr val="4B4F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9500" y="7454900"/>
              <a:ext cx="939800" cy="3810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10"/>
              </a:spcBef>
            </a:pPr>
            <a:r>
              <a:rPr sz="4500" spc="-130" dirty="0"/>
              <a:t>The</a:t>
            </a:r>
            <a:r>
              <a:rPr sz="4500" spc="-185" dirty="0"/>
              <a:t> </a:t>
            </a:r>
            <a:r>
              <a:rPr sz="4500" dirty="0">
                <a:solidFill>
                  <a:srgbClr val="242424"/>
                </a:solidFill>
              </a:rPr>
              <a:t>Matching</a:t>
            </a:r>
            <a:r>
              <a:rPr sz="4500" spc="-105" dirty="0">
                <a:solidFill>
                  <a:srgbClr val="242424"/>
                </a:solidFill>
              </a:rPr>
              <a:t> </a:t>
            </a:r>
            <a:r>
              <a:rPr sz="4500" spc="-10" dirty="0">
                <a:solidFill>
                  <a:srgbClr val="282828"/>
                </a:solidFill>
              </a:rPr>
              <a:t>Problem</a:t>
            </a:r>
            <a:endParaRPr sz="4500"/>
          </a:p>
        </p:txBody>
      </p:sp>
      <p:sp>
        <p:nvSpPr>
          <p:cNvPr id="14" name="object 14"/>
          <p:cNvSpPr txBox="1"/>
          <p:nvPr/>
        </p:nvSpPr>
        <p:spPr>
          <a:xfrm>
            <a:off x="808464" y="1328913"/>
            <a:ext cx="16040735" cy="7073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980" marR="2804795" indent="-5715">
              <a:lnSpc>
                <a:spcPts val="3700"/>
              </a:lnSpc>
              <a:spcBef>
                <a:spcPts val="125"/>
              </a:spcBef>
            </a:pPr>
            <a:r>
              <a:rPr sz="2950" spc="-55" dirty="0">
                <a:latin typeface="Arial MT"/>
                <a:cs typeface="Arial MT"/>
              </a:rPr>
              <a:t>Suppose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you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see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280" dirty="0">
                <a:latin typeface="Arial MT"/>
                <a:cs typeface="Arial MT"/>
              </a:rPr>
              <a:t>a</a:t>
            </a:r>
            <a:r>
              <a:rPr sz="2950" spc="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table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corner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</a:t>
            </a:r>
            <a:r>
              <a:rPr sz="2950" spc="-1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left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image.</a:t>
            </a:r>
            <a:r>
              <a:rPr sz="2950" spc="-1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Without</a:t>
            </a:r>
            <a:r>
              <a:rPr sz="2950" spc="1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geometry,</a:t>
            </a:r>
            <a:r>
              <a:rPr sz="2950" spc="1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finding</a:t>
            </a:r>
            <a:r>
              <a:rPr sz="2950" spc="-10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that </a:t>
            </a:r>
            <a:r>
              <a:rPr sz="2950" spc="-35" dirty="0">
                <a:latin typeface="Arial MT"/>
                <a:cs typeface="Arial MT"/>
              </a:rPr>
              <a:t>same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corner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right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image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requires</a:t>
            </a:r>
            <a:r>
              <a:rPr sz="2950" spc="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searching</a:t>
            </a:r>
            <a:r>
              <a:rPr sz="2950" spc="-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every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single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pixel.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Arial MT"/>
              <a:cs typeface="Arial MT"/>
            </a:endParaRPr>
          </a:p>
          <a:p>
            <a:pPr marL="8863965">
              <a:lnSpc>
                <a:spcPct val="100000"/>
              </a:lnSpc>
              <a:tabLst>
                <a:tab pos="11017885" algn="l"/>
              </a:tabLst>
            </a:pPr>
            <a:r>
              <a:rPr sz="5325" baseline="-33646" dirty="0">
                <a:solidFill>
                  <a:srgbClr val="DA3B33"/>
                </a:solidFill>
                <a:latin typeface="Courier New"/>
                <a:cs typeface="Courier New"/>
              </a:rPr>
              <a:t>X</a:t>
            </a:r>
            <a:r>
              <a:rPr sz="3400" dirty="0">
                <a:solidFill>
                  <a:srgbClr val="DA3B33"/>
                </a:solidFill>
                <a:latin typeface="Courier New"/>
                <a:cs typeface="Courier New"/>
              </a:rPr>
              <a:t>X</a:t>
            </a:r>
            <a:r>
              <a:rPr sz="3400" spc="-409" dirty="0">
                <a:solidFill>
                  <a:srgbClr val="DA3B33"/>
                </a:solidFill>
                <a:latin typeface="Courier New"/>
                <a:cs typeface="Courier New"/>
              </a:rPr>
              <a:t> </a:t>
            </a:r>
            <a:r>
              <a:rPr sz="5325" spc="-75" baseline="-7824" dirty="0">
                <a:solidFill>
                  <a:srgbClr val="E92F31"/>
                </a:solidFill>
                <a:latin typeface="Courier New"/>
                <a:cs typeface="Courier New"/>
              </a:rPr>
              <a:t>X</a:t>
            </a:r>
            <a:r>
              <a:rPr sz="5325" baseline="-7824" dirty="0">
                <a:solidFill>
                  <a:srgbClr val="E92F31"/>
                </a:solidFill>
                <a:latin typeface="Courier New"/>
                <a:cs typeface="Courier New"/>
              </a:rPr>
              <a:t>	</a:t>
            </a:r>
            <a:r>
              <a:rPr sz="5325" spc="-75" baseline="-61032" dirty="0">
                <a:solidFill>
                  <a:srgbClr val="EB3D3F"/>
                </a:solidFill>
                <a:latin typeface="Courier New"/>
                <a:cs typeface="Courier New"/>
              </a:rPr>
              <a:t>x</a:t>
            </a:r>
            <a:endParaRPr sz="5325" baseline="-61032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3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3550">
              <a:latin typeface="Courier New"/>
              <a:cs typeface="Courier New"/>
            </a:endParaRPr>
          </a:p>
          <a:p>
            <a:pPr marL="2671445">
              <a:lnSpc>
                <a:spcPct val="100000"/>
              </a:lnSpc>
            </a:pPr>
            <a:r>
              <a:rPr sz="4350" dirty="0">
                <a:solidFill>
                  <a:srgbClr val="D43436"/>
                </a:solidFill>
                <a:latin typeface="Courier New"/>
                <a:cs typeface="Courier New"/>
              </a:rPr>
              <a:t>S</a:t>
            </a:r>
            <a:r>
              <a:rPr sz="4350" spc="980" dirty="0">
                <a:solidFill>
                  <a:srgbClr val="D43436"/>
                </a:solidFill>
                <a:latin typeface="Courier New"/>
                <a:cs typeface="Courier New"/>
              </a:rPr>
              <a:t> </a:t>
            </a:r>
            <a:r>
              <a:rPr sz="4350" spc="-50" dirty="0">
                <a:solidFill>
                  <a:srgbClr val="E93433"/>
                </a:solidFill>
                <a:latin typeface="Courier New"/>
                <a:cs typeface="Courier New"/>
              </a:rPr>
              <a:t>X</a:t>
            </a:r>
            <a:endParaRPr sz="4350">
              <a:latin typeface="Courier New"/>
              <a:cs typeface="Courier New"/>
            </a:endParaRPr>
          </a:p>
          <a:p>
            <a:pPr marL="13279119" marR="43180" indent="-652145">
              <a:lnSpc>
                <a:spcPts val="3000"/>
              </a:lnSpc>
              <a:spcBef>
                <a:spcPts val="4330"/>
              </a:spcBef>
              <a:tabLst>
                <a:tab pos="13263880" algn="l"/>
              </a:tabLst>
            </a:pPr>
            <a:r>
              <a:rPr sz="2550" u="heavy" dirty="0">
                <a:uFill>
                  <a:solidFill>
                    <a:srgbClr val="1F282B"/>
                  </a:solidFill>
                </a:uFill>
                <a:latin typeface="Arial MT"/>
                <a:cs typeface="Arial MT"/>
              </a:rPr>
              <a:t>	</a:t>
            </a:r>
            <a:r>
              <a:rPr sz="2550" spc="-65" dirty="0">
                <a:latin typeface="Arial MT"/>
                <a:cs typeface="Arial MT"/>
              </a:rPr>
              <a:t>Naive</a:t>
            </a:r>
            <a:r>
              <a:rPr sz="2550" spc="-75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Search: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Slow, </a:t>
            </a:r>
            <a:r>
              <a:rPr sz="2550" spc="-35" dirty="0">
                <a:latin typeface="Arial MT"/>
                <a:cs typeface="Arial MT"/>
              </a:rPr>
              <a:t>prone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mistakes.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550">
              <a:latin typeface="Arial MT"/>
              <a:cs typeface="Arial MT"/>
            </a:endParaRPr>
          </a:p>
          <a:p>
            <a:pPr marL="4523105">
              <a:lnSpc>
                <a:spcPts val="3879"/>
              </a:lnSpc>
              <a:spcBef>
                <a:spcPts val="5"/>
              </a:spcBef>
            </a:pPr>
            <a:r>
              <a:rPr sz="5325" baseline="-9389" dirty="0">
                <a:solidFill>
                  <a:srgbClr val="E84442"/>
                </a:solidFill>
                <a:latin typeface="Arial MT"/>
                <a:cs typeface="Arial MT"/>
              </a:rPr>
              <a:t>X</a:t>
            </a:r>
            <a:r>
              <a:rPr sz="5325" baseline="-21909" dirty="0">
                <a:solidFill>
                  <a:srgbClr val="E84442"/>
                </a:solidFill>
                <a:latin typeface="Arial MT"/>
                <a:cs typeface="Arial MT"/>
              </a:rPr>
              <a:t>X</a:t>
            </a:r>
            <a:r>
              <a:rPr sz="5325" spc="202" baseline="-21909" dirty="0">
                <a:solidFill>
                  <a:srgbClr val="E84442"/>
                </a:solidFill>
                <a:latin typeface="Arial MT"/>
                <a:cs typeface="Arial MT"/>
              </a:rPr>
              <a:t> </a:t>
            </a:r>
            <a:r>
              <a:rPr sz="3550" spc="160" dirty="0">
                <a:solidFill>
                  <a:srgbClr val="E42A2B"/>
                </a:solidFill>
                <a:latin typeface="Arial MT"/>
                <a:cs typeface="Arial MT"/>
              </a:rPr>
              <a:t>X</a:t>
            </a:r>
            <a:endParaRPr sz="3550">
              <a:latin typeface="Arial MT"/>
              <a:cs typeface="Arial MT"/>
            </a:endParaRPr>
          </a:p>
          <a:p>
            <a:pPr marL="3326765">
              <a:lnSpc>
                <a:spcPts val="3879"/>
              </a:lnSpc>
            </a:pPr>
            <a:r>
              <a:rPr sz="5325" spc="1110" baseline="-14084" dirty="0">
                <a:solidFill>
                  <a:srgbClr val="E6423D"/>
                </a:solidFill>
                <a:latin typeface="Courier New"/>
                <a:cs typeface="Courier New"/>
              </a:rPr>
              <a:t>X</a:t>
            </a:r>
            <a:r>
              <a:rPr sz="3200" spc="740" dirty="0">
                <a:solidFill>
                  <a:srgbClr val="E6423D"/>
                </a:solidFill>
                <a:latin typeface="Courier New"/>
                <a:cs typeface="Courier New"/>
              </a:rPr>
              <a:t>X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300" y="2540000"/>
            <a:ext cx="7035800" cy="397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4300" y="2260600"/>
            <a:ext cx="7620000" cy="46482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94316" y="2531532"/>
            <a:ext cx="0" cy="4178300"/>
          </a:xfrm>
          <a:custGeom>
            <a:avLst/>
            <a:gdLst/>
            <a:ahLst/>
            <a:cxnLst/>
            <a:rect l="l" t="t" r="r" b="b"/>
            <a:pathLst>
              <a:path h="4178300">
                <a:moveTo>
                  <a:pt x="0" y="4178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82F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87966" y="2531532"/>
            <a:ext cx="7086600" cy="4178300"/>
            <a:chOff x="1087966" y="2531532"/>
            <a:chExt cx="7086600" cy="4178300"/>
          </a:xfrm>
        </p:grpSpPr>
        <p:sp>
          <p:nvSpPr>
            <p:cNvPr id="6" name="object 6"/>
            <p:cNvSpPr/>
            <p:nvPr/>
          </p:nvSpPr>
          <p:spPr>
            <a:xfrm>
              <a:off x="8168217" y="2531532"/>
              <a:ext cx="0" cy="4178300"/>
            </a:xfrm>
            <a:custGeom>
              <a:avLst/>
              <a:gdLst/>
              <a:ahLst/>
              <a:cxnLst/>
              <a:rect l="l" t="t" r="r" b="b"/>
              <a:pathLst>
                <a:path h="4178300">
                  <a:moveTo>
                    <a:pt x="0" y="41783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82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7966" y="2537882"/>
              <a:ext cx="7086600" cy="0"/>
            </a:xfrm>
            <a:custGeom>
              <a:avLst/>
              <a:gdLst/>
              <a:ahLst/>
              <a:cxnLst/>
              <a:rect l="l" t="t" r="r" b="b"/>
              <a:pathLst>
                <a:path w="7086600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ln w="12700">
              <a:solidFill>
                <a:srgbClr val="282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7966" y="6703482"/>
              <a:ext cx="7086600" cy="0"/>
            </a:xfrm>
            <a:custGeom>
              <a:avLst/>
              <a:gdLst/>
              <a:ahLst/>
              <a:cxnLst/>
              <a:rect l="l" t="t" r="r" b="b"/>
              <a:pathLst>
                <a:path w="7086600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ln w="12700">
              <a:solidFill>
                <a:srgbClr val="282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21516" y="2535767"/>
              <a:ext cx="0" cy="3115945"/>
            </a:xfrm>
            <a:custGeom>
              <a:avLst/>
              <a:gdLst/>
              <a:ahLst/>
              <a:cxnLst/>
              <a:rect l="l" t="t" r="r" b="b"/>
              <a:pathLst>
                <a:path h="3115945">
                  <a:moveTo>
                    <a:pt x="0" y="3115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B2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10"/>
              </a:spcBef>
            </a:pPr>
            <a:r>
              <a:rPr sz="4500" spc="-140" dirty="0">
                <a:solidFill>
                  <a:srgbClr val="2F2F2F"/>
                </a:solidFill>
              </a:rPr>
              <a:t>The</a:t>
            </a:r>
            <a:r>
              <a:rPr sz="4500" spc="-25" dirty="0">
                <a:solidFill>
                  <a:srgbClr val="2F2F2F"/>
                </a:solidFill>
              </a:rPr>
              <a:t> </a:t>
            </a:r>
            <a:r>
              <a:rPr sz="4500" dirty="0">
                <a:solidFill>
                  <a:srgbClr val="2A2A2A"/>
                </a:solidFill>
              </a:rPr>
              <a:t>Epipolar</a:t>
            </a:r>
            <a:r>
              <a:rPr sz="4500" spc="375" dirty="0">
                <a:solidFill>
                  <a:srgbClr val="2A2A2A"/>
                </a:solidFill>
              </a:rPr>
              <a:t> </a:t>
            </a:r>
            <a:r>
              <a:rPr sz="4500" spc="45" dirty="0">
                <a:solidFill>
                  <a:srgbClr val="262626"/>
                </a:solidFill>
              </a:rPr>
              <a:t>Constraint</a:t>
            </a:r>
            <a:endParaRPr sz="4500"/>
          </a:p>
        </p:txBody>
      </p:sp>
      <p:sp>
        <p:nvSpPr>
          <p:cNvPr id="11" name="object 11"/>
          <p:cNvSpPr txBox="1"/>
          <p:nvPr/>
        </p:nvSpPr>
        <p:spPr>
          <a:xfrm>
            <a:off x="849517" y="1589616"/>
            <a:ext cx="364490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latin typeface="Arial MT"/>
                <a:cs typeface="Arial MT"/>
              </a:rPr>
              <a:t>Image</a:t>
            </a:r>
            <a:r>
              <a:rPr sz="3300" spc="-105" dirty="0">
                <a:latin typeface="Arial MT"/>
                <a:cs typeface="Arial MT"/>
              </a:rPr>
              <a:t> </a:t>
            </a:r>
            <a:r>
              <a:rPr sz="3300" spc="-265" dirty="0">
                <a:latin typeface="Arial MT"/>
                <a:cs typeface="Arial MT"/>
              </a:rPr>
              <a:t>A</a:t>
            </a:r>
            <a:r>
              <a:rPr sz="3300" spc="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(Left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View)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0316" y="2296583"/>
            <a:ext cx="7594600" cy="4635500"/>
          </a:xfrm>
          <a:prstGeom prst="rect">
            <a:avLst/>
          </a:prstGeom>
          <a:ln w="21166">
            <a:solidFill>
              <a:srgbClr val="343B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95"/>
              </a:spcBef>
            </a:pPr>
            <a:endParaRPr sz="2600">
              <a:latin typeface="Times New Roman"/>
              <a:cs typeface="Times New Roman"/>
            </a:endParaRPr>
          </a:p>
          <a:p>
            <a:pPr marL="708025">
              <a:lnSpc>
                <a:spcPct val="100000"/>
              </a:lnSpc>
            </a:pPr>
            <a:r>
              <a:rPr sz="2600" dirty="0">
                <a:latin typeface="Arial MT"/>
                <a:cs typeface="Arial MT"/>
              </a:rPr>
              <a:t>Point</a:t>
            </a:r>
            <a:r>
              <a:rPr sz="2600" spc="1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Image</a:t>
            </a:r>
            <a:r>
              <a:rPr sz="2600" spc="7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02917" y="1589616"/>
            <a:ext cx="387350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30" dirty="0">
                <a:latin typeface="Arial MT"/>
                <a:cs typeface="Arial MT"/>
              </a:rPr>
              <a:t>Image</a:t>
            </a:r>
            <a:r>
              <a:rPr sz="3300" spc="-200" dirty="0">
                <a:latin typeface="Arial MT"/>
                <a:cs typeface="Arial MT"/>
              </a:rPr>
              <a:t> </a:t>
            </a:r>
            <a:r>
              <a:rPr sz="3300" spc="-185" dirty="0">
                <a:latin typeface="Arial MT"/>
                <a:cs typeface="Arial MT"/>
              </a:rPr>
              <a:t>B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(Right</a:t>
            </a:r>
            <a:r>
              <a:rPr sz="3300" spc="-14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View)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4711" y="7091243"/>
            <a:ext cx="14559915" cy="202120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54760" algn="ctr">
              <a:lnSpc>
                <a:spcPct val="100000"/>
              </a:lnSpc>
              <a:spcBef>
                <a:spcPts val="1810"/>
              </a:spcBef>
            </a:pPr>
            <a:r>
              <a:rPr sz="4700" dirty="0">
                <a:solidFill>
                  <a:srgbClr val="080808"/>
                </a:solidFill>
                <a:latin typeface="Arial MT"/>
                <a:cs typeface="Arial MT"/>
              </a:rPr>
              <a:t>Point</a:t>
            </a:r>
            <a:r>
              <a:rPr sz="4700" spc="13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4700" spc="125" dirty="0">
                <a:solidFill>
                  <a:srgbClr val="0C0C0C"/>
                </a:solidFill>
                <a:latin typeface="Arial MT"/>
                <a:cs typeface="Arial MT"/>
              </a:rPr>
              <a:t>in</a:t>
            </a:r>
            <a:r>
              <a:rPr sz="4700" spc="-2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4700" dirty="0">
                <a:solidFill>
                  <a:srgbClr val="0A0A0A"/>
                </a:solidFill>
                <a:latin typeface="Arial MT"/>
                <a:cs typeface="Arial MT"/>
              </a:rPr>
              <a:t>Image </a:t>
            </a:r>
            <a:r>
              <a:rPr sz="4700" dirty="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sz="4700" spc="2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4700" spc="-2310" dirty="0">
                <a:solidFill>
                  <a:srgbClr val="151515"/>
                </a:solidFill>
                <a:latin typeface="Arial MT"/>
                <a:cs typeface="Arial MT"/>
              </a:rPr>
              <a:t>—</a:t>
            </a:r>
            <a:r>
              <a:rPr sz="4700" spc="-1350" dirty="0">
                <a:solidFill>
                  <a:srgbClr val="151515"/>
                </a:solidFill>
                <a:latin typeface="Arial MT"/>
                <a:cs typeface="Arial MT"/>
              </a:rPr>
              <a:t>&gt;</a:t>
            </a:r>
            <a:r>
              <a:rPr sz="4700" spc="1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4700" dirty="0">
                <a:solidFill>
                  <a:srgbClr val="0C0C0C"/>
                </a:solidFill>
                <a:latin typeface="Arial MT"/>
                <a:cs typeface="Arial MT"/>
              </a:rPr>
              <a:t>Line</a:t>
            </a:r>
            <a:r>
              <a:rPr sz="4700" spc="-12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4700" spc="180" dirty="0">
                <a:solidFill>
                  <a:srgbClr val="0E0E0E"/>
                </a:solidFill>
                <a:latin typeface="Arial MT"/>
                <a:cs typeface="Arial MT"/>
              </a:rPr>
              <a:t>in</a:t>
            </a:r>
            <a:r>
              <a:rPr sz="4700" spc="-3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700" dirty="0">
                <a:solidFill>
                  <a:srgbClr val="080808"/>
                </a:solidFill>
                <a:latin typeface="Arial MT"/>
                <a:cs typeface="Arial MT"/>
              </a:rPr>
              <a:t>Image</a:t>
            </a:r>
            <a:r>
              <a:rPr sz="4700" spc="-8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4700" spc="-305" dirty="0">
                <a:solidFill>
                  <a:srgbClr val="0A0A0A"/>
                </a:solidFill>
                <a:latin typeface="Arial MT"/>
                <a:cs typeface="Arial MT"/>
              </a:rPr>
              <a:t>B</a:t>
            </a:r>
            <a:endParaRPr sz="4700">
              <a:latin typeface="Arial MT"/>
              <a:cs typeface="Arial MT"/>
            </a:endParaRPr>
          </a:p>
          <a:p>
            <a:pPr marL="12700" marR="5080" indent="3810">
              <a:lnSpc>
                <a:spcPct val="104500"/>
              </a:lnSpc>
              <a:spcBef>
                <a:spcPts val="955"/>
              </a:spcBef>
            </a:pPr>
            <a:r>
              <a:rPr sz="2950" spc="-55" dirty="0">
                <a:latin typeface="Arial MT"/>
                <a:cs typeface="Arial MT"/>
              </a:rPr>
              <a:t>Epipolar</a:t>
            </a:r>
            <a:r>
              <a:rPr sz="2950" spc="-1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geometry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proves</a:t>
            </a:r>
            <a:r>
              <a:rPr sz="2950" spc="-1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that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spc="-280" dirty="0">
                <a:latin typeface="Arial MT"/>
                <a:cs typeface="Arial MT"/>
              </a:rPr>
              <a:t>a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point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</a:t>
            </a:r>
            <a:r>
              <a:rPr sz="2950" spc="-204" dirty="0">
                <a:latin typeface="Arial MT"/>
                <a:cs typeface="Arial MT"/>
              </a:rPr>
              <a:t> </a:t>
            </a:r>
            <a:r>
              <a:rPr sz="2950" spc="-100" dirty="0">
                <a:latin typeface="Arial MT"/>
                <a:cs typeface="Arial MT"/>
              </a:rPr>
              <a:t>Image</a:t>
            </a:r>
            <a:r>
              <a:rPr sz="2950" spc="-1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1</a:t>
            </a:r>
            <a:r>
              <a:rPr sz="2950" spc="-275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corresponds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125" dirty="0">
                <a:latin typeface="Arial MT"/>
                <a:cs typeface="Arial MT"/>
              </a:rPr>
              <a:t> </a:t>
            </a:r>
            <a:r>
              <a:rPr sz="2950" spc="-280" dirty="0">
                <a:latin typeface="Arial MT"/>
                <a:cs typeface="Arial MT"/>
              </a:rPr>
              <a:t>a</a:t>
            </a:r>
            <a:r>
              <a:rPr sz="2950" spc="7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specific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line</a:t>
            </a:r>
            <a:r>
              <a:rPr sz="2950" spc="-17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in</a:t>
            </a:r>
            <a:r>
              <a:rPr sz="2950" spc="-204" dirty="0">
                <a:latin typeface="Arial MT"/>
                <a:cs typeface="Arial MT"/>
              </a:rPr>
              <a:t> </a:t>
            </a:r>
            <a:r>
              <a:rPr sz="2950" spc="-35" dirty="0">
                <a:latin typeface="Arial MT"/>
                <a:cs typeface="Arial MT"/>
              </a:rPr>
              <a:t>Image</a:t>
            </a:r>
            <a:r>
              <a:rPr sz="2950" spc="8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2. </a:t>
            </a:r>
            <a:r>
              <a:rPr sz="2950" spc="-30" dirty="0">
                <a:latin typeface="Arial MT"/>
                <a:cs typeface="Arial MT"/>
              </a:rPr>
              <a:t>The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match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MUST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be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on</a:t>
            </a:r>
            <a:r>
              <a:rPr sz="2950" spc="-1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this</a:t>
            </a:r>
            <a:r>
              <a:rPr sz="2950" spc="-18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line.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84084" y="6012391"/>
            <a:ext cx="195961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40" dirty="0">
                <a:latin typeface="Arial MT"/>
                <a:cs typeface="Arial MT"/>
              </a:rPr>
              <a:t>Epipolar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Line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2260600"/>
            <a:ext cx="7607300" cy="4432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4300" y="2260600"/>
            <a:ext cx="7607300" cy="4432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2A2A2A"/>
                </a:solidFill>
              </a:rPr>
              <a:t>Reducing</a:t>
            </a:r>
            <a:r>
              <a:rPr spc="-80" dirty="0">
                <a:solidFill>
                  <a:srgbClr val="2A2A2A"/>
                </a:solidFill>
              </a:rPr>
              <a:t> </a:t>
            </a:r>
            <a:r>
              <a:rPr spc="105" dirty="0">
                <a:solidFill>
                  <a:srgbClr val="262626"/>
                </a:solidFill>
              </a:rPr>
              <a:t>the</a:t>
            </a:r>
            <a:r>
              <a:rPr spc="-240" dirty="0">
                <a:solidFill>
                  <a:srgbClr val="262626"/>
                </a:solidFill>
              </a:rPr>
              <a:t> </a:t>
            </a:r>
            <a:r>
              <a:rPr dirty="0">
                <a:solidFill>
                  <a:srgbClr val="2A2A2A"/>
                </a:solidFill>
              </a:rPr>
              <a:t>search</a:t>
            </a:r>
            <a:r>
              <a:rPr spc="-45" dirty="0">
                <a:solidFill>
                  <a:srgbClr val="2A2A2A"/>
                </a:solidFill>
              </a:rPr>
              <a:t> </a:t>
            </a:r>
            <a:r>
              <a:rPr spc="-20" dirty="0">
                <a:solidFill>
                  <a:srgbClr val="282828"/>
                </a:solidFill>
              </a:rPr>
              <a:t>space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7990" y="1589616"/>
            <a:ext cx="1726564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70" dirty="0">
                <a:latin typeface="Arial MT"/>
                <a:cs typeface="Arial MT"/>
              </a:rPr>
              <a:t>Lek</a:t>
            </a:r>
            <a:r>
              <a:rPr sz="3300" spc="20" dirty="0">
                <a:latin typeface="Arial MT"/>
                <a:cs typeface="Arial MT"/>
              </a:rPr>
              <a:t> </a:t>
            </a:r>
            <a:r>
              <a:rPr sz="3300" spc="-55" dirty="0">
                <a:latin typeface="Arial MT"/>
                <a:cs typeface="Arial MT"/>
              </a:rPr>
              <a:t>View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3108" y="5427133"/>
            <a:ext cx="2006600" cy="8572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16839" marR="5080" indent="-104775">
              <a:lnSpc>
                <a:spcPts val="3050"/>
              </a:lnSpc>
              <a:spcBef>
                <a:spcPts val="575"/>
              </a:spcBef>
            </a:pPr>
            <a:r>
              <a:rPr sz="2900" spc="-135" dirty="0">
                <a:latin typeface="Arial MT"/>
                <a:cs typeface="Arial MT"/>
              </a:rPr>
              <a:t>Marked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Point </a:t>
            </a:r>
            <a:r>
              <a:rPr sz="2900" spc="-10" dirty="0">
                <a:latin typeface="Arial MT"/>
                <a:cs typeface="Arial MT"/>
              </a:rPr>
              <a:t>in</a:t>
            </a:r>
            <a:r>
              <a:rPr sz="2900" spc="-190" dirty="0">
                <a:latin typeface="Arial MT"/>
                <a:cs typeface="Arial MT"/>
              </a:rPr>
              <a:t> </a:t>
            </a:r>
            <a:r>
              <a:rPr sz="2900" spc="-35" dirty="0">
                <a:latin typeface="Arial MT"/>
                <a:cs typeface="Arial MT"/>
              </a:rPr>
              <a:t>Left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View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09122" y="1589616"/>
            <a:ext cx="196088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25" dirty="0">
                <a:latin typeface="Arial MT"/>
                <a:cs typeface="Arial MT"/>
              </a:rPr>
              <a:t>Right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65" dirty="0">
                <a:latin typeface="Arial MT"/>
                <a:cs typeface="Arial MT"/>
              </a:rPr>
              <a:t>View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99082" y="5684661"/>
            <a:ext cx="19564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Arial MT"/>
                <a:cs typeface="Arial MT"/>
              </a:rPr>
              <a:t>Epipolar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Line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655" y="7017455"/>
            <a:ext cx="14919960" cy="98234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635">
              <a:lnSpc>
                <a:spcPts val="3700"/>
              </a:lnSpc>
              <a:spcBef>
                <a:spcPts val="330"/>
              </a:spcBef>
            </a:pPr>
            <a:r>
              <a:rPr sz="3200" dirty="0">
                <a:latin typeface="Arial MT"/>
                <a:cs typeface="Arial MT"/>
              </a:rPr>
              <a:t>If</a:t>
            </a:r>
            <a:r>
              <a:rPr sz="3200" spc="-215" dirty="0">
                <a:latin typeface="Arial MT"/>
                <a:cs typeface="Arial MT"/>
              </a:rPr>
              <a:t> </a:t>
            </a:r>
            <a:r>
              <a:rPr sz="3200" spc="-85" dirty="0">
                <a:latin typeface="Arial MT"/>
                <a:cs typeface="Arial MT"/>
              </a:rPr>
              <a:t>we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mark</a:t>
            </a:r>
            <a:r>
              <a:rPr sz="3200" spc="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cup's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handle</a:t>
            </a:r>
            <a:r>
              <a:rPr sz="3200" spc="-1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left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image,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50" dirty="0">
                <a:latin typeface="Arial MT"/>
                <a:cs typeface="Arial MT"/>
              </a:rPr>
              <a:t>it</a:t>
            </a:r>
            <a:r>
              <a:rPr sz="3200" spc="-2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mnst</a:t>
            </a:r>
            <a:r>
              <a:rPr sz="3200" spc="-114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appear</a:t>
            </a:r>
            <a:r>
              <a:rPr sz="3200" spc="1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epipolar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line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1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right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image.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cannot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</a:t>
            </a:r>
            <a:r>
              <a:rPr sz="3200" spc="-125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above</a:t>
            </a:r>
            <a:r>
              <a:rPr sz="3200" spc="-1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below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it.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0316" y="8354483"/>
            <a:ext cx="15748000" cy="901700"/>
          </a:xfrm>
          <a:prstGeom prst="rect">
            <a:avLst/>
          </a:prstGeom>
          <a:ln w="21166">
            <a:solidFill>
              <a:srgbClr val="343B44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1265"/>
              </a:spcBef>
            </a:pPr>
            <a:r>
              <a:rPr sz="3100" spc="-35" dirty="0">
                <a:latin typeface="Arial MT"/>
                <a:cs typeface="Arial MT"/>
              </a:rPr>
              <a:t>Result: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260" dirty="0">
                <a:latin typeface="Arial MT"/>
                <a:cs typeface="Arial MT"/>
              </a:rPr>
              <a:t>We</a:t>
            </a:r>
            <a:r>
              <a:rPr sz="3100" spc="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stop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searching</a:t>
            </a:r>
            <a:r>
              <a:rPr sz="3100" spc="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whole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image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and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only</a:t>
            </a:r>
            <a:r>
              <a:rPr sz="3100" spc="50" dirty="0">
                <a:latin typeface="Arial MT"/>
                <a:cs typeface="Arial MT"/>
              </a:rPr>
              <a:t> </a:t>
            </a:r>
            <a:r>
              <a:rPr sz="3100" spc="-30" dirty="0">
                <a:latin typeface="Arial MT"/>
                <a:cs typeface="Arial MT"/>
              </a:rPr>
              <a:t>search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line.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1600200"/>
            <a:ext cx="12839700" cy="5600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1711" y="427919"/>
            <a:ext cx="3023870" cy="777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900" dirty="0">
                <a:latin typeface="Calibri"/>
                <a:cs typeface="Calibri"/>
              </a:rPr>
              <a:t>The</a:t>
            </a:r>
            <a:r>
              <a:rPr sz="4900" spc="-140" dirty="0">
                <a:latin typeface="Calibri"/>
                <a:cs typeface="Calibri"/>
              </a:rPr>
              <a:t> </a:t>
            </a:r>
            <a:r>
              <a:rPr sz="4900" spc="-10" dirty="0">
                <a:solidFill>
                  <a:srgbClr val="282828"/>
                </a:solidFill>
                <a:latin typeface="Calibri"/>
                <a:cs typeface="Calibri"/>
              </a:rPr>
              <a:t>Epipole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9118" y="5522736"/>
            <a:ext cx="173037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114" dirty="0">
                <a:latin typeface="Arial MT"/>
                <a:cs typeface="Arial MT"/>
              </a:rPr>
              <a:t>e</a:t>
            </a:r>
            <a:r>
              <a:rPr sz="3250" spc="-285" dirty="0">
                <a:latin typeface="Arial MT"/>
                <a:cs typeface="Arial MT"/>
              </a:rPr>
              <a:t> </a:t>
            </a:r>
            <a:r>
              <a:rPr sz="3250" spc="-215" dirty="0">
                <a:latin typeface="Arial MT"/>
                <a:cs typeface="Arial MT"/>
              </a:rPr>
              <a:t>(Epipole)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683" y="7585427"/>
            <a:ext cx="10113645" cy="157607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10160" algn="just">
              <a:lnSpc>
                <a:spcPct val="94300"/>
              </a:lnSpc>
              <a:spcBef>
                <a:spcPts val="355"/>
              </a:spcBef>
            </a:pPr>
            <a:r>
              <a:rPr sz="3450" spc="-130" dirty="0">
                <a:latin typeface="Arial MT"/>
                <a:cs typeface="Arial MT"/>
              </a:rPr>
              <a:t>The</a:t>
            </a:r>
            <a:r>
              <a:rPr sz="3450" spc="-114" dirty="0">
                <a:latin typeface="Arial MT"/>
                <a:cs typeface="Arial MT"/>
              </a:rPr>
              <a:t> </a:t>
            </a:r>
            <a:r>
              <a:rPr sz="3450" spc="-65" dirty="0">
                <a:latin typeface="Arial MT"/>
                <a:cs typeface="Arial MT"/>
              </a:rPr>
              <a:t>epipole</a:t>
            </a:r>
            <a:r>
              <a:rPr sz="3450" spc="-175" dirty="0">
                <a:latin typeface="Arial MT"/>
                <a:cs typeface="Arial MT"/>
              </a:rPr>
              <a:t> </a:t>
            </a:r>
            <a:r>
              <a:rPr sz="3450" dirty="0">
                <a:latin typeface="Arial MT"/>
                <a:cs typeface="Arial MT"/>
              </a:rPr>
              <a:t>is</a:t>
            </a:r>
            <a:r>
              <a:rPr sz="3450" spc="-240" dirty="0">
                <a:latin typeface="Arial MT"/>
                <a:cs typeface="Arial MT"/>
              </a:rPr>
              <a:t> </a:t>
            </a:r>
            <a:r>
              <a:rPr sz="3450" spc="-25" dirty="0">
                <a:latin typeface="Arial MT"/>
                <a:cs typeface="Arial MT"/>
              </a:rPr>
              <a:t>simply</a:t>
            </a:r>
            <a:r>
              <a:rPr sz="3450" spc="-215" dirty="0">
                <a:latin typeface="Arial MT"/>
                <a:cs typeface="Arial MT"/>
              </a:rPr>
              <a:t> </a:t>
            </a:r>
            <a:r>
              <a:rPr sz="3450" dirty="0">
                <a:latin typeface="Arial MT"/>
                <a:cs typeface="Arial MT"/>
              </a:rPr>
              <a:t>the</a:t>
            </a:r>
            <a:r>
              <a:rPr sz="3450" spc="-215" dirty="0">
                <a:latin typeface="Arial MT"/>
                <a:cs typeface="Arial MT"/>
              </a:rPr>
              <a:t> </a:t>
            </a:r>
            <a:r>
              <a:rPr sz="3450" dirty="0">
                <a:latin typeface="Arial MT"/>
                <a:cs typeface="Arial MT"/>
              </a:rPr>
              <a:t>point</a:t>
            </a:r>
            <a:r>
              <a:rPr sz="3450" spc="-70" dirty="0">
                <a:latin typeface="Arial MT"/>
                <a:cs typeface="Arial MT"/>
              </a:rPr>
              <a:t> </a:t>
            </a:r>
            <a:r>
              <a:rPr sz="3450" spc="-35" dirty="0">
                <a:latin typeface="Arial MT"/>
                <a:cs typeface="Arial MT"/>
              </a:rPr>
              <a:t>in</a:t>
            </a:r>
            <a:r>
              <a:rPr sz="3450" spc="-204" dirty="0">
                <a:latin typeface="Arial MT"/>
                <a:cs typeface="Arial MT"/>
              </a:rPr>
              <a:t> </a:t>
            </a:r>
            <a:r>
              <a:rPr sz="3450" dirty="0">
                <a:latin typeface="Arial MT"/>
                <a:cs typeface="Arial MT"/>
              </a:rPr>
              <a:t>the</a:t>
            </a:r>
            <a:r>
              <a:rPr sz="3450" spc="-240" dirty="0">
                <a:latin typeface="Arial MT"/>
                <a:cs typeface="Arial MT"/>
              </a:rPr>
              <a:t> </a:t>
            </a:r>
            <a:r>
              <a:rPr sz="3450" spc="-20" dirty="0">
                <a:latin typeface="Arial MT"/>
                <a:cs typeface="Arial MT"/>
              </a:rPr>
              <a:t>image</a:t>
            </a:r>
            <a:r>
              <a:rPr sz="3450" spc="-30" dirty="0">
                <a:latin typeface="Arial MT"/>
                <a:cs typeface="Arial MT"/>
              </a:rPr>
              <a:t> </a:t>
            </a:r>
            <a:r>
              <a:rPr sz="3450" spc="-114" dirty="0">
                <a:latin typeface="Arial MT"/>
                <a:cs typeface="Arial MT"/>
              </a:rPr>
              <a:t>where</a:t>
            </a:r>
            <a:r>
              <a:rPr sz="3450" spc="-130" dirty="0">
                <a:latin typeface="Arial MT"/>
                <a:cs typeface="Arial MT"/>
              </a:rPr>
              <a:t> </a:t>
            </a:r>
            <a:r>
              <a:rPr sz="3450" spc="-25" dirty="0">
                <a:latin typeface="Arial MT"/>
                <a:cs typeface="Arial MT"/>
              </a:rPr>
              <a:t>the </a:t>
            </a:r>
            <a:r>
              <a:rPr sz="3450" spc="-40" dirty="0">
                <a:latin typeface="Arial MT"/>
                <a:cs typeface="Arial MT"/>
              </a:rPr>
              <a:t>other</a:t>
            </a:r>
            <a:r>
              <a:rPr sz="3450" spc="-204" dirty="0">
                <a:latin typeface="Arial MT"/>
                <a:cs typeface="Arial MT"/>
              </a:rPr>
              <a:t> </a:t>
            </a:r>
            <a:r>
              <a:rPr sz="3450" spc="-85" dirty="0">
                <a:latin typeface="Arial MT"/>
                <a:cs typeface="Arial MT"/>
              </a:rPr>
              <a:t>camera</a:t>
            </a:r>
            <a:r>
              <a:rPr sz="3450" spc="-155" dirty="0">
                <a:latin typeface="Arial MT"/>
                <a:cs typeface="Arial MT"/>
              </a:rPr>
              <a:t> </a:t>
            </a:r>
            <a:r>
              <a:rPr sz="3450" dirty="0">
                <a:latin typeface="Arial MT"/>
                <a:cs typeface="Arial MT"/>
              </a:rPr>
              <a:t>is</a:t>
            </a:r>
            <a:r>
              <a:rPr sz="3450" spc="-240" dirty="0">
                <a:latin typeface="Arial MT"/>
                <a:cs typeface="Arial MT"/>
              </a:rPr>
              <a:t> </a:t>
            </a:r>
            <a:r>
              <a:rPr sz="3450" spc="-30" dirty="0">
                <a:latin typeface="Arial MT"/>
                <a:cs typeface="Arial MT"/>
              </a:rPr>
              <a:t>visible.</a:t>
            </a:r>
            <a:r>
              <a:rPr sz="3450" spc="-114" dirty="0">
                <a:latin typeface="Arial MT"/>
                <a:cs typeface="Arial MT"/>
              </a:rPr>
              <a:t> </a:t>
            </a:r>
            <a:r>
              <a:rPr sz="3450" spc="-20" dirty="0">
                <a:latin typeface="Arial MT"/>
                <a:cs typeface="Arial MT"/>
              </a:rPr>
              <a:t>All</a:t>
            </a:r>
            <a:r>
              <a:rPr sz="3450" spc="-220" dirty="0">
                <a:latin typeface="Arial MT"/>
                <a:cs typeface="Arial MT"/>
              </a:rPr>
              <a:t> </a:t>
            </a:r>
            <a:r>
              <a:rPr sz="3450" spc="-40" dirty="0">
                <a:latin typeface="Arial MT"/>
                <a:cs typeface="Arial MT"/>
              </a:rPr>
              <a:t>epipolar</a:t>
            </a:r>
            <a:r>
              <a:rPr sz="3450" spc="-105" dirty="0">
                <a:latin typeface="Arial MT"/>
                <a:cs typeface="Arial MT"/>
              </a:rPr>
              <a:t> </a:t>
            </a:r>
            <a:r>
              <a:rPr sz="3450" spc="-20" dirty="0">
                <a:latin typeface="Arial MT"/>
                <a:cs typeface="Arial MT"/>
              </a:rPr>
              <a:t>lines</a:t>
            </a:r>
            <a:r>
              <a:rPr sz="3450" spc="-150" dirty="0">
                <a:latin typeface="Arial MT"/>
                <a:cs typeface="Arial MT"/>
              </a:rPr>
              <a:t> </a:t>
            </a:r>
            <a:r>
              <a:rPr sz="3450" spc="-65" dirty="0">
                <a:latin typeface="Arial MT"/>
                <a:cs typeface="Arial MT"/>
              </a:rPr>
              <a:t>pass</a:t>
            </a:r>
            <a:r>
              <a:rPr sz="3450" spc="-175" dirty="0">
                <a:latin typeface="Arial MT"/>
                <a:cs typeface="Arial MT"/>
              </a:rPr>
              <a:t> </a:t>
            </a:r>
            <a:r>
              <a:rPr sz="3450" spc="-10" dirty="0">
                <a:latin typeface="Arial MT"/>
                <a:cs typeface="Arial MT"/>
              </a:rPr>
              <a:t>through </a:t>
            </a:r>
            <a:r>
              <a:rPr sz="3650" spc="-50" dirty="0">
                <a:latin typeface="Arial MT"/>
                <a:cs typeface="Arial MT"/>
              </a:rPr>
              <a:t>this</a:t>
            </a:r>
            <a:r>
              <a:rPr sz="3650" spc="-204" dirty="0">
                <a:latin typeface="Arial MT"/>
                <a:cs typeface="Arial MT"/>
              </a:rPr>
              <a:t> </a:t>
            </a:r>
            <a:r>
              <a:rPr sz="3650" spc="-150" dirty="0">
                <a:latin typeface="Arial MT"/>
                <a:cs typeface="Arial MT"/>
              </a:rPr>
              <a:t>single</a:t>
            </a:r>
            <a:r>
              <a:rPr sz="3650" spc="-100" dirty="0">
                <a:latin typeface="Arial MT"/>
                <a:cs typeface="Arial MT"/>
              </a:rPr>
              <a:t> </a:t>
            </a:r>
            <a:r>
              <a:rPr sz="3650" spc="-220" dirty="0">
                <a:latin typeface="Arial MT"/>
                <a:cs typeface="Arial MT"/>
              </a:rPr>
              <a:t>convergence</a:t>
            </a:r>
            <a:r>
              <a:rPr sz="3650" spc="45" dirty="0">
                <a:latin typeface="Arial MT"/>
                <a:cs typeface="Arial MT"/>
              </a:rPr>
              <a:t> </a:t>
            </a:r>
            <a:r>
              <a:rPr sz="3650" spc="-10" dirty="0">
                <a:latin typeface="Arial MT"/>
                <a:cs typeface="Arial MT"/>
              </a:rPr>
              <a:t>point.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85131" y="7585427"/>
            <a:ext cx="4364355" cy="10375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indent="5715">
              <a:lnSpc>
                <a:spcPts val="3800"/>
              </a:lnSpc>
              <a:spcBef>
                <a:spcPts val="530"/>
              </a:spcBef>
            </a:pPr>
            <a:r>
              <a:rPr sz="3450" spc="-325" dirty="0">
                <a:latin typeface="Arial MT"/>
                <a:cs typeface="Arial MT"/>
              </a:rPr>
              <a:t>Think</a:t>
            </a:r>
            <a:r>
              <a:rPr sz="3450" spc="20" dirty="0">
                <a:latin typeface="Arial MT"/>
                <a:cs typeface="Arial MT"/>
              </a:rPr>
              <a:t> </a:t>
            </a:r>
            <a:r>
              <a:rPr sz="3450" spc="-175" dirty="0">
                <a:latin typeface="Arial MT"/>
                <a:cs typeface="Arial MT"/>
              </a:rPr>
              <a:t>of</a:t>
            </a:r>
            <a:r>
              <a:rPr sz="3450" spc="-220" dirty="0">
                <a:latin typeface="Arial MT"/>
                <a:cs typeface="Arial MT"/>
              </a:rPr>
              <a:t> </a:t>
            </a:r>
            <a:r>
              <a:rPr sz="3450" dirty="0">
                <a:latin typeface="Arial MT"/>
                <a:cs typeface="Arial MT"/>
              </a:rPr>
              <a:t>it</a:t>
            </a:r>
            <a:r>
              <a:rPr sz="3450" spc="-150" dirty="0">
                <a:latin typeface="Arial MT"/>
                <a:cs typeface="Arial MT"/>
              </a:rPr>
              <a:t> </a:t>
            </a:r>
            <a:r>
              <a:rPr sz="3450" spc="-365" dirty="0">
                <a:latin typeface="Arial MT"/>
                <a:cs typeface="Arial MT"/>
              </a:rPr>
              <a:t>as</a:t>
            </a:r>
            <a:r>
              <a:rPr sz="3450" spc="-225" dirty="0">
                <a:latin typeface="Arial MT"/>
                <a:cs typeface="Arial MT"/>
              </a:rPr>
              <a:t> </a:t>
            </a:r>
            <a:r>
              <a:rPr sz="3450" spc="-250" dirty="0">
                <a:latin typeface="Arial MT"/>
                <a:cs typeface="Arial MT"/>
              </a:rPr>
              <a:t>the</a:t>
            </a:r>
            <a:r>
              <a:rPr sz="3450" spc="-145" dirty="0">
                <a:latin typeface="Arial MT"/>
                <a:cs typeface="Arial MT"/>
              </a:rPr>
              <a:t> </a:t>
            </a:r>
            <a:r>
              <a:rPr sz="3450" spc="-325" dirty="0">
                <a:latin typeface="Arial MT"/>
                <a:cs typeface="Arial MT"/>
              </a:rPr>
              <a:t>vanishing </a:t>
            </a:r>
            <a:r>
              <a:rPr sz="3450" spc="-229" dirty="0">
                <a:latin typeface="Arial MT"/>
                <a:cs typeface="Arial MT"/>
              </a:rPr>
              <a:t>point</a:t>
            </a:r>
            <a:r>
              <a:rPr sz="3450" spc="-40" dirty="0">
                <a:latin typeface="Arial MT"/>
                <a:cs typeface="Arial MT"/>
              </a:rPr>
              <a:t> </a:t>
            </a:r>
            <a:r>
              <a:rPr sz="3450" spc="-175" dirty="0">
                <a:latin typeface="Arial MT"/>
                <a:cs typeface="Arial MT"/>
              </a:rPr>
              <a:t>of</a:t>
            </a:r>
            <a:r>
              <a:rPr sz="3450" spc="-135" dirty="0">
                <a:latin typeface="Arial MT"/>
                <a:cs typeface="Arial MT"/>
              </a:rPr>
              <a:t> </a:t>
            </a:r>
            <a:r>
              <a:rPr sz="3450" spc="-250" dirty="0">
                <a:latin typeface="Arial MT"/>
                <a:cs typeface="Arial MT"/>
              </a:rPr>
              <a:t>the</a:t>
            </a:r>
            <a:r>
              <a:rPr sz="3450" spc="-204" dirty="0">
                <a:latin typeface="Arial MT"/>
                <a:cs typeface="Arial MT"/>
              </a:rPr>
              <a:t> </a:t>
            </a:r>
            <a:r>
              <a:rPr sz="3450" spc="-285" dirty="0">
                <a:latin typeface="Arial MT"/>
                <a:cs typeface="Arial MT"/>
              </a:rPr>
              <a:t>other</a:t>
            </a:r>
            <a:r>
              <a:rPr sz="3450" spc="-60" dirty="0">
                <a:latin typeface="Arial MT"/>
                <a:cs typeface="Arial MT"/>
              </a:rPr>
              <a:t> </a:t>
            </a:r>
            <a:r>
              <a:rPr sz="3450" spc="-355" dirty="0">
                <a:latin typeface="Arial MT"/>
                <a:cs typeface="Arial MT"/>
              </a:rPr>
              <a:t>camera.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20"/>
              </a:spcBef>
            </a:pPr>
            <a:r>
              <a:rPr spc="-25" dirty="0">
                <a:solidFill>
                  <a:srgbClr val="2B2B2B"/>
                </a:solidFill>
              </a:rPr>
              <a:t>Why</a:t>
            </a:r>
            <a:r>
              <a:rPr spc="95" dirty="0">
                <a:solidFill>
                  <a:srgbClr val="2B2B2B"/>
                </a:solidFill>
              </a:rPr>
              <a:t> </a:t>
            </a:r>
            <a:r>
              <a:rPr spc="125" dirty="0">
                <a:solidFill>
                  <a:srgbClr val="2F2F2F"/>
                </a:solidFill>
              </a:rPr>
              <a:t>this</a:t>
            </a:r>
            <a:r>
              <a:rPr spc="65" dirty="0">
                <a:solidFill>
                  <a:srgbClr val="2F2F2F"/>
                </a:solidFill>
              </a:rPr>
              <a:t> </a:t>
            </a:r>
            <a:r>
              <a:rPr dirty="0"/>
              <a:t>geometry</a:t>
            </a:r>
            <a:r>
              <a:rPr spc="155" dirty="0"/>
              <a:t> </a:t>
            </a:r>
            <a:r>
              <a:rPr spc="75" dirty="0">
                <a:solidFill>
                  <a:srgbClr val="282828"/>
                </a:solidFill>
              </a:rPr>
              <a:t>matters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52576" y="8051800"/>
            <a:ext cx="13982065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75"/>
              </a:lnSpc>
              <a:spcBef>
                <a:spcPts val="100"/>
              </a:spcBef>
            </a:pPr>
            <a:r>
              <a:rPr sz="3750" spc="-215" dirty="0">
                <a:latin typeface="Arial MT"/>
                <a:cs typeface="Arial MT"/>
              </a:rPr>
              <a:t>Constraining</a:t>
            </a:r>
            <a:r>
              <a:rPr sz="3750" spc="250" dirty="0">
                <a:latin typeface="Arial MT"/>
                <a:cs typeface="Arial MT"/>
              </a:rPr>
              <a:t> </a:t>
            </a:r>
            <a:r>
              <a:rPr sz="3750" spc="-180" dirty="0">
                <a:latin typeface="Arial MT"/>
                <a:cs typeface="Arial MT"/>
              </a:rPr>
              <a:t>the</a:t>
            </a:r>
            <a:r>
              <a:rPr sz="3750" spc="-80" dirty="0">
                <a:latin typeface="Arial MT"/>
                <a:cs typeface="Arial MT"/>
              </a:rPr>
              <a:t> </a:t>
            </a:r>
            <a:r>
              <a:rPr sz="3750" spc="-270" dirty="0">
                <a:latin typeface="Arial MT"/>
                <a:cs typeface="Arial MT"/>
              </a:rPr>
              <a:t>search</a:t>
            </a:r>
            <a:r>
              <a:rPr sz="3750" spc="-65" dirty="0">
                <a:latin typeface="Arial MT"/>
                <a:cs typeface="Arial MT"/>
              </a:rPr>
              <a:t> </a:t>
            </a:r>
            <a:r>
              <a:rPr sz="3750" spc="-270" dirty="0">
                <a:latin typeface="Arial MT"/>
                <a:cs typeface="Arial MT"/>
              </a:rPr>
              <a:t>makes</a:t>
            </a:r>
            <a:r>
              <a:rPr sz="3750" spc="65" dirty="0">
                <a:latin typeface="Arial MT"/>
                <a:cs typeface="Arial MT"/>
              </a:rPr>
              <a:t> </a:t>
            </a:r>
            <a:r>
              <a:rPr sz="3750" spc="-220" dirty="0">
                <a:latin typeface="Arial MT"/>
                <a:cs typeface="Arial MT"/>
              </a:rPr>
              <a:t>stereo</a:t>
            </a:r>
            <a:r>
              <a:rPr sz="3750" spc="-145" dirty="0">
                <a:latin typeface="Arial MT"/>
                <a:cs typeface="Arial MT"/>
              </a:rPr>
              <a:t> </a:t>
            </a:r>
            <a:r>
              <a:rPr sz="3750" spc="-170" dirty="0">
                <a:latin typeface="Arial MT"/>
                <a:cs typeface="Arial MT"/>
              </a:rPr>
              <a:t>vision</a:t>
            </a:r>
            <a:r>
              <a:rPr sz="3750" spc="-160" dirty="0">
                <a:latin typeface="Arial MT"/>
                <a:cs typeface="Arial MT"/>
              </a:rPr>
              <a:t> </a:t>
            </a:r>
            <a:r>
              <a:rPr sz="3750" spc="-165" dirty="0">
                <a:latin typeface="Arial MT"/>
                <a:cs typeface="Arial MT"/>
              </a:rPr>
              <a:t>computationally</a:t>
            </a:r>
            <a:r>
              <a:rPr sz="3750" spc="-105" dirty="0">
                <a:latin typeface="Arial MT"/>
                <a:cs typeface="Arial MT"/>
              </a:rPr>
              <a:t> </a:t>
            </a:r>
            <a:r>
              <a:rPr sz="3750" spc="-185" dirty="0">
                <a:latin typeface="Arial MT"/>
                <a:cs typeface="Arial MT"/>
              </a:rPr>
              <a:t>feasible</a:t>
            </a:r>
            <a:r>
              <a:rPr sz="3750" spc="60" dirty="0">
                <a:latin typeface="Arial MT"/>
                <a:cs typeface="Arial MT"/>
              </a:rPr>
              <a:t> </a:t>
            </a:r>
            <a:r>
              <a:rPr sz="3750" spc="-325" dirty="0">
                <a:latin typeface="Arial MT"/>
                <a:cs typeface="Arial MT"/>
              </a:rPr>
              <a:t>and</a:t>
            </a:r>
            <a:endParaRPr sz="3750">
              <a:latin typeface="Arial MT"/>
              <a:cs typeface="Arial MT"/>
            </a:endParaRPr>
          </a:p>
          <a:p>
            <a:pPr marL="20955">
              <a:lnSpc>
                <a:spcPts val="4335"/>
              </a:lnSpc>
            </a:pPr>
            <a:r>
              <a:rPr sz="3800" spc="-150" dirty="0">
                <a:latin typeface="Arial MT"/>
                <a:cs typeface="Arial MT"/>
              </a:rPr>
              <a:t>significantly</a:t>
            </a:r>
            <a:r>
              <a:rPr sz="3800" spc="50" dirty="0">
                <a:latin typeface="Arial MT"/>
                <a:cs typeface="Arial MT"/>
              </a:rPr>
              <a:t> </a:t>
            </a:r>
            <a:r>
              <a:rPr sz="3800" i="1" spc="-310" dirty="0">
                <a:latin typeface="Arial"/>
                <a:cs typeface="Arial"/>
              </a:rPr>
              <a:t>more</a:t>
            </a:r>
            <a:r>
              <a:rPr sz="3800" i="1" spc="-65" dirty="0">
                <a:latin typeface="Arial"/>
                <a:cs typeface="Arial"/>
              </a:rPr>
              <a:t> </a:t>
            </a:r>
            <a:r>
              <a:rPr sz="3800" spc="-195" dirty="0">
                <a:latin typeface="Arial MT"/>
                <a:cs typeface="Arial MT"/>
              </a:rPr>
              <a:t>reliable</a:t>
            </a:r>
            <a:r>
              <a:rPr sz="3800" spc="-60" dirty="0">
                <a:latin typeface="Arial MT"/>
                <a:cs typeface="Arial MT"/>
              </a:rPr>
              <a:t> </a:t>
            </a:r>
            <a:r>
              <a:rPr sz="3800" spc="-125" dirty="0">
                <a:latin typeface="Arial MT"/>
                <a:cs typeface="Arial MT"/>
              </a:rPr>
              <a:t>for</a:t>
            </a:r>
            <a:r>
              <a:rPr sz="3800" spc="-135" dirty="0">
                <a:latin typeface="Arial MT"/>
                <a:cs typeface="Arial MT"/>
              </a:rPr>
              <a:t> </a:t>
            </a:r>
            <a:r>
              <a:rPr sz="3800" spc="-254" dirty="0">
                <a:latin typeface="Arial MT"/>
                <a:cs typeface="Arial MT"/>
              </a:rPr>
              <a:t>depth</a:t>
            </a:r>
            <a:r>
              <a:rPr sz="3800" spc="-10" dirty="0">
                <a:latin typeface="Arial MT"/>
                <a:cs typeface="Arial MT"/>
              </a:rPr>
              <a:t> </a:t>
            </a:r>
            <a:r>
              <a:rPr sz="3800" spc="-80" dirty="0">
                <a:latin typeface="Arial MT"/>
                <a:cs typeface="Arial MT"/>
              </a:rPr>
              <a:t>estimation.</a:t>
            </a:r>
            <a:endParaRPr sz="3800">
              <a:latin typeface="Arial MT"/>
              <a:cs typeface="Arial MT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9DB664D-2FD5-5EB9-542A-BB3A13EE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833" y="2499981"/>
            <a:ext cx="12327070" cy="4753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6388100"/>
            <a:ext cx="3441700" cy="838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900" y="3606800"/>
            <a:ext cx="3340100" cy="2540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6800" y="4000500"/>
            <a:ext cx="1066800" cy="977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3619500"/>
            <a:ext cx="9982200" cy="2514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9143" y="607836"/>
            <a:ext cx="8315959" cy="904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spc="-170" dirty="0"/>
              <a:t>The</a:t>
            </a:r>
            <a:r>
              <a:rPr sz="5750" spc="-260" dirty="0"/>
              <a:t> </a:t>
            </a:r>
            <a:r>
              <a:rPr sz="5750" spc="-80" dirty="0"/>
              <a:t>Stereo</a:t>
            </a:r>
            <a:r>
              <a:rPr sz="5750" spc="-250" dirty="0"/>
              <a:t> </a:t>
            </a:r>
            <a:r>
              <a:rPr sz="5750" spc="-10" dirty="0">
                <a:solidFill>
                  <a:srgbClr val="2F2F2F"/>
                </a:solidFill>
              </a:rPr>
              <a:t>Vision</a:t>
            </a:r>
            <a:r>
              <a:rPr sz="5750" spc="-515" dirty="0">
                <a:solidFill>
                  <a:srgbClr val="2F2F2F"/>
                </a:solidFill>
              </a:rPr>
              <a:t> </a:t>
            </a:r>
            <a:r>
              <a:rPr sz="5750" spc="-55" dirty="0"/>
              <a:t>Pipeline</a:t>
            </a:r>
            <a:endParaRPr sz="5750"/>
          </a:p>
        </p:txBody>
      </p:sp>
      <p:sp>
        <p:nvSpPr>
          <p:cNvPr id="7" name="object 7"/>
          <p:cNvSpPr txBox="1"/>
          <p:nvPr/>
        </p:nvSpPr>
        <p:spPr>
          <a:xfrm>
            <a:off x="1311094" y="5106458"/>
            <a:ext cx="151320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130" dirty="0">
                <a:solidFill>
                  <a:srgbClr val="1F1F1F"/>
                </a:solidFill>
                <a:latin typeface="Arial MT"/>
                <a:cs typeface="Arial MT"/>
              </a:rPr>
              <a:t>Capture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7333" y="5115277"/>
            <a:ext cx="170180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65" dirty="0">
                <a:solidFill>
                  <a:srgbClr val="1D1D1D"/>
                </a:solidFill>
                <a:latin typeface="Arial MT"/>
                <a:cs typeface="Arial MT"/>
              </a:rPr>
              <a:t>Calibrate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2316" y="5115277"/>
            <a:ext cx="184467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70" dirty="0">
                <a:solidFill>
                  <a:srgbClr val="1A1A1A"/>
                </a:solidFill>
                <a:latin typeface="Calibri"/>
                <a:cs typeface="Calibri"/>
              </a:rPr>
              <a:t>Constrain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8401" y="7295797"/>
            <a:ext cx="439928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solidFill>
                  <a:srgbClr val="212121"/>
                </a:solidFill>
                <a:latin typeface="Arial MT"/>
                <a:cs typeface="Arial MT"/>
              </a:rPr>
              <a:t>Geometry</a:t>
            </a:r>
            <a:r>
              <a:rPr sz="3400" spc="-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00" spc="-30" dirty="0">
                <a:solidFill>
                  <a:srgbClr val="232323"/>
                </a:solidFill>
                <a:latin typeface="Arial MT"/>
                <a:cs typeface="Arial MT"/>
              </a:rPr>
              <a:t>Applied</a:t>
            </a:r>
            <a:r>
              <a:rPr sz="3400" spc="-20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400" spc="-90" dirty="0">
                <a:solidFill>
                  <a:srgbClr val="1F1F1F"/>
                </a:solidFill>
                <a:latin typeface="Arial MT"/>
                <a:cs typeface="Arial MT"/>
              </a:rPr>
              <a:t>Here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7416" y="5106458"/>
            <a:ext cx="120142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80" dirty="0">
                <a:solidFill>
                  <a:srgbClr val="232323"/>
                </a:solidFill>
                <a:latin typeface="Arial MT"/>
                <a:cs typeface="Arial MT"/>
              </a:rPr>
              <a:t>Match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06829" y="5115277"/>
            <a:ext cx="172529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85" dirty="0">
                <a:solidFill>
                  <a:srgbClr val="232323"/>
                </a:solidFill>
                <a:latin typeface="Arial MT"/>
                <a:cs typeface="Arial MT"/>
              </a:rPr>
              <a:t>Compute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436</Words>
  <Application>Microsoft Office PowerPoint</Application>
  <PresentationFormat>Custom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Courier New</vt:lpstr>
      <vt:lpstr>Times New Roman</vt:lpstr>
      <vt:lpstr>Office Theme</vt:lpstr>
      <vt:lpstr>The world is 3D. The image is 2D.</vt:lpstr>
      <vt:lpstr>The Pinhole Model</vt:lpstr>
      <vt:lpstr>Three factors define a camera</vt:lpstr>
      <vt:lpstr>Position dictates perspective Imagine taking a photo of a chair, stepping to the left, and taking another. The chair moves in the frame because the camera's position in the 3D world changed.</vt:lpstr>
      <vt:lpstr>“The Second Eye"</vt:lpstr>
      <vt:lpstr>The Matching Problem</vt:lpstr>
      <vt:lpstr>The Epipolar Constraint</vt:lpstr>
      <vt:lpstr>Reducing the search space</vt:lpstr>
      <vt:lpstr>The Epipole</vt:lpstr>
      <vt:lpstr>Why this geometry matters</vt:lpstr>
      <vt:lpstr>The Stereo Vision Pipeline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Anjali T</cp:lastModifiedBy>
  <cp:revision>9</cp:revision>
  <dcterms:created xsi:type="dcterms:W3CDTF">2026-02-20T10:43:43Z</dcterms:created>
  <dcterms:modified xsi:type="dcterms:W3CDTF">2026-02-20T10:51:19Z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LastSaved">
    <vt:filetime>2026-02-20T00:00:00Z</vt:filetime>
  </property>
</Properties>
</file>